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  <p:sldMasterId id="2147483786" r:id="rId5"/>
    <p:sldMasterId id="2147483761" r:id="rId6"/>
    <p:sldMasterId id="2147483788" r:id="rId7"/>
  </p:sldMasterIdLst>
  <p:notesMasterIdLst>
    <p:notesMasterId r:id="rId69"/>
  </p:notesMasterIdLst>
  <p:handoutMasterIdLst>
    <p:handoutMasterId r:id="rId70"/>
  </p:handoutMasterIdLst>
  <p:sldIdLst>
    <p:sldId id="3049" r:id="rId8"/>
    <p:sldId id="3050" r:id="rId9"/>
    <p:sldId id="3118" r:id="rId10"/>
    <p:sldId id="3119" r:id="rId11"/>
    <p:sldId id="3120" r:id="rId12"/>
    <p:sldId id="3121" r:id="rId13"/>
    <p:sldId id="3125" r:id="rId14"/>
    <p:sldId id="3177" r:id="rId15"/>
    <p:sldId id="3123" r:id="rId16"/>
    <p:sldId id="3122" r:id="rId17"/>
    <p:sldId id="3124" r:id="rId18"/>
    <p:sldId id="3098" r:id="rId19"/>
    <p:sldId id="3127" r:id="rId20"/>
    <p:sldId id="3126" r:id="rId21"/>
    <p:sldId id="3143" r:id="rId22"/>
    <p:sldId id="3128" r:id="rId23"/>
    <p:sldId id="3130" r:id="rId24"/>
    <p:sldId id="3131" r:id="rId25"/>
    <p:sldId id="3133" r:id="rId26"/>
    <p:sldId id="3144" r:id="rId27"/>
    <p:sldId id="3129" r:id="rId28"/>
    <p:sldId id="3146" r:id="rId29"/>
    <p:sldId id="3145" r:id="rId30"/>
    <p:sldId id="3134" r:id="rId31"/>
    <p:sldId id="3141" r:id="rId32"/>
    <p:sldId id="3136" r:id="rId33"/>
    <p:sldId id="3137" r:id="rId34"/>
    <p:sldId id="3138" r:id="rId35"/>
    <p:sldId id="3142" r:id="rId36"/>
    <p:sldId id="3140" r:id="rId37"/>
    <p:sldId id="3147" r:id="rId38"/>
    <p:sldId id="3151" r:id="rId39"/>
    <p:sldId id="3152" r:id="rId40"/>
    <p:sldId id="3148" r:id="rId41"/>
    <p:sldId id="3149" r:id="rId42"/>
    <p:sldId id="3161" r:id="rId43"/>
    <p:sldId id="3154" r:id="rId44"/>
    <p:sldId id="3153" r:id="rId45"/>
    <p:sldId id="3162" r:id="rId46"/>
    <p:sldId id="3163" r:id="rId47"/>
    <p:sldId id="3164" r:id="rId48"/>
    <p:sldId id="3165" r:id="rId49"/>
    <p:sldId id="3176" r:id="rId50"/>
    <p:sldId id="3150" r:id="rId51"/>
    <p:sldId id="3158" r:id="rId52"/>
    <p:sldId id="3155" r:id="rId53"/>
    <p:sldId id="3156" r:id="rId54"/>
    <p:sldId id="3157" r:id="rId55"/>
    <p:sldId id="3159" r:id="rId56"/>
    <p:sldId id="3160" r:id="rId57"/>
    <p:sldId id="3166" r:id="rId58"/>
    <p:sldId id="3175" r:id="rId59"/>
    <p:sldId id="3167" r:id="rId60"/>
    <p:sldId id="3168" r:id="rId61"/>
    <p:sldId id="3169" r:id="rId62"/>
    <p:sldId id="3171" r:id="rId63"/>
    <p:sldId id="3172" r:id="rId64"/>
    <p:sldId id="3173" r:id="rId65"/>
    <p:sldId id="3170" r:id="rId66"/>
    <p:sldId id="3174" r:id="rId67"/>
    <p:sldId id="3139" r:id="rId68"/>
  </p:sldIdLst>
  <p:sldSz cx="9144000" cy="5143500" type="screen16x9"/>
  <p:notesSz cx="6797675" cy="9926638"/>
  <p:embeddedFontLst>
    <p:embeddedFont>
      <p:font typeface="Cambria Math" panose="02040503050406030204" pitchFamily="18" charset="0"/>
      <p:regular r:id="rId71"/>
    </p:embeddedFont>
    <p:embeddedFont>
      <p:font typeface="Enagás PT Serif" panose="020A0603040505020204" pitchFamily="18" charset="0"/>
      <p:regular r:id="rId72"/>
      <p:bold r:id="rId73"/>
      <p:italic r:id="rId74"/>
      <p:boldItalic r:id="rId75"/>
    </p:embeddedFont>
    <p:embeddedFont>
      <p:font typeface="Verdana" panose="020B0604030504040204" pitchFamily="34" charset="0"/>
      <p:regular r:id="rId76"/>
      <p:bold r:id="rId77"/>
      <p:italic r:id="rId78"/>
      <p:boldItalic r:id="rId79"/>
    </p:embeddedFont>
  </p:embeddedFontLst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705A43-9D1A-AC61-0A50-9C7D20E1837B}" name="Vilches Ros, Maria Del Mar" initials="VM" userId="S::mmvilches@enagas.es::52dcbdfa-f18a-4b0d-91b1-b37dbc651ec2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GCRI.BEC8" initials="D" lastIdx="1" clrIdx="0">
    <p:extLst>
      <p:ext uri="{19B8F6BF-5375-455C-9EA6-DF929625EA0E}">
        <p15:presenceInfo xmlns:p15="http://schemas.microsoft.com/office/powerpoint/2012/main" userId="DGCRI.BEC8" providerId="None"/>
      </p:ext>
    </p:extLst>
  </p:cmAuthor>
  <p:cmAuthor id="2" name="Maria Del Mar Vilches Ros" initials="MDMVR" lastIdx="2" clrIdx="1">
    <p:extLst>
      <p:ext uri="{19B8F6BF-5375-455C-9EA6-DF929625EA0E}">
        <p15:presenceInfo xmlns:p15="http://schemas.microsoft.com/office/powerpoint/2012/main" userId="S::mmvilches@enagas.es::52dcbdfa-f18a-4b0d-91b1-b37dbc651ec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AAE"/>
    <a:srgbClr val="00B5E2"/>
    <a:srgbClr val="F9F9F9"/>
    <a:srgbClr val="FFFFFF"/>
    <a:srgbClr val="9CB700"/>
    <a:srgbClr val="63666A"/>
    <a:srgbClr val="5CBDCA"/>
    <a:srgbClr val="8F4B80"/>
    <a:srgbClr val="E2DB8D"/>
    <a:srgbClr val="C1BD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25E5076-3810-47DD-B79F-674D7AD40C01}" styleName="Estilo oscuro 1 - Énfasis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301"/>
  </p:normalViewPr>
  <p:slideViewPr>
    <p:cSldViewPr snapToGrid="0">
      <p:cViewPr varScale="1">
        <p:scale>
          <a:sx n="84" d="100"/>
          <a:sy n="84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63" Type="http://schemas.openxmlformats.org/officeDocument/2006/relationships/slide" Target="slides/slide56.xml"/><Relationship Id="rId68" Type="http://schemas.openxmlformats.org/officeDocument/2006/relationships/slide" Target="slides/slide61.xml"/><Relationship Id="rId84" Type="http://schemas.openxmlformats.org/officeDocument/2006/relationships/tableStyles" Target="tableStyles.xml"/><Relationship Id="rId16" Type="http://schemas.openxmlformats.org/officeDocument/2006/relationships/slide" Target="slides/slide9.xml"/><Relationship Id="rId11" Type="http://schemas.openxmlformats.org/officeDocument/2006/relationships/slide" Target="slides/slide4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53" Type="http://schemas.openxmlformats.org/officeDocument/2006/relationships/slide" Target="slides/slide46.xml"/><Relationship Id="rId58" Type="http://schemas.openxmlformats.org/officeDocument/2006/relationships/slide" Target="slides/slide51.xml"/><Relationship Id="rId74" Type="http://schemas.openxmlformats.org/officeDocument/2006/relationships/font" Target="fonts/font4.fntdata"/><Relationship Id="rId79" Type="http://schemas.openxmlformats.org/officeDocument/2006/relationships/font" Target="fonts/font9.fntdata"/><Relationship Id="rId5" Type="http://schemas.openxmlformats.org/officeDocument/2006/relationships/slideMaster" Target="slideMasters/slideMaster2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56" Type="http://schemas.openxmlformats.org/officeDocument/2006/relationships/slide" Target="slides/slide49.xml"/><Relationship Id="rId64" Type="http://schemas.openxmlformats.org/officeDocument/2006/relationships/slide" Target="slides/slide57.xml"/><Relationship Id="rId69" Type="http://schemas.openxmlformats.org/officeDocument/2006/relationships/notesMaster" Target="notesMasters/notesMaster1.xml"/><Relationship Id="rId77" Type="http://schemas.openxmlformats.org/officeDocument/2006/relationships/font" Target="fonts/font7.fntdata"/><Relationship Id="rId8" Type="http://schemas.openxmlformats.org/officeDocument/2006/relationships/slide" Target="slides/slide1.xml"/><Relationship Id="rId51" Type="http://schemas.openxmlformats.org/officeDocument/2006/relationships/slide" Target="slides/slide44.xml"/><Relationship Id="rId72" Type="http://schemas.openxmlformats.org/officeDocument/2006/relationships/font" Target="fonts/font2.fntdata"/><Relationship Id="rId80" Type="http://schemas.openxmlformats.org/officeDocument/2006/relationships/commentAuthors" Target="commentAuthors.xml"/><Relationship Id="rId85" Type="http://schemas.microsoft.com/office/2018/10/relationships/authors" Target="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59" Type="http://schemas.openxmlformats.org/officeDocument/2006/relationships/slide" Target="slides/slide52.xml"/><Relationship Id="rId67" Type="http://schemas.openxmlformats.org/officeDocument/2006/relationships/slide" Target="slides/slide60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slide" Target="slides/slide47.xml"/><Relationship Id="rId62" Type="http://schemas.openxmlformats.org/officeDocument/2006/relationships/slide" Target="slides/slide55.xml"/><Relationship Id="rId70" Type="http://schemas.openxmlformats.org/officeDocument/2006/relationships/handoutMaster" Target="handoutMasters/handoutMaster1.xml"/><Relationship Id="rId75" Type="http://schemas.openxmlformats.org/officeDocument/2006/relationships/font" Target="fonts/font5.fntdata"/><Relationship Id="rId83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Relationship Id="rId57" Type="http://schemas.openxmlformats.org/officeDocument/2006/relationships/slide" Target="slides/slide50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slide" Target="slides/slide45.xml"/><Relationship Id="rId60" Type="http://schemas.openxmlformats.org/officeDocument/2006/relationships/slide" Target="slides/slide53.xml"/><Relationship Id="rId65" Type="http://schemas.openxmlformats.org/officeDocument/2006/relationships/slide" Target="slides/slide58.xml"/><Relationship Id="rId73" Type="http://schemas.openxmlformats.org/officeDocument/2006/relationships/font" Target="fonts/font3.fntdata"/><Relationship Id="rId78" Type="http://schemas.openxmlformats.org/officeDocument/2006/relationships/font" Target="fonts/font8.fntdata"/><Relationship Id="rId8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slide" Target="slides/slide32.xml"/><Relationship Id="rId34" Type="http://schemas.openxmlformats.org/officeDocument/2006/relationships/slide" Target="slides/slide27.xml"/><Relationship Id="rId50" Type="http://schemas.openxmlformats.org/officeDocument/2006/relationships/slide" Target="slides/slide43.xml"/><Relationship Id="rId55" Type="http://schemas.openxmlformats.org/officeDocument/2006/relationships/slide" Target="slides/slide48.xml"/><Relationship Id="rId76" Type="http://schemas.openxmlformats.org/officeDocument/2006/relationships/font" Target="fonts/font6.fntdata"/><Relationship Id="rId7" Type="http://schemas.openxmlformats.org/officeDocument/2006/relationships/slideMaster" Target="slideMasters/slideMaster4.xml"/><Relationship Id="rId71" Type="http://schemas.openxmlformats.org/officeDocument/2006/relationships/font" Target="fonts/font1.fntdata"/><Relationship Id="rId2" Type="http://schemas.openxmlformats.org/officeDocument/2006/relationships/customXml" Target="../customXml/item2.xml"/><Relationship Id="rId29" Type="http://schemas.openxmlformats.org/officeDocument/2006/relationships/slide" Target="slides/slide22.xml"/><Relationship Id="rId24" Type="http://schemas.openxmlformats.org/officeDocument/2006/relationships/slide" Target="slides/slide17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66" Type="http://schemas.openxmlformats.org/officeDocument/2006/relationships/slide" Target="slides/slide59.xml"/><Relationship Id="rId61" Type="http://schemas.openxmlformats.org/officeDocument/2006/relationships/slide" Target="slides/slide54.xml"/><Relationship Id="rId8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3849688" y="1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F3DD2-969E-4F51-8A51-EB0B4110BB09}" type="datetimeFigureOut">
              <a:rPr lang="es-ES_tradnl" smtClean="0">
                <a:latin typeface="Verdana" panose="020B0604030504040204" pitchFamily="34" charset="0"/>
              </a:rPr>
              <a:pPr/>
              <a:t>05/06/2026</a:t>
            </a:fld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428242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>
              <a:latin typeface="Verdana" panose="020B0604030504040204" pitchFamily="34" charset="0"/>
            </a:endParaRPr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3849688" y="9428242"/>
            <a:ext cx="2946400" cy="49680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7603E4-74DB-4ECD-BD53-5BB58D963DE4}" type="slidenum">
              <a:rPr lang="es-ES_tradnl" smtClean="0">
                <a:latin typeface="Verdana" panose="020B0604030504040204" pitchFamily="34" charset="0"/>
              </a:rPr>
              <a:pPr/>
              <a:t>‹Nº›</a:t>
            </a:fld>
            <a:endParaRPr lang="es-ES_tradnl">
              <a:latin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51852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Verdana" panose="020B0604030504040204" pitchFamily="34" charset="0"/>
              </a:defRPr>
            </a:lvl1pPr>
          </a:lstStyle>
          <a:p>
            <a:endParaRPr lang="es-ES_tradnl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50446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Verdana" panose="020B0604030504040204" pitchFamily="34" charset="0"/>
              </a:defRPr>
            </a:lvl1pPr>
          </a:lstStyle>
          <a:p>
            <a:fld id="{1B1655B4-8907-4DA8-B699-724CD93370C9}" type="datetimeFigureOut">
              <a:rPr lang="es-ES_tradnl" smtClean="0"/>
              <a:pPr/>
              <a:t>05/06/2026</a:t>
            </a:fld>
            <a:endParaRPr lang="es-ES_tradnl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79768" y="4715155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3" y="9428585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Verdana" panose="020B0604030504040204" pitchFamily="34" charset="0"/>
              </a:defRPr>
            </a:lvl1pPr>
          </a:lstStyle>
          <a:p>
            <a:endParaRPr lang="es-ES_tradnl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50446" y="9428585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Verdana" panose="020B0604030504040204" pitchFamily="34" charset="0"/>
              </a:defRPr>
            </a:lvl1pPr>
          </a:lstStyle>
          <a:p>
            <a:fld id="{0C573B90-E109-49E6-81EC-950EC00F49A1}" type="slidenum">
              <a:rPr lang="es-ES_tradnl" smtClean="0"/>
              <a:pPr/>
              <a:t>‹Nº›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91598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C0B4C-AFC9-4600-E4EF-4DBB8C360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87092A1-959C-A876-F48E-C2D615BB7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748E25C-C41D-E4AF-403A-C955F4B33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9EE581E-6635-B918-2445-CAD9E7970E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453556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9A2C5-80A8-059C-F146-31F0142D9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CB7DB28-C531-50CA-B220-7CECDC6DC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7713A1-4E8E-8FE1-963A-99F9E2D881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52ABFF3-F717-82E0-F901-6CCD0D82A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34074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D06C6-F85A-0B64-4850-3B69851F0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A0788C6-F41E-979D-651E-96D35A4EB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F030C2B-3F8F-7102-1845-FB573FBA3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D71805C-77CE-AFAF-69ED-7F23E73F1F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09620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61262-A83D-1BEE-E948-F042CA228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5463442-D9E8-DFB2-6B11-8C1989DF0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2491ED2-5ACB-8241-1811-24EA1281F7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D48FE9-85D6-8C15-81D9-3FD75512A8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464655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433EB-37B5-4232-A177-F0941B9EF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566BB7-630A-FFA6-EE41-8AD2EBA7A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64480D2-30D3-5C62-1BF0-66959936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602037B-E7EB-88FA-A3AD-45DF6FD864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89464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9143A-66A9-2448-1148-4A4FFB8B2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D2A5D6-BE2F-C9D0-9F8F-17AB3BFE1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5793222-269F-C463-3CB0-0D5A732568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720ABBD-6920-587D-3FDE-A92CB96653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90928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C7365-7EE6-19F5-2A14-29629C39E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A8769C0-2663-D009-56F9-C4B3774A8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965F22A-4D44-6710-3956-F63CEDF1A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5D9A32F-58CC-544C-0163-CA6D90865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186923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FD764-856E-3FF0-9DC4-A1AE1622C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4621100-338C-3CB8-C5D2-247EA7AA8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0EFC86D-5D4E-4B88-96D5-952D1433D6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89ACEF-EA81-7879-306C-6DABE5EAC8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940463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E9B88-E91E-C3E7-16D7-452321267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8607E8E-FF0D-48D1-5CA1-1DC7D7CFC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DF1CB24-BB4D-67D9-4913-4D5BAE1C2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E0DF57D-DF50-AFB5-2FDA-CECAD28B0B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150990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B3B7B-AD8E-7471-B414-680E617C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F73578E-D4DC-5FD4-5A1F-4E2FF54EE8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9D8552-FC9E-B0F9-4ACB-33C1D2528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608628-D12C-E158-3A37-C83280E11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18368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7DFB-2DCA-5A97-E950-6AE47D45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082DDA6-49F1-3290-9B4A-2EA6631FD5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B2CED00-D088-DE0D-D2D9-E54959415C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2EB9E81-1E84-8321-29D3-0D2B8A304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19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34124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E69F-0053-00D8-5B70-ED3A2A5F8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2C1F163-FE67-32A1-BE16-BECC7D6123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B1DB2F0-1DF4-88A7-3298-E38CC934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35AC5B-1C7E-E049-D277-F23837ACC2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283794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303B5-C512-6052-6A77-2F53EC65E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823A8FF-183B-8857-CDDA-FC39252E0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78D6AFD-E4B6-C5B0-C024-3884CB43E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DC11EE-3E9C-AE2A-C0BE-B9D64CB5D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75384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01C5A-FA67-D2AF-77DB-E2FFA5873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2BCD095-EEED-7379-C496-6C145DE406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F0B2425-F3A6-3665-2353-3A141AB58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47A7E7-D185-4D0B-2A71-E3BA9580F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865761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58271-5B37-5D1A-E746-820FB009A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3D542D0-EBC8-AD83-7815-E5B25782A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26F75E-01DB-5F95-5959-54639045B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553E33-2490-1F62-D499-0B44EAF43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452033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08D23-9974-8B01-42D6-0234EA05B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658E581-35E4-FD22-1B34-4018DBF9C6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86CE68-79A1-5405-8B5F-4BD7E06AA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C424861-951A-79E7-29FE-B38AD3DAC3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25753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DE566-EA66-8D5D-156A-06D550E05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F6F1CA-9F17-1518-0681-4989AFB0B1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29D4731-6F1E-FB99-091F-CFBFA6DD75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64D069-653F-46F5-00C4-50C957F6D8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717722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D796D-628B-C207-22A6-45AB08BB5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78E4858-C997-8A85-2402-ECD58FD55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17BBC27-AFCE-1652-73B1-5FD9258354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51B3608-B4DF-2F44-4D80-7D6D1B7B10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5716676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C8893-AF1C-1C08-CF31-52BEE67D5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EB0BBA3-7A0D-74EE-FB23-DAD58E066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EDE815-2AF4-1DFB-75EE-BFF2A0B5F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D0E1E8D-A247-BCE4-33B6-8583BBE4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156772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1071-6EA9-54D2-0256-D0DD4632D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6551E7F-131F-748C-C201-762038DE0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B8A8D45-7E20-E26E-7E56-0B90FDC168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ACF51DA-6576-2C78-CDB5-AB1F7BE8F5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126558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FF9DA-E668-806E-B232-4E76990F8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5A8B75D-F071-44A7-AC3B-2213920DE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134C04A-A2C0-67D9-AA4B-3017EE3D8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8841025-9EB5-F694-12DA-A7B6435A5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29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108529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0B98E-8742-C343-15B5-459A21AE3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BAD907A-819C-03AC-7222-9A662C1F98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8185DDD-CE05-BB58-D556-7B050E3CDB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6132346-DBC3-0A9E-CBC9-8ADF5C3C3E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1886825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E60D5-7AD9-C719-D89C-6AB599F92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55CACC7-8632-6B34-C901-7AF9268BE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12CC763-1002-F384-D0F3-8B64CE3E2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1F7B072-FFCD-950A-EF36-D6F5B5BBDD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0031974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4DE02-5B4B-B0E4-A35B-5B739E425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7BF1B5E-BAA4-8600-25DD-829AED13F3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A47B24-3B4B-6E04-E5BF-B910C1347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AC20BED-E038-2942-E092-85B9B6D608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376286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9532B-43EE-DD25-59B7-277F018EA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474301D-0FD2-2A21-3BAD-FB54A37C99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9AB8960-59E1-6D6D-4004-F805844913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F01EEC3-B6C6-E942-16CE-BEB2CD0A1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080958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EED14-1A7B-F97A-BB07-5ECCCAC33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C7E1FE5-C5F3-5AF5-4FD1-FDA7843CFD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5ABCBB7-F62D-BEE2-E586-6C1B45A4D6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88B7CF-06F5-7B64-34AC-6DF7E289AF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310263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844BB-27CC-D179-4DAD-75A6B4567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9AFC695-15B2-FDEF-F2BE-09362EBF8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4203B59-8239-51CE-72C3-6CDD658ED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946B08-0ECC-AAE9-CCDB-B808ED4582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7963232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96DF0-952D-7294-B254-62C85D49B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B2081D1-ECBF-C157-B978-F0B1ADA4A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37E9CD6-1F7D-F7F9-497E-1EDB85A14C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C856791-4213-94C7-E6F8-E1E6E3372B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9892305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C8C07-6AC5-F807-481C-A9EDF3350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B419C32-A09B-F968-6487-B5280839E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840007C-FB91-ECD4-1D77-51F516617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AEFD47-B7ED-E526-CE28-4881307065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675886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943FA-4307-9A56-D209-D955AA27D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955D47-70A0-CF81-AC0F-F93DD3B493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DD16693-050D-4E70-1B8F-F530D7B25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ACF6AA2-8AC2-8B41-D08F-3D37782DDF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7323673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A4EF4-1E9E-C52D-4EA7-3CF8AB212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DA4B8DB-ADBA-E074-1CB8-765197B277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CA03F99-0E9F-2EA1-03F0-72596EC78A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0C79D03-E978-BA8C-7840-668412860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39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5946893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4225E-0AD1-23C8-CED5-511BEB77B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D24A0BD-AC23-C4CE-C432-880C15422B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BA865F-3EC2-6257-35BB-E3FA31002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0E17BD7-10E3-98F8-45F6-FCC673398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8580898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88BB3-EEF8-F653-5BAE-E047AB9FF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1501A01-0817-31A7-CA0F-84C2A2B5A5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87BE93C-820E-0CD4-A271-3AEC413419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BED241A-80B3-8986-3CF0-7CC4824A7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4802143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5CE6D-14B3-BB50-89D3-54155C4E5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ACEFA96-4C05-AB62-728B-EF21DF5647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3D4BC4-DC46-0F58-F0A2-910E425F7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F1A1A39-8E31-83F4-02A8-F02FE926C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190249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2576E-0E04-AC53-0C93-3B1C8BB7C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9BA7FE7-2A2B-3622-5A03-6341DF63C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67BE50-D9AA-C8AB-5C53-2A5C57F88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DC89756-18AB-8CD5-CE7F-14493D77E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4171140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C419C-31F1-F1AC-96EE-1018862CB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67B1C9E-1792-F757-3D1A-9496D9A37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6EE941-1232-D216-04EA-75A7033650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03F86A7-0215-A6D4-4F94-BF363F4E4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899861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FA48-E1CB-E535-936F-4C4444301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0049189-E126-53FF-219F-B864F194EA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69320CA-F038-90A4-C456-285188D2C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8B64FD7-9634-1282-5CB9-25FC239A40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6707384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CA559-64FB-6CD1-69C1-BDDF2933E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CD70BDC-6AD0-AC81-D7AA-E7FE94347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B305140-13EF-80D0-0E5E-EABFF2CF5B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B6C1470-40F3-5848-CBB5-C5ABD2EAD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1526339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EFE71-3D7A-4E90-8511-5C1FA2AF2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556E73F-77E9-C4F1-FCB7-B01CCC772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EA41186-B399-B15E-CAF6-118CF8EA4C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027FAE4-511D-8529-D5CC-75B2F63A03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1863048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756E-F1F9-26E6-71FF-E05F32B1C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62FC411-C799-000D-4319-F33847B9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D6B501E-5655-883D-4E19-86DB8DC52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D8EA30C-6948-C128-5903-E6316AFA1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0043781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853E2-42E4-BAF7-6BA1-9A320034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69D4291-974E-E252-4A2B-A24C91664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6F2B10-1ECC-415F-B79E-228CE793EC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A326471-1F6D-5DB9-B5E5-E596327AD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49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2370437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EB23E-D71F-A4F0-FAF1-EEC21933D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E37E18F-DFDC-D780-81F9-D8111C61E9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93EB3EE-5730-6B7A-BD92-1CDCA1F0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FF8E8EB-A55B-FA92-89E0-51C860FE33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3901138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42777-DF28-A93D-4E5A-E623F0833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3F8EDB8-6180-8304-B1ED-4A7A85E32F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3A8500C-C821-16C4-B9A9-54EC6D0F4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81B843D-BEA0-8E75-870A-67FFB57424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0685815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D2AD3-918F-C9CD-75BD-0C9218433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8827419-3E18-598A-412C-9B0159CDC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5A299F2-8A78-9CAA-8A17-0171E1BCFF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6924FC-D838-CB71-F8E1-FACD5B0066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60718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B63A2-30F6-B504-AB8E-AFCEB226A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40BE6DD-7BF5-08D8-34EE-E32A19CE18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CD3BB13-6B90-1276-DCDD-A4B8919E2B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A85844-2E11-584F-7742-27EC9E4DB9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5146450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06036-603C-66DC-7797-2D50B73D1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AF77BB4-10C5-4C3C-A0DF-00EE043D90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6FDDEF4-6AD7-0E34-EB03-5C97487A99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AD83D0A-7C9D-84E6-2B3A-3637865BD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881275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5DF8A-776A-5F7F-2528-1F01C341B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BDECDDD-51D3-39F5-CF3A-519E73772B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1158805-752F-23CD-9097-FA1AEE1BCB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3694614-52C1-CA99-A3E9-69FDFAB639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8035941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E0052-FE69-22AB-AC18-BAA366F73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1928FC0-8548-B3E9-762B-5598C36774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DC03627-ECCE-0A9C-0F85-A0964FDCF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9EEAAAB-14CC-48EC-1509-A30E79E9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56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0032122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78FE4-30F4-DD47-8917-56EB7C1CA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5EDD9D0-CD49-41E1-BF81-B02D2210C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C41D770-1A53-CECF-265A-DB0B4F7D3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D06B1AC-47A5-A54A-946D-D328057C5E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8824767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D1967-FAB7-2CEF-7B9E-D2E6EB13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1B257A4-FEEE-BB19-411D-31CB05E1A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F03FC92-1E8F-429F-544B-5EFEDA583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94C9D7-83C5-45F8-4AD7-042B0C356D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58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46766942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FAD3F-2871-272A-8D85-18B5235D9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D19E63-3BE2-197E-FAD9-FC953BEA68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25102EB-D636-2FBC-EA5D-730A65186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AE2727A-54C0-CCC0-BA10-D40BC6D895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59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232332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B25F3-A30C-9EB8-1A16-B1F92EA7D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C78AD5E-A873-4A0E-4F5A-60AF03969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CE1CD46-107F-0474-7C08-48517EA1C1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7B1E6F-B68D-5378-FFFA-69ACB6F90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60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4655904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9A1C5-1751-7001-F7CA-28119D840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E4C7D51-9660-39A2-DE79-A1E46FEBF9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1454060-2208-AC05-6432-675A47FB9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Mejoras En nuestra red de España:</a:t>
            </a:r>
          </a:p>
          <a:p>
            <a:pPr lvl="0"/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Nos hemos acercado más a lo que es el sistema energético real, antes se repetía 7 veces el mismo día para formar la demanda de una semana de 2040, ahora, la curva se forma gracias a los datos de la primera semana de 2025 . Con la demanda de hidrógeno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españa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 ocurre algo parecido, anteriormente se tomaba un valor constante, y ahora contamos con una curva de demanda de hidrógeno mucho más real, obtenida de los datos de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tyndp2026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.</a:t>
            </a:r>
          </a:p>
          <a:p>
            <a:endParaRPr lang="es-ES" sz="1200" b="0" i="0" kern="1200" dirty="0">
              <a:solidFill>
                <a:schemeClr val="tx1"/>
              </a:solidFill>
              <a:effectLst/>
              <a:latin typeface="Verdana" panose="020B0604030504040204" pitchFamily="34" charset="0"/>
              <a:ea typeface="+mn-ea"/>
              <a:cs typeface="+mn-cs"/>
            </a:endParaRPr>
          </a:p>
          <a:p>
            <a:r>
              <a:rPr lang="es-ES" sz="1200" b="0" i="0" kern="1200" dirty="0">
                <a:solidFill>
                  <a:schemeClr val="tx1"/>
                </a:solidFill>
                <a:effectLst/>
                <a:latin typeface="Verdana" panose="020B0604030504040204" pitchFamily="34" charset="0"/>
                <a:ea typeface="+mn-ea"/>
                <a:cs typeface="+mn-cs"/>
              </a:rPr>
              <a:t>También hemos añadido restricción por emisiones de CO2, que limita las emisiones de CO2 por medio de una penalización económica. </a:t>
            </a:r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009B47-B5FD-D522-8FC7-F9AD4638A2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C573B90-E109-49E6-81EC-950EC00F49A1}" type="slidenum">
              <a:rPr lang="es-ES_tradnl" smtClean="0"/>
              <a:pPr/>
              <a:t>61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347912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4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7921" y="169070"/>
            <a:ext cx="2146691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17" name="Imagen 16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35F061E7-09A0-8E43-9C0D-6C95FC13D3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0"/>
            <a:ext cx="6638532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5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777712D5-0146-B841-919C-D494ADD33B5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31177146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13" userDrawn="1">
          <p15:clr>
            <a:srgbClr val="FBAE40"/>
          </p15:clr>
        </p15:guide>
        <p15:guide id="2" pos="5647" userDrawn="1">
          <p15:clr>
            <a:srgbClr val="FBAE40"/>
          </p15:clr>
        </p15:guide>
        <p15:guide id="3" orient="horz" pos="100" userDrawn="1">
          <p15:clr>
            <a:srgbClr val="FBAE40"/>
          </p15:clr>
        </p15:guide>
        <p15:guide id="4" orient="horz" pos="31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7921" y="16907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10" name="Imagen 9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6DCBABE3-A83E-FC43-A317-CE38ABB0D6B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1"/>
            <a:ext cx="6638482" cy="4053517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2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5C74D19-E097-8F4F-8BC6-B5B0F31AC1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4140138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8400" y="16920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4" name="Imagen 3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0B96B8FB-B04C-E74C-9873-EE3268A12D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1"/>
          <a:stretch/>
        </p:blipFill>
        <p:spPr>
          <a:xfrm>
            <a:off x="179387" y="169071"/>
            <a:ext cx="6638325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1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13AD00D-C571-F44A-803F-DEA8DB61BC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646647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4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6">
            <a:extLst>
              <a:ext uri="{FF2B5EF4-FFF2-40B4-BE49-F238E27FC236}">
                <a16:creationId xmlns:a16="http://schemas.microsoft.com/office/drawing/2014/main" id="{4EE3FF46-9D72-DE44-A8FC-C84C9F8A5F81}"/>
              </a:ext>
            </a:extLst>
          </p:cNvPr>
          <p:cNvSpPr/>
          <p:nvPr userDrawn="1"/>
        </p:nvSpPr>
        <p:spPr>
          <a:xfrm>
            <a:off x="6818400" y="169070"/>
            <a:ext cx="2145600" cy="2976434"/>
          </a:xfrm>
          <a:custGeom>
            <a:avLst/>
            <a:gdLst/>
            <a:ahLst/>
            <a:cxnLst/>
            <a:rect l="l" t="t" r="r" b="b"/>
            <a:pathLst>
              <a:path w="5088890" h="2262504">
                <a:moveTo>
                  <a:pt x="5088850" y="0"/>
                </a:moveTo>
                <a:lnTo>
                  <a:pt x="0" y="0"/>
                </a:lnTo>
                <a:lnTo>
                  <a:pt x="0" y="2262318"/>
                </a:lnTo>
                <a:lnTo>
                  <a:pt x="5088850" y="2262318"/>
                </a:lnTo>
                <a:lnTo>
                  <a:pt x="5088850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/>
          <a:lstStyle/>
          <a:p>
            <a:endParaRPr sz="819" b="0" i="0">
              <a:latin typeface="Enagás PT Serif" panose="020A0603040505020204" pitchFamily="18" charset="77"/>
            </a:endParaRPr>
          </a:p>
        </p:txBody>
      </p:sp>
      <p:pic>
        <p:nvPicPr>
          <p:cNvPr id="4" name="Imagen 3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D418353C-B613-EC42-9E99-A6875FF0F4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9072"/>
            <a:ext cx="6637705" cy="4053516"/>
          </a:xfrm>
          <a:prstGeom prst="rect">
            <a:avLst/>
          </a:prstGeom>
        </p:spPr>
      </p:pic>
      <p:sp>
        <p:nvSpPr>
          <p:cNvPr id="8" name="object 2">
            <a:extLst>
              <a:ext uri="{FF2B5EF4-FFF2-40B4-BE49-F238E27FC236}">
                <a16:creationId xmlns:a16="http://schemas.microsoft.com/office/drawing/2014/main" id="{76C855EF-017A-3340-80AB-25DAF8898FAA}"/>
              </a:ext>
            </a:extLst>
          </p:cNvPr>
          <p:cNvSpPr/>
          <p:nvPr userDrawn="1"/>
        </p:nvSpPr>
        <p:spPr>
          <a:xfrm>
            <a:off x="321" y="4222588"/>
            <a:ext cx="6817599" cy="920913"/>
          </a:xfrm>
          <a:custGeom>
            <a:avLst/>
            <a:gdLst/>
            <a:ahLst/>
            <a:cxnLst/>
            <a:rect l="l" t="t" r="r" b="b"/>
            <a:pathLst>
              <a:path w="15015844" h="2262504">
                <a:moveTo>
                  <a:pt x="0" y="2262318"/>
                </a:moveTo>
                <a:lnTo>
                  <a:pt x="15015249" y="2262318"/>
                </a:lnTo>
                <a:lnTo>
                  <a:pt x="15015249" y="0"/>
                </a:lnTo>
                <a:lnTo>
                  <a:pt x="0" y="0"/>
                </a:lnTo>
                <a:lnTo>
                  <a:pt x="0" y="2262318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0" tIns="0" rIns="0" bIns="0" rtlCol="0"/>
          <a:lstStyle/>
          <a:p>
            <a:endParaRPr lang="en-GB" sz="819">
              <a:latin typeface="Enagás PT Serif" panose="020A0603040505020204" pitchFamily="18" charset="77"/>
            </a:endParaRP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8FCD48D0-2B98-A642-AEF9-400F269DB3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813" y="4553300"/>
            <a:ext cx="1362819" cy="222953"/>
          </a:xfrm>
          <a:prstGeom prst="rect">
            <a:avLst/>
          </a:prstGeom>
          <a:solidFill>
            <a:schemeClr val="accent4"/>
          </a:solidFill>
        </p:spPr>
        <p:txBody>
          <a:bodyPr wrap="none"/>
          <a:lstStyle>
            <a:lvl1pPr marL="0" indent="0" algn="ctr">
              <a:buNone/>
              <a:defRPr sz="900" b="1" i="0" spc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s-ES_tradnl" noProof="0"/>
              <a:t>Fecha/evento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2A1D101C-F5E1-BF4B-B989-64B08A14FBF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1813" y="1474128"/>
            <a:ext cx="3738086" cy="144339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 lIns="216000" tIns="288000" rIns="216000" bIns="28800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8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aquí el 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3333989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9454F8EA-597D-8C47-9AD3-A0F6271E04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10" name="Imagen 9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E0504104-7F21-5D43-9991-0B1BF89AEC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55" y="1050449"/>
            <a:ext cx="7966800" cy="1919900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68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8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1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7195704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A50ECD44-34C8-2E44-AA48-30F7B410C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13" name="Imagen 12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571B1B5D-6563-F34B-B64B-F26B70F5C3D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76" y="1050451"/>
            <a:ext cx="7966800" cy="1918051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1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2142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85CDCAF3-0746-004C-9C3B-0FCB942301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9" name="Imagen 8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8023BAE1-37B8-B540-B421-814E0ED8F4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01" y="1050448"/>
            <a:ext cx="7966800" cy="1917333"/>
          </a:xfrm>
          <a:prstGeom prst="rect">
            <a:avLst/>
          </a:prstGeom>
        </p:spPr>
      </p:pic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5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3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956643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CCB3EBC8-0550-0947-9BF4-C76AAE1DE1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6381" y="1050451"/>
            <a:ext cx="7966800" cy="1917325"/>
          </a:xfrm>
          <a:prstGeom prst="rect">
            <a:avLst/>
          </a:prstGeom>
        </p:spPr>
      </p:pic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48707C8-4524-DD43-8B3C-BEA69EE241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12" name="object 16">
            <a:extLst>
              <a:ext uri="{FF2B5EF4-FFF2-40B4-BE49-F238E27FC236}">
                <a16:creationId xmlns:a16="http://schemas.microsoft.com/office/drawing/2014/main" id="{72A6B4E3-3CFE-AA49-9566-9D207A21C2F9}"/>
              </a:ext>
            </a:extLst>
          </p:cNvPr>
          <p:cNvSpPr/>
          <p:nvPr userDrawn="1"/>
        </p:nvSpPr>
        <p:spPr>
          <a:xfrm>
            <a:off x="426381" y="853351"/>
            <a:ext cx="7965000" cy="197100"/>
          </a:xfrm>
          <a:custGeom>
            <a:avLst/>
            <a:gdLst/>
            <a:ahLst/>
            <a:cxnLst/>
            <a:rect l="l" t="t" r="r" b="b"/>
            <a:pathLst>
              <a:path w="721995" h="312420">
                <a:moveTo>
                  <a:pt x="721789" y="0"/>
                </a:moveTo>
                <a:lnTo>
                  <a:pt x="0" y="0"/>
                </a:lnTo>
                <a:lnTo>
                  <a:pt x="0" y="312178"/>
                </a:lnTo>
                <a:lnTo>
                  <a:pt x="721789" y="312178"/>
                </a:lnTo>
                <a:lnTo>
                  <a:pt x="721789" y="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135000" tIns="0" rIns="0" bIns="0" rtlCol="0" anchor="ctr"/>
          <a:lstStyle/>
          <a:p>
            <a:endParaRPr lang="es-ES" sz="1050" spc="225">
              <a:solidFill>
                <a:srgbClr val="FFFFFF"/>
              </a:solidFill>
              <a:latin typeface="Enagás PT Serif" panose="020A0603040505020204" pitchFamily="18" charset="77"/>
              <a:ea typeface="Enagás PT Serif" panose="020A0603040505020204" pitchFamily="18" charset="0"/>
              <a:cs typeface="Enagás PT Serif" panose="020A0603040505020204" pitchFamily="18" charset="0"/>
            </a:endParaRPr>
          </a:p>
        </p:txBody>
      </p:sp>
      <p:sp>
        <p:nvSpPr>
          <p:cNvPr id="13" name="2 Título"/>
          <p:cNvSpPr>
            <a:spLocks noGrp="1"/>
          </p:cNvSpPr>
          <p:nvPr>
            <p:ph type="title" hasCustomPrompt="1"/>
          </p:nvPr>
        </p:nvSpPr>
        <p:spPr>
          <a:xfrm>
            <a:off x="439199" y="298800"/>
            <a:ext cx="7953981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 sz="2600" b="0">
                <a:solidFill>
                  <a:schemeClr val="accent3"/>
                </a:solidFill>
                <a:latin typeface="Enagás PT Serif" panose="020A0603040505020204" pitchFamily="18" charset="0"/>
                <a:ea typeface="Enagás PT Serif" panose="020A0603040505020204" pitchFamily="18" charset="0"/>
                <a:cs typeface="Verdana" panose="020B0604030504040204" pitchFamily="34" charset="0"/>
              </a:defRPr>
            </a:lvl1pPr>
          </a:lstStyle>
          <a:p>
            <a:r>
              <a:rPr lang="es-ES"/>
              <a:t>Completa el índice</a:t>
            </a:r>
          </a:p>
        </p:txBody>
      </p:sp>
      <p:sp>
        <p:nvSpPr>
          <p:cNvPr id="14" name="3 Marcador de texto"/>
          <p:cNvSpPr>
            <a:spLocks noGrp="1"/>
          </p:cNvSpPr>
          <p:nvPr>
            <p:ph type="body" sz="quarter" idx="11" hasCustomPrompt="1"/>
          </p:nvPr>
        </p:nvSpPr>
        <p:spPr>
          <a:xfrm>
            <a:off x="426379" y="2967775"/>
            <a:ext cx="7966800" cy="1764000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baseline="0">
                <a:solidFill>
                  <a:schemeClr val="accent3"/>
                </a:solidFill>
              </a:defRPr>
            </a:lvl1pPr>
            <a:lvl2pPr marL="457200" indent="0">
              <a:buClr>
                <a:schemeClr val="accent1"/>
              </a:buClr>
              <a:buFont typeface="Arial" panose="020B0604020202020204" pitchFamily="34" charset="0"/>
              <a:buNone/>
              <a:defRPr sz="1400" baseline="0">
                <a:solidFill>
                  <a:schemeClr val="accent3"/>
                </a:solidFill>
              </a:defRPr>
            </a:lvl2pPr>
          </a:lstStyle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1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2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3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Apartado 4</a:t>
            </a:r>
          </a:p>
          <a:p>
            <a:pPr marL="514350" marR="0" lvl="0" indent="-51435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s-ES" sz="16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58528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ante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FAC64-697C-744A-8112-A87F70158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382541-1604-654B-A65F-6E00B131DD1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4102A1F6-3BA1-9344-A2BE-98333259B64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9D20DD62-D5F1-BD4A-B469-89350AF1C4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C6DF052F-C7BB-3949-A7C2-035D5A3B334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7940342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50671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48342" y="1123949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3054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124835" y="1123949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471E1142-29E5-4DD8-909F-F670F636B49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17870" y="1123949"/>
            <a:ext cx="257048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919401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8E7612F4-E61E-44D6-898C-5013C22F3F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48144" y="1123949"/>
            <a:ext cx="3923999" cy="36566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accent3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33954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Marcador de contenido 10">
            <a:extLst>
              <a:ext uri="{FF2B5EF4-FFF2-40B4-BE49-F238E27FC236}">
                <a16:creationId xmlns:a16="http://schemas.microsoft.com/office/drawing/2014/main" id="{7D463045-E6B2-42B2-A3CF-88E8439310C4}"/>
              </a:ext>
            </a:extLst>
          </p:cNvPr>
          <p:cNvSpPr>
            <a:spLocks noGrp="1"/>
          </p:cNvSpPr>
          <p:nvPr>
            <p:ph sz="quarter" idx="23"/>
          </p:nvPr>
        </p:nvSpPr>
        <p:spPr>
          <a:xfrm>
            <a:off x="4448143" y="1125432"/>
            <a:ext cx="3923999" cy="3655140"/>
          </a:xfrm>
          <a:prstGeom prst="rect">
            <a:avLst/>
          </a:prstGeom>
        </p:spPr>
        <p:txBody>
          <a:bodyPr/>
          <a:lstStyle>
            <a:lvl1pPr>
              <a:defRPr lang="es-ES_tradnl" sz="1000" dirty="0">
                <a:solidFill>
                  <a:schemeClr val="accent3"/>
                </a:solidFill>
              </a:defRPr>
            </a:lvl1pPr>
          </a:lstStyle>
          <a:p>
            <a:pPr lvl="0"/>
            <a:endParaRPr lang="es-ES_tradnl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 dirty="0"/>
              <a:t>Subtítulo de la diapositiva si lo tuviera. </a:t>
            </a:r>
            <a:r>
              <a:rPr lang="es-ES_tradnl" noProof="0" dirty="0" err="1"/>
              <a:t>Verdana</a:t>
            </a:r>
            <a:r>
              <a:rPr lang="es-ES_tradnl" noProof="0" dirty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1123950"/>
            <a:ext cx="3924000" cy="3656623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31532418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E331AD17-31BE-45A5-93FF-A0630DA38A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FF9B3165-755B-4757-9796-F6D06A73A6D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1800" y="158750"/>
            <a:ext cx="7956550" cy="14146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900" b="1">
                <a:solidFill>
                  <a:schemeClr val="accent1"/>
                </a:solidFill>
              </a:defRPr>
            </a:lvl1pPr>
            <a:lvl2pPr marL="457200" indent="0">
              <a:buNone/>
              <a:defRPr sz="900" b="1">
                <a:solidFill>
                  <a:schemeClr val="accent1"/>
                </a:solidFill>
              </a:defRPr>
            </a:lvl2pPr>
            <a:lvl3pPr marL="914400" indent="0">
              <a:buNone/>
              <a:defRPr sz="900" b="1">
                <a:solidFill>
                  <a:schemeClr val="accent1"/>
                </a:solidFill>
              </a:defRPr>
            </a:lvl3pPr>
            <a:lvl4pPr marL="1371600" indent="0">
              <a:buNone/>
              <a:defRPr sz="900" b="1">
                <a:solidFill>
                  <a:schemeClr val="accent1"/>
                </a:solidFill>
              </a:defRPr>
            </a:lvl4pPr>
            <a:lvl5pPr marL="1828800" indent="0">
              <a:buNone/>
              <a:defRPr sz="900"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s-ES"/>
              <a:t>Antetítulo si lo tuviera. </a:t>
            </a:r>
            <a:r>
              <a:rPr lang="es-ES" err="1"/>
              <a:t>Verdana</a:t>
            </a:r>
            <a:r>
              <a:rPr lang="es-ES"/>
              <a:t> 9 negrita (RGB 0, 122, 174) </a:t>
            </a:r>
            <a:endParaRPr lang="es-ES_tradnl"/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EE4826B8-3F56-4E3E-BD94-F9E926FEC9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362927"/>
            <a:ext cx="7940342" cy="335413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Escribe el título en Enagás PT Serif (RGB 99, 102, 106)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328BC89-CF2A-4416-85A2-9362E30D0F1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2000" y="700187"/>
            <a:ext cx="7940342" cy="169277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1100" b="1" i="0">
                <a:solidFill>
                  <a:schemeClr val="accent3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Subtítulo de la diapositiva si lo tuviera. </a:t>
            </a:r>
            <a:r>
              <a:rPr lang="es-ES_tradnl" noProof="0" err="1"/>
              <a:t>Verdana</a:t>
            </a:r>
            <a:r>
              <a:rPr lang="es-ES_tradnl" noProof="0"/>
              <a:t> 11 negrita (RGB 99, 102, 106)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EF69AEC-D4F5-41CC-A515-31FCCC605E6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31800" y="3031959"/>
            <a:ext cx="3924000" cy="1748614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S_tradnl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0CE3E694-7F2A-4805-BBD4-8C64CAF46512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448342" y="3031958"/>
            <a:ext cx="3924000" cy="1748614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  <a:lvl2pPr>
              <a:defRPr sz="1000">
                <a:solidFill>
                  <a:schemeClr val="accent3"/>
                </a:solidFill>
              </a:defRPr>
            </a:lvl2pPr>
            <a:lvl3pPr>
              <a:defRPr sz="1000">
                <a:solidFill>
                  <a:schemeClr val="accent3"/>
                </a:solidFill>
              </a:defRPr>
            </a:lvl3pPr>
            <a:lvl4pPr>
              <a:defRPr sz="1000">
                <a:solidFill>
                  <a:schemeClr val="accent3"/>
                </a:solidFill>
              </a:defRPr>
            </a:lvl4pPr>
            <a:lvl5pPr>
              <a:defRPr sz="1000">
                <a:solidFill>
                  <a:schemeClr val="accent3"/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S_tradnl" dirty="0"/>
          </a:p>
        </p:txBody>
      </p:sp>
      <p:sp>
        <p:nvSpPr>
          <p:cNvPr id="9" name="Marcador de posición de imagen 2">
            <a:extLst>
              <a:ext uri="{FF2B5EF4-FFF2-40B4-BE49-F238E27FC236}">
                <a16:creationId xmlns:a16="http://schemas.microsoft.com/office/drawing/2014/main" id="{2B80916D-7991-4B07-B199-2167AE3299D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1800" y="935026"/>
            <a:ext cx="7940343" cy="20281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accent3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38241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Un dibujo de una persona&#10;&#10;Descripción generada automáticamente con confianza baja">
            <a:extLst>
              <a:ext uri="{FF2B5EF4-FFF2-40B4-BE49-F238E27FC236}">
                <a16:creationId xmlns:a16="http://schemas.microsoft.com/office/drawing/2014/main" id="{643699B8-E881-A244-B164-636AD58C4C28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388" y="160750"/>
            <a:ext cx="8784000" cy="4824000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289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C8A01CEB-9609-CB40-A774-43E008B18F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0EAD808B-FCE8-448A-AD7F-60FDBE7E84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6762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Un conjunto de árboles&#10;&#10;Descripción generada automáticamente con confianza baja">
            <a:extLst>
              <a:ext uri="{FF2B5EF4-FFF2-40B4-BE49-F238E27FC236}">
                <a16:creationId xmlns:a16="http://schemas.microsoft.com/office/drawing/2014/main" id="{63732BDC-4662-2E4E-B207-AB3AA3B2C9F8}"/>
              </a:ext>
            </a:extLst>
          </p:cNvPr>
          <p:cNvPicPr>
            <a:picLocks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57150"/>
            <a:ext cx="8784000" cy="4824000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19BE9C-3873-B940-BEF9-E677EA486DC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2503BF32-3F33-4B73-BBA8-275C601E14D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149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 descr="Imagen que contiene agua, parado, grande, pájaro&#10;&#10;Descripción generada automáticamente">
            <a:extLst>
              <a:ext uri="{FF2B5EF4-FFF2-40B4-BE49-F238E27FC236}">
                <a16:creationId xmlns:a16="http://schemas.microsoft.com/office/drawing/2014/main" id="{EB781FAF-3792-F04C-B512-3CB78E19F5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60587"/>
            <a:ext cx="8784000" cy="4824163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BD589650-B272-A144-91B0-3D7516CD1EB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7C0997F4-0D07-48D0-973F-3561B5C4E3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6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 descr="Imagen que contiene interior, tabla, taza, naranja&#10;&#10;Descripción generada automáticamente">
            <a:extLst>
              <a:ext uri="{FF2B5EF4-FFF2-40B4-BE49-F238E27FC236}">
                <a16:creationId xmlns:a16="http://schemas.microsoft.com/office/drawing/2014/main" id="{904FCB76-16C1-F141-AE99-33097D320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0613" y="160587"/>
            <a:ext cx="8784000" cy="4824163"/>
          </a:xfrm>
          <a:prstGeom prst="rect">
            <a:avLst/>
          </a:prstGeom>
        </p:spPr>
      </p:pic>
      <p:sp>
        <p:nvSpPr>
          <p:cNvPr id="5" name="object 5">
            <a:extLst>
              <a:ext uri="{FF2B5EF4-FFF2-40B4-BE49-F238E27FC236}">
                <a16:creationId xmlns:a16="http://schemas.microsoft.com/office/drawing/2014/main" id="{AB20A344-34DD-5F42-92AF-C966897110F6}"/>
              </a:ext>
            </a:extLst>
          </p:cNvPr>
          <p:cNvSpPr/>
          <p:nvPr userDrawn="1"/>
        </p:nvSpPr>
        <p:spPr>
          <a:xfrm>
            <a:off x="697297" y="1"/>
            <a:ext cx="2540560" cy="5143211"/>
          </a:xfrm>
          <a:custGeom>
            <a:avLst/>
            <a:gdLst/>
            <a:ahLst/>
            <a:cxnLst/>
            <a:rect l="l" t="t" r="r" b="b"/>
            <a:pathLst>
              <a:path w="5586095" h="11308715">
                <a:moveTo>
                  <a:pt x="5585473" y="0"/>
                </a:moveTo>
                <a:lnTo>
                  <a:pt x="0" y="0"/>
                </a:lnTo>
                <a:lnTo>
                  <a:pt x="0" y="11308556"/>
                </a:lnTo>
                <a:lnTo>
                  <a:pt x="5585473" y="11308556"/>
                </a:lnTo>
                <a:lnTo>
                  <a:pt x="5585473" y="0"/>
                </a:lnTo>
                <a:close/>
              </a:path>
            </a:pathLst>
          </a:custGeom>
          <a:solidFill>
            <a:schemeClr val="accent6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A1DC80A3-74E2-7241-8FBB-BF96C7ED47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87200" y="1292950"/>
            <a:ext cx="1960754" cy="800219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3"/>
              </a:buClr>
              <a:buSzPct val="110000"/>
              <a:buNone/>
              <a:defRPr sz="2600" b="0" i="0">
                <a:solidFill>
                  <a:schemeClr val="accent3"/>
                </a:solidFill>
                <a:latin typeface="Enagás PT Serif" panose="020A0603040505020204" pitchFamily="18" charset="77"/>
                <a:ea typeface="Enagás PT Serif" panose="020A0603040505020204" pitchFamily="18" charset="77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s-ES_tradnl" noProof="0"/>
              <a:t>Muchas gracias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1884A5A8-E3B9-4084-8B9E-2669B3F91D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0706" y="2892491"/>
            <a:ext cx="1213743" cy="1019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93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sv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svg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svg"/><Relationship Id="rId3" Type="http://schemas.openxmlformats.org/officeDocument/2006/relationships/slideLayout" Target="../slideLayouts/slideLayout11.xml"/><Relationship Id="rId7" Type="http://schemas.openxmlformats.org/officeDocument/2006/relationships/theme" Target="../theme/theme3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áfico 3">
            <a:extLst>
              <a:ext uri="{FF2B5EF4-FFF2-40B4-BE49-F238E27FC236}">
                <a16:creationId xmlns:a16="http://schemas.microsoft.com/office/drawing/2014/main" id="{9D46EECE-567F-45E9-9FB3-701CBD324A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7369179" y="3630606"/>
            <a:ext cx="1223563" cy="102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362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25" r:id="rId2"/>
    <p:sldLayoutId id="2147483827" r:id="rId3"/>
    <p:sldLayoutId id="2147483829" r:id="rId4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" userDrawn="1">
          <p15:clr>
            <a:srgbClr val="F26B43"/>
          </p15:clr>
        </p15:guide>
        <p15:guide id="2" orient="horz" pos="3140" userDrawn="1">
          <p15:clr>
            <a:srgbClr val="F26B43"/>
          </p15:clr>
        </p15:guide>
        <p15:guide id="3" pos="113" userDrawn="1">
          <p15:clr>
            <a:srgbClr val="F26B43"/>
          </p15:clr>
        </p15:guide>
        <p15:guide id="4" pos="564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8">
            <a:extLst>
              <a:ext uri="{FF2B5EF4-FFF2-40B4-BE49-F238E27FC236}">
                <a16:creationId xmlns:a16="http://schemas.microsoft.com/office/drawing/2014/main" id="{16B1695C-D222-3941-8EB4-3D4865352757}"/>
              </a:ext>
            </a:extLst>
          </p:cNvPr>
          <p:cNvCxnSpPr>
            <a:cxnSpLocks/>
          </p:cNvCxnSpPr>
          <p:nvPr userDrawn="1"/>
        </p:nvCxnSpPr>
        <p:spPr>
          <a:xfrm>
            <a:off x="8757047" y="923192"/>
            <a:ext cx="0" cy="3525716"/>
          </a:xfrm>
          <a:prstGeom prst="line">
            <a:avLst/>
          </a:prstGeom>
          <a:ln w="95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8B72E51-3DA6-EA4A-AA08-C346D81FE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018291F7-5BC9-A34B-9232-71699CB53F2E}"/>
              </a:ext>
            </a:extLst>
          </p:cNvPr>
          <p:cNvSpPr/>
          <p:nvPr userDrawn="1"/>
        </p:nvSpPr>
        <p:spPr>
          <a:xfrm>
            <a:off x="0" y="0"/>
            <a:ext cx="8379619" cy="5143500"/>
          </a:xfrm>
          <a:custGeom>
            <a:avLst/>
            <a:gdLst/>
            <a:ahLst/>
            <a:cxnLst/>
            <a:rect l="l" t="t" r="r" b="b"/>
            <a:pathLst>
              <a:path w="19266535" h="10471150">
                <a:moveTo>
                  <a:pt x="19266429" y="0"/>
                </a:moveTo>
                <a:lnTo>
                  <a:pt x="0" y="0"/>
                </a:lnTo>
                <a:lnTo>
                  <a:pt x="0" y="10470885"/>
                </a:lnTo>
                <a:lnTo>
                  <a:pt x="19266429" y="10470885"/>
                </a:lnTo>
                <a:lnTo>
                  <a:pt x="19266429" y="0"/>
                </a:lnTo>
                <a:close/>
              </a:path>
            </a:pathLst>
          </a:custGeom>
          <a:solidFill>
            <a:schemeClr val="accent6">
              <a:lumMod val="95000"/>
            </a:schemeClr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DF7180EB-41B2-A648-BA5C-52ED0C5E9F4E}"/>
              </a:ext>
            </a:extLst>
          </p:cNvPr>
          <p:cNvSpPr/>
          <p:nvPr userDrawn="1"/>
        </p:nvSpPr>
        <p:spPr>
          <a:xfrm>
            <a:off x="190808" y="158750"/>
            <a:ext cx="8188811" cy="4826000"/>
          </a:xfrm>
          <a:custGeom>
            <a:avLst/>
            <a:gdLst/>
            <a:ahLst/>
            <a:cxnLst/>
            <a:rect l="l" t="t" r="r" b="b"/>
            <a:pathLst>
              <a:path w="19266535" h="10471150">
                <a:moveTo>
                  <a:pt x="19266429" y="0"/>
                </a:moveTo>
                <a:lnTo>
                  <a:pt x="0" y="0"/>
                </a:lnTo>
                <a:lnTo>
                  <a:pt x="0" y="10470885"/>
                </a:lnTo>
                <a:lnTo>
                  <a:pt x="19266429" y="10470885"/>
                </a:lnTo>
                <a:lnTo>
                  <a:pt x="19266429" y="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 sz="819"/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D3D4A278-4EB7-4C83-B9E9-25835E5D2C5E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86886" y="300095"/>
            <a:ext cx="540322" cy="45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55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1" r:id="rId2"/>
    <p:sldLayoutId id="2147483833" r:id="rId3"/>
    <p:sldLayoutId id="2147483830" r:id="rId4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84" userDrawn="1">
          <p15:clr>
            <a:srgbClr val="F26B43"/>
          </p15:clr>
        </p15:guide>
        <p15:guide id="2" pos="5647" userDrawn="1">
          <p15:clr>
            <a:srgbClr val="F26B43"/>
          </p15:clr>
        </p15:guide>
        <p15:guide id="3" orient="horz" pos="100" userDrawn="1">
          <p15:clr>
            <a:srgbClr val="F26B43"/>
          </p15:clr>
        </p15:guide>
        <p15:guide id="4" orient="horz" pos="31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28">
            <a:extLst>
              <a:ext uri="{FF2B5EF4-FFF2-40B4-BE49-F238E27FC236}">
                <a16:creationId xmlns:a16="http://schemas.microsoft.com/office/drawing/2014/main" id="{6A5B03F0-8BD6-2746-8F4B-6F4FE60D7DE3}"/>
              </a:ext>
            </a:extLst>
          </p:cNvPr>
          <p:cNvCxnSpPr>
            <a:cxnSpLocks/>
          </p:cNvCxnSpPr>
          <p:nvPr userDrawn="1"/>
        </p:nvCxnSpPr>
        <p:spPr>
          <a:xfrm>
            <a:off x="8757047" y="923192"/>
            <a:ext cx="0" cy="3525716"/>
          </a:xfrm>
          <a:prstGeom prst="line">
            <a:avLst/>
          </a:prstGeom>
          <a:ln w="952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F95BA7-8D08-C745-98EF-B036C872AF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25476" y="4638617"/>
            <a:ext cx="473273" cy="204788"/>
          </a:xfrm>
          <a:prstGeom prst="rect">
            <a:avLst/>
          </a:prstGeom>
        </p:spPr>
        <p:txBody>
          <a:bodyPr/>
          <a:lstStyle>
            <a:lvl1pPr algn="ctr">
              <a:defRPr sz="800" b="0" i="0">
                <a:solidFill>
                  <a:schemeClr val="accent3"/>
                </a:solidFill>
                <a:latin typeface="Enagás PT Serif" panose="020A0603040505020204" pitchFamily="18" charset="77"/>
              </a:defRPr>
            </a:lvl1pPr>
          </a:lstStyle>
          <a:p>
            <a:fld id="{BC84A7B8-DCD1-44CA-A629-967FC9CECB50}" type="slidenum">
              <a:rPr lang="es-ES_tradnl" smtClean="0"/>
              <a:pPr/>
              <a:t>‹Nº›</a:t>
            </a:fld>
            <a:endParaRPr lang="es-ES_tradnl"/>
          </a:p>
        </p:txBody>
      </p:sp>
      <p:pic>
        <p:nvPicPr>
          <p:cNvPr id="7" name="Gráfico 6">
            <a:extLst>
              <a:ext uri="{FF2B5EF4-FFF2-40B4-BE49-F238E27FC236}">
                <a16:creationId xmlns:a16="http://schemas.microsoft.com/office/drawing/2014/main" id="{104244E3-16DF-4CEA-805E-0B3F675AC581}"/>
              </a:ext>
            </a:extLst>
          </p:cNvPr>
          <p:cNvPicPr>
            <a:picLocks noChangeAspect="1"/>
          </p:cNvPicPr>
          <p:nvPr userDrawn="1"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8486886" y="300095"/>
            <a:ext cx="540322" cy="453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499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53" r:id="rId2"/>
    <p:sldLayoutId id="2147483857" r:id="rId3"/>
    <p:sldLayoutId id="2147483855" r:id="rId4"/>
    <p:sldLayoutId id="2147483858" r:id="rId5"/>
    <p:sldLayoutId id="2147483854" r:id="rId6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13" userDrawn="1">
          <p15:clr>
            <a:srgbClr val="F26B43"/>
          </p15:clr>
        </p15:guide>
        <p15:guide id="2" pos="5647" userDrawn="1">
          <p15:clr>
            <a:srgbClr val="F26B43"/>
          </p15:clr>
        </p15:guide>
        <p15:guide id="3" orient="horz" pos="100" userDrawn="1">
          <p15:clr>
            <a:srgbClr val="F26B43"/>
          </p15:clr>
        </p15:guide>
        <p15:guide id="4" orient="horz" pos="3140" userDrawn="1">
          <p15:clr>
            <a:srgbClr val="F26B43"/>
          </p15:clr>
        </p15:guide>
        <p15:guide id="5" pos="5284" userDrawn="1">
          <p15:clr>
            <a:srgbClr val="F26B43"/>
          </p15:clr>
        </p15:guide>
        <p15:guide id="6" orient="horz" pos="441" userDrawn="1">
          <p15:clr>
            <a:srgbClr val="F26B43"/>
          </p15:clr>
        </p15:guide>
        <p15:guide id="7" orient="horz" pos="2799" userDrawn="1">
          <p15:clr>
            <a:srgbClr val="F26B43"/>
          </p15:clr>
        </p15:guide>
        <p15:guide id="8" pos="272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1987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6" r:id="rId2"/>
    <p:sldLayoutId id="2147483834" r:id="rId3"/>
    <p:sldLayoutId id="2147483835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0" userDrawn="1">
          <p15:clr>
            <a:srgbClr val="F26B43"/>
          </p15:clr>
        </p15:guide>
        <p15:guide id="2" pos="113" userDrawn="1">
          <p15:clr>
            <a:srgbClr val="F26B43"/>
          </p15:clr>
        </p15:guide>
        <p15:guide id="3" orient="horz" pos="3140" userDrawn="1">
          <p15:clr>
            <a:srgbClr val="F26B43"/>
          </p15:clr>
        </p15:guide>
        <p15:guide id="4" pos="564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4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4.png"/><Relationship Id="rId4" Type="http://schemas.openxmlformats.org/officeDocument/2006/relationships/image" Target="../media/image6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0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0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81.png"/><Relationship Id="rId4" Type="http://schemas.openxmlformats.org/officeDocument/2006/relationships/image" Target="../media/image61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82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0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0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1">
            <a:extLst>
              <a:ext uri="{FF2B5EF4-FFF2-40B4-BE49-F238E27FC236}">
                <a16:creationId xmlns:a16="http://schemas.microsoft.com/office/drawing/2014/main" id="{B6901837-C778-59FF-37C1-D287FFD0319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" dirty="0"/>
              <a:t>21/05/2026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F5840D-8998-0618-A9DD-44E1B216BE2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813" y="1043241"/>
            <a:ext cx="3738086" cy="2305174"/>
          </a:xfrm>
        </p:spPr>
        <p:txBody>
          <a:bodyPr/>
          <a:lstStyle/>
          <a:p>
            <a:r>
              <a:rPr lang="es-ES" b="1" dirty="0">
                <a:solidFill>
                  <a:schemeClr val="accent1">
                    <a:lumMod val="75000"/>
                  </a:schemeClr>
                </a:solidFill>
              </a:rPr>
              <a:t>PyPSA. </a:t>
            </a:r>
            <a:r>
              <a:rPr lang="es-ES" dirty="0">
                <a:solidFill>
                  <a:schemeClr val="accent1">
                    <a:lumMod val="75000"/>
                  </a:schemeClr>
                </a:solidFill>
              </a:rPr>
              <a:t>Modelo de Redes e Infraestructura Energética Europea</a:t>
            </a:r>
          </a:p>
        </p:txBody>
      </p:sp>
    </p:spTree>
    <p:extLst>
      <p:ext uri="{BB962C8B-B14F-4D97-AF65-F5344CB8AC3E}">
        <p14:creationId xmlns:p14="http://schemas.microsoft.com/office/powerpoint/2010/main" val="426706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1D1E27E-95D0-95BE-2FCE-4E647BDCC2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2</a:t>
            </a:fld>
            <a:endParaRPr lang="es-ES_tradnl"/>
          </a:p>
        </p:txBody>
      </p:sp>
      <p:sp>
        <p:nvSpPr>
          <p:cNvPr id="3" name="Título 2">
            <a:extLst>
              <a:ext uri="{FF2B5EF4-FFF2-40B4-BE49-F238E27FC236}">
                <a16:creationId xmlns:a16="http://schemas.microsoft.com/office/drawing/2014/main" id="{6CBBF093-E173-A161-45EE-78690B9E5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Índice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1DF9168-9F9B-16AE-0064-1DF6392AB198}"/>
              </a:ext>
            </a:extLst>
          </p:cNvPr>
          <p:cNvSpPr txBox="1">
            <a:spLocks/>
          </p:cNvSpPr>
          <p:nvPr/>
        </p:nvSpPr>
        <p:spPr>
          <a:xfrm>
            <a:off x="426380" y="2958737"/>
            <a:ext cx="7966800" cy="1534886"/>
          </a:xfrm>
          <a:prstGeom prst="rect">
            <a:avLst/>
          </a:prstGeom>
          <a:solidFill>
            <a:schemeClr val="bg1"/>
          </a:solidFill>
        </p:spPr>
        <p:txBody>
          <a:bodyPr lIns="360000" tIns="360000" rIns="360000" bIns="360000" numCol="2" anchor="ctr" anchorCtr="0"/>
          <a:lstStyle>
            <a:lvl1pPr marL="0" marR="0" indent="0" algn="l" defTabSz="914400" rtl="0" eaLnBrk="1" fontAlgn="auto" latinLnBrk="0" hangingPunct="1">
              <a:lnSpc>
                <a:spcPct val="15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+mj-lt"/>
              <a:buNone/>
              <a:tabLst/>
              <a:defRPr sz="1400" b="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anose="020B0604020202020204" pitchFamily="34" charset="0"/>
              <a:buNone/>
              <a:defRPr sz="1400" kern="1200" baseline="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indent="-228600">
              <a:buFont typeface="+mj-lt"/>
              <a:buAutoNum type="arabicPeriod"/>
            </a:pPr>
            <a:r>
              <a:rPr lang="es-ES" sz="1300" dirty="0"/>
              <a:t>Estructura de la Red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BenchMarking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Dispatching - Sensibilidades</a:t>
            </a:r>
          </a:p>
          <a:p>
            <a:pPr marL="228600" indent="-228600">
              <a:buFont typeface="+mj-lt"/>
              <a:buAutoNum type="arabicPeriod"/>
            </a:pPr>
            <a:r>
              <a:rPr lang="es-ES" sz="1300" dirty="0"/>
              <a:t>Modelo de Inversión</a:t>
            </a:r>
          </a:p>
          <a:p>
            <a:pPr marL="228600" indent="-228600">
              <a:buFont typeface="+mj-lt"/>
              <a:buAutoNum type="arabicPeriod"/>
            </a:pPr>
            <a:r>
              <a:rPr lang="es-ES_tradnl" sz="1300" dirty="0"/>
              <a:t>Próximos Pasos</a:t>
            </a:r>
          </a:p>
        </p:txBody>
      </p:sp>
    </p:spTree>
    <p:extLst>
      <p:ext uri="{BB962C8B-B14F-4D97-AF65-F5344CB8AC3E}">
        <p14:creationId xmlns:p14="http://schemas.microsoft.com/office/powerpoint/2010/main" val="2804319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D1BC8-AFF5-C2FF-E8F1-2FB4DB2F3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9D0F0CB-40E7-7A0F-B720-90112DC9F14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1903906"/>
            <a:ext cx="2794514" cy="1335687"/>
          </a:xfrm>
        </p:spPr>
        <p:txBody>
          <a:bodyPr/>
          <a:lstStyle/>
          <a:p>
            <a:pPr algn="ctr"/>
            <a:r>
              <a:rPr lang="es-ES" sz="2400" dirty="0"/>
              <a:t>ESTRUCTURA </a:t>
            </a:r>
          </a:p>
          <a:p>
            <a:pPr algn="ctr"/>
            <a:r>
              <a:rPr lang="es-ES" sz="2400" dirty="0"/>
              <a:t>DE </a:t>
            </a:r>
          </a:p>
          <a:p>
            <a:pPr algn="ctr"/>
            <a:r>
              <a:rPr lang="es-ES" sz="2400" dirty="0"/>
              <a:t>LA </a:t>
            </a:r>
          </a:p>
          <a:p>
            <a:pPr algn="ctr"/>
            <a:r>
              <a:rPr lang="es-ES" sz="2400" dirty="0"/>
              <a:t>RED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50958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076F5-C932-CA1C-DB45-14A7B8375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F38B9-10D3-9615-3E77-249F7A9316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4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D86A7F0-1654-45D4-21DA-5DC61E9423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7D1E293E-781D-E951-123D-6C3ECF508B6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32000" y="700187"/>
            <a:ext cx="7940342" cy="169277"/>
          </a:xfrm>
        </p:spPr>
        <p:txBody>
          <a:bodyPr/>
          <a:lstStyle/>
          <a:p>
            <a:r>
              <a:rPr lang="es-ES_tradnl" dirty="0"/>
              <a:t>España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84B3B6E9-5702-1C0F-73FB-B90F426EB40A}"/>
              </a:ext>
            </a:extLst>
          </p:cNvPr>
          <p:cNvSpPr/>
          <p:nvPr/>
        </p:nvSpPr>
        <p:spPr>
          <a:xfrm>
            <a:off x="2859387" y="2756768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0824265-9CD9-8792-DBAD-A43212E51669}"/>
              </a:ext>
            </a:extLst>
          </p:cNvPr>
          <p:cNvSpPr/>
          <p:nvPr/>
        </p:nvSpPr>
        <p:spPr>
          <a:xfrm>
            <a:off x="4809303" y="2749202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D2EE916B-974A-6D86-DA1A-2874917A4222}"/>
              </a:ext>
            </a:extLst>
          </p:cNvPr>
          <p:cNvCxnSpPr>
            <a:cxnSpLocks/>
          </p:cNvCxnSpPr>
          <p:nvPr/>
        </p:nvCxnSpPr>
        <p:spPr>
          <a:xfrm>
            <a:off x="3725297" y="2863502"/>
            <a:ext cx="10840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ángulo 14">
            <a:extLst>
              <a:ext uri="{FF2B5EF4-FFF2-40B4-BE49-F238E27FC236}">
                <a16:creationId xmlns:a16="http://schemas.microsoft.com/office/drawing/2014/main" id="{0B25CF7D-CBE5-EF26-D7E8-93710098394C}"/>
              </a:ext>
            </a:extLst>
          </p:cNvPr>
          <p:cNvSpPr/>
          <p:nvPr/>
        </p:nvSpPr>
        <p:spPr>
          <a:xfrm>
            <a:off x="2859387" y="1660795"/>
            <a:ext cx="86591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Excedentes</a:t>
            </a:r>
          </a:p>
        </p:txBody>
      </p: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284D770B-2535-E4F7-1255-0651785876D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292342" y="1975347"/>
            <a:ext cx="0" cy="7662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0A6D6800-6E35-7BB0-FAF1-6243EAEF821A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5241266" y="1958361"/>
            <a:ext cx="992" cy="790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A84DF16C-3339-D34F-DA36-27AE9BB883A6}"/>
              </a:ext>
            </a:extLst>
          </p:cNvPr>
          <p:cNvCxnSpPr>
            <a:cxnSpLocks/>
            <a:stCxn id="15" idx="3"/>
          </p:cNvCxnSpPr>
          <p:nvPr/>
        </p:nvCxnSpPr>
        <p:spPr>
          <a:xfrm flipV="1">
            <a:off x="3725297" y="1384300"/>
            <a:ext cx="0" cy="4337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Conector recto de flecha 22">
            <a:extLst>
              <a:ext uri="{FF2B5EF4-FFF2-40B4-BE49-F238E27FC236}">
                <a16:creationId xmlns:a16="http://schemas.microsoft.com/office/drawing/2014/main" id="{2595D3A1-92D0-CB8C-9CF2-2B2B06EB6EBC}"/>
              </a:ext>
            </a:extLst>
          </p:cNvPr>
          <p:cNvCxnSpPr>
            <a:cxnSpLocks/>
          </p:cNvCxnSpPr>
          <p:nvPr/>
        </p:nvCxnSpPr>
        <p:spPr>
          <a:xfrm>
            <a:off x="3087631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2E23EE3A-CBB7-A1D5-CF67-8DA27F925498}"/>
              </a:ext>
            </a:extLst>
          </p:cNvPr>
          <p:cNvSpPr/>
          <p:nvPr/>
        </p:nvSpPr>
        <p:spPr>
          <a:xfrm>
            <a:off x="4716831" y="1643809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F732884-C37F-F30E-DCBB-0CADB66D6DF0}"/>
              </a:ext>
            </a:extLst>
          </p:cNvPr>
          <p:cNvCxnSpPr>
            <a:cxnSpLocks/>
          </p:cNvCxnSpPr>
          <p:nvPr/>
        </p:nvCxnSpPr>
        <p:spPr>
          <a:xfrm flipV="1">
            <a:off x="5765701" y="1339850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BB7D0A3B-FF45-1616-46D9-3B9FCC98B7EB}"/>
              </a:ext>
            </a:extLst>
          </p:cNvPr>
          <p:cNvCxnSpPr>
            <a:cxnSpLocks/>
          </p:cNvCxnSpPr>
          <p:nvPr/>
        </p:nvCxnSpPr>
        <p:spPr>
          <a:xfrm>
            <a:off x="5275596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0076A4CF-E324-ACD2-EABE-53438531B1DB}"/>
              </a:ext>
            </a:extLst>
          </p:cNvPr>
          <p:cNvSpPr/>
          <p:nvPr/>
        </p:nvSpPr>
        <p:spPr>
          <a:xfrm>
            <a:off x="2485075" y="1288891"/>
            <a:ext cx="748624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B5E05EC2-539D-4EB5-5360-0655AAFE70B9}"/>
              </a:ext>
            </a:extLst>
          </p:cNvPr>
          <p:cNvSpPr/>
          <p:nvPr/>
        </p:nvSpPr>
        <p:spPr>
          <a:xfrm>
            <a:off x="4716831" y="1257933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80C2ACBE-D113-01C2-64F6-76A7367DE34A}"/>
              </a:ext>
            </a:extLst>
          </p:cNvPr>
          <p:cNvSpPr/>
          <p:nvPr/>
        </p:nvSpPr>
        <p:spPr>
          <a:xfrm>
            <a:off x="2104085" y="3865296"/>
            <a:ext cx="962583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Hidroeléctrica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372CC9DC-44D4-B673-B664-1300F57AC80F}"/>
              </a:ext>
            </a:extLst>
          </p:cNvPr>
          <p:cNvSpPr/>
          <p:nvPr/>
        </p:nvSpPr>
        <p:spPr>
          <a:xfrm>
            <a:off x="3725297" y="3865296"/>
            <a:ext cx="465161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Gas</a:t>
            </a:r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CFED2251-C7B3-CAEF-880B-75B4CB1ABE16}"/>
              </a:ext>
            </a:extLst>
          </p:cNvPr>
          <p:cNvCxnSpPr>
            <a:cxnSpLocks/>
          </p:cNvCxnSpPr>
          <p:nvPr/>
        </p:nvCxnSpPr>
        <p:spPr>
          <a:xfrm>
            <a:off x="2859387" y="2985368"/>
            <a:ext cx="0" cy="81772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6198E23F-F198-C8D9-27F6-DFB07EBE76C1}"/>
              </a:ext>
            </a:extLst>
          </p:cNvPr>
          <p:cNvCxnSpPr>
            <a:cxnSpLocks/>
          </p:cNvCxnSpPr>
          <p:nvPr/>
        </p:nvCxnSpPr>
        <p:spPr>
          <a:xfrm>
            <a:off x="3725297" y="2993042"/>
            <a:ext cx="0" cy="872254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49150C2A-44C7-9989-A8DC-A815BE15E9A3}"/>
              </a:ext>
            </a:extLst>
          </p:cNvPr>
          <p:cNvCxnSpPr>
            <a:cxnSpLocks/>
          </p:cNvCxnSpPr>
          <p:nvPr/>
        </p:nvCxnSpPr>
        <p:spPr>
          <a:xfrm flipV="1">
            <a:off x="2104085" y="3627987"/>
            <a:ext cx="0" cy="5073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22BCAE0C-883F-538B-B90B-7F24F7EDBA62}"/>
              </a:ext>
            </a:extLst>
          </p:cNvPr>
          <p:cNvCxnSpPr>
            <a:cxnSpLocks/>
          </p:cNvCxnSpPr>
          <p:nvPr/>
        </p:nvCxnSpPr>
        <p:spPr>
          <a:xfrm>
            <a:off x="2427937" y="2586643"/>
            <a:ext cx="339971" cy="1646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Rectángulo 54">
            <a:extLst>
              <a:ext uri="{FF2B5EF4-FFF2-40B4-BE49-F238E27FC236}">
                <a16:creationId xmlns:a16="http://schemas.microsoft.com/office/drawing/2014/main" id="{9B4BE156-EF50-A4C2-4CE3-7941D0F8775E}"/>
              </a:ext>
            </a:extLst>
          </p:cNvPr>
          <p:cNvSpPr/>
          <p:nvPr/>
        </p:nvSpPr>
        <p:spPr>
          <a:xfrm>
            <a:off x="1763383" y="2534829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038FEBBD-AE0A-27F1-1D9E-89B66BD5C8B7}"/>
              </a:ext>
            </a:extLst>
          </p:cNvPr>
          <p:cNvCxnSpPr>
            <a:cxnSpLocks/>
          </p:cNvCxnSpPr>
          <p:nvPr/>
        </p:nvCxnSpPr>
        <p:spPr>
          <a:xfrm>
            <a:off x="2427937" y="2399976"/>
            <a:ext cx="314878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51215B98-2A0A-BB85-C44A-13AD7D024A9A}"/>
              </a:ext>
            </a:extLst>
          </p:cNvPr>
          <p:cNvSpPr/>
          <p:nvPr/>
        </p:nvSpPr>
        <p:spPr>
          <a:xfrm>
            <a:off x="1757248" y="232948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CDB9C362-2264-8854-ABB6-6E473765B439}"/>
              </a:ext>
            </a:extLst>
          </p:cNvPr>
          <p:cNvCxnSpPr>
            <a:cxnSpLocks/>
          </p:cNvCxnSpPr>
          <p:nvPr/>
        </p:nvCxnSpPr>
        <p:spPr>
          <a:xfrm flipV="1">
            <a:off x="2859387" y="2378388"/>
            <a:ext cx="0" cy="606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713A4346-7D34-9448-0E9B-AF1134CE2AB2}"/>
              </a:ext>
            </a:extLst>
          </p:cNvPr>
          <p:cNvCxnSpPr>
            <a:cxnSpLocks/>
          </p:cNvCxnSpPr>
          <p:nvPr/>
        </p:nvCxnSpPr>
        <p:spPr>
          <a:xfrm>
            <a:off x="2381250" y="2781039"/>
            <a:ext cx="392971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A4AA67F1-1253-1CA0-68AA-75D67E99EEBE}"/>
              </a:ext>
            </a:extLst>
          </p:cNvPr>
          <p:cNvSpPr/>
          <p:nvPr/>
        </p:nvSpPr>
        <p:spPr>
          <a:xfrm>
            <a:off x="1756078" y="2694843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Baterías Eléctricas </a:t>
            </a:r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56011B45-5900-0D55-AD77-115DA2F867CA}"/>
              </a:ext>
            </a:extLst>
          </p:cNvPr>
          <p:cNvCxnSpPr>
            <a:cxnSpLocks/>
          </p:cNvCxnSpPr>
          <p:nvPr/>
        </p:nvCxnSpPr>
        <p:spPr>
          <a:xfrm flipV="1">
            <a:off x="1657350" y="3719112"/>
            <a:ext cx="397024" cy="436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ángulo 65">
            <a:extLst>
              <a:ext uri="{FF2B5EF4-FFF2-40B4-BE49-F238E27FC236}">
                <a16:creationId xmlns:a16="http://schemas.microsoft.com/office/drawing/2014/main" id="{B696E1AE-3A7B-061D-52AF-2E66CA569A75}"/>
              </a:ext>
            </a:extLst>
          </p:cNvPr>
          <p:cNvSpPr/>
          <p:nvPr/>
        </p:nvSpPr>
        <p:spPr>
          <a:xfrm>
            <a:off x="1014745" y="3633396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Embalses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F7953C7D-A159-14CE-C774-7C9E74264877}"/>
              </a:ext>
            </a:extLst>
          </p:cNvPr>
          <p:cNvCxnSpPr>
            <a:cxnSpLocks/>
          </p:cNvCxnSpPr>
          <p:nvPr/>
        </p:nvCxnSpPr>
        <p:spPr>
          <a:xfrm>
            <a:off x="4209388" y="3723472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0C96CFC9-EEE6-590F-F5E3-BB20FBF6897C}"/>
              </a:ext>
            </a:extLst>
          </p:cNvPr>
          <p:cNvCxnSpPr>
            <a:cxnSpLocks/>
          </p:cNvCxnSpPr>
          <p:nvPr/>
        </p:nvCxnSpPr>
        <p:spPr>
          <a:xfrm flipV="1">
            <a:off x="4190458" y="3627987"/>
            <a:ext cx="0" cy="54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Rectángulo 68">
            <a:extLst>
              <a:ext uri="{FF2B5EF4-FFF2-40B4-BE49-F238E27FC236}">
                <a16:creationId xmlns:a16="http://schemas.microsoft.com/office/drawing/2014/main" id="{C1FECD5F-27E3-D6A3-65F8-B05DB570F494}"/>
              </a:ext>
            </a:extLst>
          </p:cNvPr>
          <p:cNvSpPr/>
          <p:nvPr/>
        </p:nvSpPr>
        <p:spPr>
          <a:xfrm>
            <a:off x="4520589" y="3627987"/>
            <a:ext cx="865907" cy="175103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Importaciones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C8E9B503-72B4-9E7C-009A-AA77D3A117CB}"/>
              </a:ext>
            </a:extLst>
          </p:cNvPr>
          <p:cNvCxnSpPr>
            <a:cxnSpLocks/>
          </p:cNvCxnSpPr>
          <p:nvPr/>
        </p:nvCxnSpPr>
        <p:spPr>
          <a:xfrm flipV="1">
            <a:off x="5675213" y="2440874"/>
            <a:ext cx="0" cy="544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AE06E2EC-19C2-C259-4612-C10537274ED9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5773006" y="2666099"/>
            <a:ext cx="373262" cy="4392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2469E9A9-DD5A-AA61-DAD3-28A2E7C94540}"/>
              </a:ext>
            </a:extLst>
          </p:cNvPr>
          <p:cNvCxnSpPr>
            <a:cxnSpLocks/>
          </p:cNvCxnSpPr>
          <p:nvPr/>
        </p:nvCxnSpPr>
        <p:spPr>
          <a:xfrm>
            <a:off x="5765701" y="2474498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39C49547-79A6-49FE-92B2-FC380AB61D46}"/>
              </a:ext>
            </a:extLst>
          </p:cNvPr>
          <p:cNvCxnSpPr>
            <a:cxnSpLocks/>
          </p:cNvCxnSpPr>
          <p:nvPr/>
        </p:nvCxnSpPr>
        <p:spPr>
          <a:xfrm flipV="1">
            <a:off x="5766692" y="2859515"/>
            <a:ext cx="379576" cy="3726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tángulo 73">
            <a:extLst>
              <a:ext uri="{FF2B5EF4-FFF2-40B4-BE49-F238E27FC236}">
                <a16:creationId xmlns:a16="http://schemas.microsoft.com/office/drawing/2014/main" id="{0D5786E5-F300-A1E7-8479-A0F37D657830}"/>
              </a:ext>
            </a:extLst>
          </p:cNvPr>
          <p:cNvSpPr/>
          <p:nvPr/>
        </p:nvSpPr>
        <p:spPr>
          <a:xfrm>
            <a:off x="6146268" y="261040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146BE494-F97B-31D0-9E0F-17FA6FA5F602}"/>
              </a:ext>
            </a:extLst>
          </p:cNvPr>
          <p:cNvSpPr/>
          <p:nvPr/>
        </p:nvSpPr>
        <p:spPr>
          <a:xfrm>
            <a:off x="6108168" y="2407093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4560757D-F16B-F49E-C30A-32D0B9218903}"/>
              </a:ext>
            </a:extLst>
          </p:cNvPr>
          <p:cNvSpPr/>
          <p:nvPr/>
        </p:nvSpPr>
        <p:spPr>
          <a:xfrm>
            <a:off x="6146268" y="2813715"/>
            <a:ext cx="908578" cy="15963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 H2</a:t>
            </a:r>
          </a:p>
        </p:txBody>
      </p:sp>
      <p:sp>
        <p:nvSpPr>
          <p:cNvPr id="97" name="Rectángulo 96">
            <a:extLst>
              <a:ext uri="{FF2B5EF4-FFF2-40B4-BE49-F238E27FC236}">
                <a16:creationId xmlns:a16="http://schemas.microsoft.com/office/drawing/2014/main" id="{7AA43A33-125F-B47A-B8F3-2BFE9128B1EC}"/>
              </a:ext>
            </a:extLst>
          </p:cNvPr>
          <p:cNvSpPr/>
          <p:nvPr/>
        </p:nvSpPr>
        <p:spPr>
          <a:xfrm>
            <a:off x="3858227" y="2749202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D3C9D39A-6AE5-C8ED-8DEE-D449F4DE7A0B}"/>
              </a:ext>
            </a:extLst>
          </p:cNvPr>
          <p:cNvSpPr/>
          <p:nvPr/>
        </p:nvSpPr>
        <p:spPr>
          <a:xfrm>
            <a:off x="4826441" y="2171375"/>
            <a:ext cx="829649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66D36F04-7A4F-1020-DEC5-9907EDA670A9}"/>
              </a:ext>
            </a:extLst>
          </p:cNvPr>
          <p:cNvSpPr/>
          <p:nvPr/>
        </p:nvSpPr>
        <p:spPr>
          <a:xfrm>
            <a:off x="3456699" y="3344619"/>
            <a:ext cx="501178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CCGT</a:t>
            </a:r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225E7968-3E83-BDD9-F1A9-5E2CBA279FEC}"/>
              </a:ext>
            </a:extLst>
          </p:cNvPr>
          <p:cNvSpPr/>
          <p:nvPr/>
        </p:nvSpPr>
        <p:spPr>
          <a:xfrm>
            <a:off x="2296786" y="3322269"/>
            <a:ext cx="1016237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Pump/Turbina</a:t>
            </a:r>
          </a:p>
        </p:txBody>
      </p:sp>
    </p:spTree>
    <p:extLst>
      <p:ext uri="{BB962C8B-B14F-4D97-AF65-F5344CB8AC3E}">
        <p14:creationId xmlns:p14="http://schemas.microsoft.com/office/powerpoint/2010/main" val="3892726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8ED4A-C4ED-864D-CB53-A05033354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F34C830-63E8-80FC-E750-1F9E1063F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5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AB39869-F09F-9500-B96D-60E8316A3FC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8FB350D5-071F-F2B6-9C98-9268EEED2DF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Portugal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EBA23C19-263A-7C38-57C0-87D1CFCC00B4}"/>
              </a:ext>
            </a:extLst>
          </p:cNvPr>
          <p:cNvSpPr/>
          <p:nvPr/>
        </p:nvSpPr>
        <p:spPr>
          <a:xfrm>
            <a:off x="2859387" y="2756768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9A152C75-E42D-2F87-AB45-FD41AD7E9ACD}"/>
              </a:ext>
            </a:extLst>
          </p:cNvPr>
          <p:cNvSpPr/>
          <p:nvPr/>
        </p:nvSpPr>
        <p:spPr>
          <a:xfrm>
            <a:off x="4809303" y="2749202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F04B4F0D-43B9-3A86-BA67-9748E178531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5241266" y="1958361"/>
            <a:ext cx="992" cy="7908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30" name="Rectángulo 29">
            <a:extLst>
              <a:ext uri="{FF2B5EF4-FFF2-40B4-BE49-F238E27FC236}">
                <a16:creationId xmlns:a16="http://schemas.microsoft.com/office/drawing/2014/main" id="{C417DF9C-6493-FB0A-F22F-13A08673EA5D}"/>
              </a:ext>
            </a:extLst>
          </p:cNvPr>
          <p:cNvSpPr/>
          <p:nvPr/>
        </p:nvSpPr>
        <p:spPr>
          <a:xfrm>
            <a:off x="4716831" y="1643809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31E1A65F-E55C-BAC6-44BB-BE01424DE05B}"/>
              </a:ext>
            </a:extLst>
          </p:cNvPr>
          <p:cNvCxnSpPr>
            <a:cxnSpLocks/>
          </p:cNvCxnSpPr>
          <p:nvPr/>
        </p:nvCxnSpPr>
        <p:spPr>
          <a:xfrm flipV="1">
            <a:off x="5765701" y="1339850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E1F94544-2A13-751A-5651-0F31CF7CBF5F}"/>
              </a:ext>
            </a:extLst>
          </p:cNvPr>
          <p:cNvCxnSpPr>
            <a:cxnSpLocks/>
          </p:cNvCxnSpPr>
          <p:nvPr/>
        </p:nvCxnSpPr>
        <p:spPr>
          <a:xfrm>
            <a:off x="5275596" y="144451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2" name="Rectángulo 41">
            <a:extLst>
              <a:ext uri="{FF2B5EF4-FFF2-40B4-BE49-F238E27FC236}">
                <a16:creationId xmlns:a16="http://schemas.microsoft.com/office/drawing/2014/main" id="{3E173CBD-D286-3B57-C0E4-7FECEE619032}"/>
              </a:ext>
            </a:extLst>
          </p:cNvPr>
          <p:cNvSpPr/>
          <p:nvPr/>
        </p:nvSpPr>
        <p:spPr>
          <a:xfrm>
            <a:off x="4716831" y="1257933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B5C26F3C-DED5-0A5D-4988-98436BA13955}"/>
              </a:ext>
            </a:extLst>
          </p:cNvPr>
          <p:cNvSpPr/>
          <p:nvPr/>
        </p:nvSpPr>
        <p:spPr>
          <a:xfrm>
            <a:off x="2104085" y="3865296"/>
            <a:ext cx="962583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Hidroeléctrica</a:t>
            </a:r>
          </a:p>
        </p:txBody>
      </p:sp>
      <p:sp>
        <p:nvSpPr>
          <p:cNvPr id="48" name="Rectángulo 47">
            <a:extLst>
              <a:ext uri="{FF2B5EF4-FFF2-40B4-BE49-F238E27FC236}">
                <a16:creationId xmlns:a16="http://schemas.microsoft.com/office/drawing/2014/main" id="{7A595C5F-E3F7-547A-6E81-2479325E447D}"/>
              </a:ext>
            </a:extLst>
          </p:cNvPr>
          <p:cNvSpPr/>
          <p:nvPr/>
        </p:nvSpPr>
        <p:spPr>
          <a:xfrm>
            <a:off x="3725297" y="3865296"/>
            <a:ext cx="465161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Gas</a:t>
            </a:r>
          </a:p>
        </p:txBody>
      </p: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BCD4F442-F523-D4C9-DA39-F25B33E6325B}"/>
              </a:ext>
            </a:extLst>
          </p:cNvPr>
          <p:cNvCxnSpPr>
            <a:cxnSpLocks/>
          </p:cNvCxnSpPr>
          <p:nvPr/>
        </p:nvCxnSpPr>
        <p:spPr>
          <a:xfrm>
            <a:off x="2859387" y="2985368"/>
            <a:ext cx="0" cy="81772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0" name="Conector recto de flecha 49">
            <a:extLst>
              <a:ext uri="{FF2B5EF4-FFF2-40B4-BE49-F238E27FC236}">
                <a16:creationId xmlns:a16="http://schemas.microsoft.com/office/drawing/2014/main" id="{8F04B3A5-CCEB-6EB6-44B8-39A29F86C4F3}"/>
              </a:ext>
            </a:extLst>
          </p:cNvPr>
          <p:cNvCxnSpPr>
            <a:cxnSpLocks/>
          </p:cNvCxnSpPr>
          <p:nvPr/>
        </p:nvCxnSpPr>
        <p:spPr>
          <a:xfrm>
            <a:off x="3725297" y="2993042"/>
            <a:ext cx="0" cy="872254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52" name="Conector recto 51">
            <a:extLst>
              <a:ext uri="{FF2B5EF4-FFF2-40B4-BE49-F238E27FC236}">
                <a16:creationId xmlns:a16="http://schemas.microsoft.com/office/drawing/2014/main" id="{1EC31ECA-657F-C588-B186-A388159C4AE1}"/>
              </a:ext>
            </a:extLst>
          </p:cNvPr>
          <p:cNvCxnSpPr>
            <a:cxnSpLocks/>
          </p:cNvCxnSpPr>
          <p:nvPr/>
        </p:nvCxnSpPr>
        <p:spPr>
          <a:xfrm flipV="1">
            <a:off x="2104085" y="3627987"/>
            <a:ext cx="0" cy="50738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Conector recto de flecha 53">
            <a:extLst>
              <a:ext uri="{FF2B5EF4-FFF2-40B4-BE49-F238E27FC236}">
                <a16:creationId xmlns:a16="http://schemas.microsoft.com/office/drawing/2014/main" id="{B63AC5EC-322E-59EE-EB35-FEC8E18E9998}"/>
              </a:ext>
            </a:extLst>
          </p:cNvPr>
          <p:cNvCxnSpPr>
            <a:cxnSpLocks/>
          </p:cNvCxnSpPr>
          <p:nvPr/>
        </p:nvCxnSpPr>
        <p:spPr>
          <a:xfrm>
            <a:off x="2427937" y="2586643"/>
            <a:ext cx="339971" cy="1646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5" name="Rectángulo 54">
            <a:extLst>
              <a:ext uri="{FF2B5EF4-FFF2-40B4-BE49-F238E27FC236}">
                <a16:creationId xmlns:a16="http://schemas.microsoft.com/office/drawing/2014/main" id="{0219387B-7AEB-5614-A36B-12A5791B2256}"/>
              </a:ext>
            </a:extLst>
          </p:cNvPr>
          <p:cNvSpPr/>
          <p:nvPr/>
        </p:nvSpPr>
        <p:spPr>
          <a:xfrm>
            <a:off x="1763383" y="2534829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  <p:cxnSp>
        <p:nvCxnSpPr>
          <p:cNvPr id="56" name="Conector recto de flecha 55">
            <a:extLst>
              <a:ext uri="{FF2B5EF4-FFF2-40B4-BE49-F238E27FC236}">
                <a16:creationId xmlns:a16="http://schemas.microsoft.com/office/drawing/2014/main" id="{314A4A85-712A-5C12-D1B7-02276B61DF44}"/>
              </a:ext>
            </a:extLst>
          </p:cNvPr>
          <p:cNvCxnSpPr>
            <a:cxnSpLocks/>
          </p:cNvCxnSpPr>
          <p:nvPr/>
        </p:nvCxnSpPr>
        <p:spPr>
          <a:xfrm>
            <a:off x="2427937" y="2399976"/>
            <a:ext cx="314878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Rectángulo 56">
            <a:extLst>
              <a:ext uri="{FF2B5EF4-FFF2-40B4-BE49-F238E27FC236}">
                <a16:creationId xmlns:a16="http://schemas.microsoft.com/office/drawing/2014/main" id="{E715B564-A3FA-40D2-5129-A363A2325E92}"/>
              </a:ext>
            </a:extLst>
          </p:cNvPr>
          <p:cNvSpPr/>
          <p:nvPr/>
        </p:nvSpPr>
        <p:spPr>
          <a:xfrm>
            <a:off x="1757248" y="232948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58" name="Conector recto 57">
            <a:extLst>
              <a:ext uri="{FF2B5EF4-FFF2-40B4-BE49-F238E27FC236}">
                <a16:creationId xmlns:a16="http://schemas.microsoft.com/office/drawing/2014/main" id="{A4DDE8AE-3443-6DA0-9E57-4E8FED69C823}"/>
              </a:ext>
            </a:extLst>
          </p:cNvPr>
          <p:cNvCxnSpPr>
            <a:cxnSpLocks/>
          </p:cNvCxnSpPr>
          <p:nvPr/>
        </p:nvCxnSpPr>
        <p:spPr>
          <a:xfrm flipV="1">
            <a:off x="2859387" y="2378388"/>
            <a:ext cx="0" cy="6069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Conector recto de flecha 59">
            <a:extLst>
              <a:ext uri="{FF2B5EF4-FFF2-40B4-BE49-F238E27FC236}">
                <a16:creationId xmlns:a16="http://schemas.microsoft.com/office/drawing/2014/main" id="{107456F7-6F94-715B-288C-7896C9216DBF}"/>
              </a:ext>
            </a:extLst>
          </p:cNvPr>
          <p:cNvCxnSpPr>
            <a:cxnSpLocks/>
          </p:cNvCxnSpPr>
          <p:nvPr/>
        </p:nvCxnSpPr>
        <p:spPr>
          <a:xfrm>
            <a:off x="2381250" y="2781039"/>
            <a:ext cx="392971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Rectángulo 63">
            <a:extLst>
              <a:ext uri="{FF2B5EF4-FFF2-40B4-BE49-F238E27FC236}">
                <a16:creationId xmlns:a16="http://schemas.microsoft.com/office/drawing/2014/main" id="{85D47128-EE13-666D-DA04-223FBB9F77EF}"/>
              </a:ext>
            </a:extLst>
          </p:cNvPr>
          <p:cNvSpPr/>
          <p:nvPr/>
        </p:nvSpPr>
        <p:spPr>
          <a:xfrm>
            <a:off x="1756078" y="2694843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Baterías Eléctricas </a:t>
            </a:r>
          </a:p>
        </p:txBody>
      </p:sp>
      <p:cxnSp>
        <p:nvCxnSpPr>
          <p:cNvPr id="65" name="Conector recto de flecha 64">
            <a:extLst>
              <a:ext uri="{FF2B5EF4-FFF2-40B4-BE49-F238E27FC236}">
                <a16:creationId xmlns:a16="http://schemas.microsoft.com/office/drawing/2014/main" id="{7F095D54-63E7-2EB5-6760-898961F3F896}"/>
              </a:ext>
            </a:extLst>
          </p:cNvPr>
          <p:cNvCxnSpPr>
            <a:cxnSpLocks/>
          </p:cNvCxnSpPr>
          <p:nvPr/>
        </p:nvCxnSpPr>
        <p:spPr>
          <a:xfrm flipV="1">
            <a:off x="1657350" y="3719112"/>
            <a:ext cx="397024" cy="436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Rectángulo 65">
            <a:extLst>
              <a:ext uri="{FF2B5EF4-FFF2-40B4-BE49-F238E27FC236}">
                <a16:creationId xmlns:a16="http://schemas.microsoft.com/office/drawing/2014/main" id="{F5AB9641-F9F1-8DF6-71F6-7B44FB197F0F}"/>
              </a:ext>
            </a:extLst>
          </p:cNvPr>
          <p:cNvSpPr/>
          <p:nvPr/>
        </p:nvSpPr>
        <p:spPr>
          <a:xfrm>
            <a:off x="1014745" y="3633396"/>
            <a:ext cx="624950" cy="1801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7AAE"/>
                </a:solidFill>
              </a:rPr>
              <a:t>Embalses</a:t>
            </a:r>
          </a:p>
        </p:txBody>
      </p:sp>
      <p:cxnSp>
        <p:nvCxnSpPr>
          <p:cNvPr id="67" name="Conector recto de flecha 66">
            <a:extLst>
              <a:ext uri="{FF2B5EF4-FFF2-40B4-BE49-F238E27FC236}">
                <a16:creationId xmlns:a16="http://schemas.microsoft.com/office/drawing/2014/main" id="{5B2EC329-A5FF-D4E8-A1EA-DC67D1F22FCE}"/>
              </a:ext>
            </a:extLst>
          </p:cNvPr>
          <p:cNvCxnSpPr>
            <a:cxnSpLocks/>
          </p:cNvCxnSpPr>
          <p:nvPr/>
        </p:nvCxnSpPr>
        <p:spPr>
          <a:xfrm>
            <a:off x="4209388" y="3723472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Conector recto 67">
            <a:extLst>
              <a:ext uri="{FF2B5EF4-FFF2-40B4-BE49-F238E27FC236}">
                <a16:creationId xmlns:a16="http://schemas.microsoft.com/office/drawing/2014/main" id="{FC6BFBE1-0DD2-231F-EC7A-E0DC923FDE8B}"/>
              </a:ext>
            </a:extLst>
          </p:cNvPr>
          <p:cNvCxnSpPr>
            <a:cxnSpLocks/>
          </p:cNvCxnSpPr>
          <p:nvPr/>
        </p:nvCxnSpPr>
        <p:spPr>
          <a:xfrm flipV="1">
            <a:off x="4190458" y="3627987"/>
            <a:ext cx="0" cy="5407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Rectángulo 68">
            <a:extLst>
              <a:ext uri="{FF2B5EF4-FFF2-40B4-BE49-F238E27FC236}">
                <a16:creationId xmlns:a16="http://schemas.microsoft.com/office/drawing/2014/main" id="{40FB51D9-AFA9-8B24-804C-A6870EA7425C}"/>
              </a:ext>
            </a:extLst>
          </p:cNvPr>
          <p:cNvSpPr/>
          <p:nvPr/>
        </p:nvSpPr>
        <p:spPr>
          <a:xfrm>
            <a:off x="4520589" y="3627987"/>
            <a:ext cx="865907" cy="175103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Importaciones</a:t>
            </a:r>
          </a:p>
        </p:txBody>
      </p:sp>
      <p:cxnSp>
        <p:nvCxnSpPr>
          <p:cNvPr id="70" name="Conector recto 69">
            <a:extLst>
              <a:ext uri="{FF2B5EF4-FFF2-40B4-BE49-F238E27FC236}">
                <a16:creationId xmlns:a16="http://schemas.microsoft.com/office/drawing/2014/main" id="{57D4F2B7-39F1-70A6-ABFA-E9F4A4019DF4}"/>
              </a:ext>
            </a:extLst>
          </p:cNvPr>
          <p:cNvCxnSpPr>
            <a:cxnSpLocks/>
          </p:cNvCxnSpPr>
          <p:nvPr/>
        </p:nvCxnSpPr>
        <p:spPr>
          <a:xfrm flipV="1">
            <a:off x="5675213" y="2440874"/>
            <a:ext cx="0" cy="544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Conector recto de flecha 70">
            <a:extLst>
              <a:ext uri="{FF2B5EF4-FFF2-40B4-BE49-F238E27FC236}">
                <a16:creationId xmlns:a16="http://schemas.microsoft.com/office/drawing/2014/main" id="{C60CC8FE-35C9-E8A6-C92A-CE90A15E647A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5773006" y="2666099"/>
            <a:ext cx="373262" cy="4392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AB6A9231-5AD7-0E14-AA25-9A37782D8161}"/>
              </a:ext>
            </a:extLst>
          </p:cNvPr>
          <p:cNvCxnSpPr>
            <a:cxnSpLocks/>
          </p:cNvCxnSpPr>
          <p:nvPr/>
        </p:nvCxnSpPr>
        <p:spPr>
          <a:xfrm>
            <a:off x="5765701" y="2474498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Conector recto de flecha 72">
            <a:extLst>
              <a:ext uri="{FF2B5EF4-FFF2-40B4-BE49-F238E27FC236}">
                <a16:creationId xmlns:a16="http://schemas.microsoft.com/office/drawing/2014/main" id="{567AD118-533C-8B07-EF6F-33DBEE0C4DA3}"/>
              </a:ext>
            </a:extLst>
          </p:cNvPr>
          <p:cNvCxnSpPr>
            <a:cxnSpLocks/>
          </p:cNvCxnSpPr>
          <p:nvPr/>
        </p:nvCxnSpPr>
        <p:spPr>
          <a:xfrm flipV="1">
            <a:off x="5766692" y="2859515"/>
            <a:ext cx="379576" cy="3726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tángulo 73">
            <a:extLst>
              <a:ext uri="{FF2B5EF4-FFF2-40B4-BE49-F238E27FC236}">
                <a16:creationId xmlns:a16="http://schemas.microsoft.com/office/drawing/2014/main" id="{FB924211-5E81-32FC-4F9F-55D29B215C28}"/>
              </a:ext>
            </a:extLst>
          </p:cNvPr>
          <p:cNvSpPr/>
          <p:nvPr/>
        </p:nvSpPr>
        <p:spPr>
          <a:xfrm>
            <a:off x="6146268" y="261040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5" name="Rectángulo 74">
            <a:extLst>
              <a:ext uri="{FF2B5EF4-FFF2-40B4-BE49-F238E27FC236}">
                <a16:creationId xmlns:a16="http://schemas.microsoft.com/office/drawing/2014/main" id="{AD518CA5-D0C1-5E99-635C-39F2A2B7EE35}"/>
              </a:ext>
            </a:extLst>
          </p:cNvPr>
          <p:cNvSpPr/>
          <p:nvPr/>
        </p:nvSpPr>
        <p:spPr>
          <a:xfrm>
            <a:off x="6108168" y="2407093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sp>
        <p:nvSpPr>
          <p:cNvPr id="76" name="Rectángulo 75">
            <a:extLst>
              <a:ext uri="{FF2B5EF4-FFF2-40B4-BE49-F238E27FC236}">
                <a16:creationId xmlns:a16="http://schemas.microsoft.com/office/drawing/2014/main" id="{CCEC08C4-BC0C-93DA-C19A-A1F711E12F7C}"/>
              </a:ext>
            </a:extLst>
          </p:cNvPr>
          <p:cNvSpPr/>
          <p:nvPr/>
        </p:nvSpPr>
        <p:spPr>
          <a:xfrm>
            <a:off x="6146268" y="2813715"/>
            <a:ext cx="908578" cy="15963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 H2</a:t>
            </a:r>
          </a:p>
        </p:txBody>
      </p:sp>
      <p:sp>
        <p:nvSpPr>
          <p:cNvPr id="98" name="Rectángulo 97">
            <a:extLst>
              <a:ext uri="{FF2B5EF4-FFF2-40B4-BE49-F238E27FC236}">
                <a16:creationId xmlns:a16="http://schemas.microsoft.com/office/drawing/2014/main" id="{226F9620-6B96-8998-7488-D59403011042}"/>
              </a:ext>
            </a:extLst>
          </p:cNvPr>
          <p:cNvSpPr/>
          <p:nvPr/>
        </p:nvSpPr>
        <p:spPr>
          <a:xfrm>
            <a:off x="4826441" y="2171375"/>
            <a:ext cx="829649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sp>
        <p:nvSpPr>
          <p:cNvPr id="99" name="Rectángulo 98">
            <a:extLst>
              <a:ext uri="{FF2B5EF4-FFF2-40B4-BE49-F238E27FC236}">
                <a16:creationId xmlns:a16="http://schemas.microsoft.com/office/drawing/2014/main" id="{F5CC796C-5DBC-D9CD-C29E-2FD1922690C0}"/>
              </a:ext>
            </a:extLst>
          </p:cNvPr>
          <p:cNvSpPr/>
          <p:nvPr/>
        </p:nvSpPr>
        <p:spPr>
          <a:xfrm>
            <a:off x="3456699" y="3344619"/>
            <a:ext cx="501178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CCGT</a:t>
            </a:r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BFF90586-2D36-9248-2214-90EED3416B97}"/>
              </a:ext>
            </a:extLst>
          </p:cNvPr>
          <p:cNvSpPr/>
          <p:nvPr/>
        </p:nvSpPr>
        <p:spPr>
          <a:xfrm>
            <a:off x="2296786" y="3322269"/>
            <a:ext cx="1016237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800" i="1" u="sng" dirty="0">
                <a:solidFill>
                  <a:srgbClr val="63666A"/>
                </a:solidFill>
              </a:rPr>
              <a:t>Pump/Turbina</a:t>
            </a:r>
          </a:p>
        </p:txBody>
      </p:sp>
    </p:spTree>
    <p:extLst>
      <p:ext uri="{BB962C8B-B14F-4D97-AF65-F5344CB8AC3E}">
        <p14:creationId xmlns:p14="http://schemas.microsoft.com/office/powerpoint/2010/main" val="1753160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1594-2AA3-C024-A211-10E0B2E7A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241914C7-948A-00A5-EA0A-33FCE55451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6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64E2508-28C0-0C89-5686-B13DF259C74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4F270892-3746-2AE1-5CFC-1B96F8C63D0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Francia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68B5116-BBF3-7CD5-C849-C6F3385F8B98}"/>
              </a:ext>
            </a:extLst>
          </p:cNvPr>
          <p:cNvSpPr/>
          <p:nvPr/>
        </p:nvSpPr>
        <p:spPr>
          <a:xfrm>
            <a:off x="2345450" y="1879160"/>
            <a:ext cx="865910" cy="24015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 FR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17ADF274-7699-6B3A-6850-C500B90F9FDA}"/>
              </a:ext>
            </a:extLst>
          </p:cNvPr>
          <p:cNvSpPr/>
          <p:nvPr/>
        </p:nvSpPr>
        <p:spPr>
          <a:xfrm>
            <a:off x="4628933" y="1386283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133E2164-378E-F912-A559-1C6C7316BC8A}"/>
              </a:ext>
            </a:extLst>
          </p:cNvPr>
          <p:cNvSpPr/>
          <p:nvPr/>
        </p:nvSpPr>
        <p:spPr>
          <a:xfrm>
            <a:off x="3501677" y="278191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FRSW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E2CB0B7-5BB3-CFF3-9C0B-82E2AF304F18}"/>
              </a:ext>
            </a:extLst>
          </p:cNvPr>
          <p:cNvSpPr/>
          <p:nvPr/>
        </p:nvSpPr>
        <p:spPr>
          <a:xfrm>
            <a:off x="5178926" y="278191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  <a:p>
            <a:pPr algn="ctr"/>
            <a:r>
              <a:rPr lang="es-ES" sz="800" dirty="0"/>
              <a:t>FRS</a:t>
            </a:r>
          </a:p>
        </p:txBody>
      </p:sp>
      <p:cxnSp>
        <p:nvCxnSpPr>
          <p:cNvPr id="10" name="Conector recto de flecha 9">
            <a:extLst>
              <a:ext uri="{FF2B5EF4-FFF2-40B4-BE49-F238E27FC236}">
                <a16:creationId xmlns:a16="http://schemas.microsoft.com/office/drawing/2014/main" id="{D964CFBB-A669-4F1E-C106-706ECE2BB35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4367587" y="2896217"/>
            <a:ext cx="811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Conector recto de flecha 11">
            <a:extLst>
              <a:ext uri="{FF2B5EF4-FFF2-40B4-BE49-F238E27FC236}">
                <a16:creationId xmlns:a16="http://schemas.microsoft.com/office/drawing/2014/main" id="{BDD2A359-63A7-AE47-756A-B73C94EC950E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934632" y="3010517"/>
            <a:ext cx="851228" cy="674092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ángulo 12">
            <a:extLst>
              <a:ext uri="{FF2B5EF4-FFF2-40B4-BE49-F238E27FC236}">
                <a16:creationId xmlns:a16="http://schemas.microsoft.com/office/drawing/2014/main" id="{E487F39C-A294-E0E6-962F-D53BFEDFB70C}"/>
              </a:ext>
            </a:extLst>
          </p:cNvPr>
          <p:cNvSpPr/>
          <p:nvPr/>
        </p:nvSpPr>
        <p:spPr>
          <a:xfrm>
            <a:off x="4628933" y="3684609"/>
            <a:ext cx="865910" cy="286500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M. Hidrógeno</a:t>
            </a:r>
          </a:p>
          <a:p>
            <a:pPr algn="ctr"/>
            <a:r>
              <a:rPr lang="es-ES" sz="800" dirty="0">
                <a:solidFill>
                  <a:srgbClr val="63666A"/>
                </a:solidFill>
              </a:rPr>
              <a:t>ES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0A708B-6185-F599-2C8F-614B02D5FAA0}"/>
              </a:ext>
            </a:extLst>
          </p:cNvPr>
          <p:cNvSpPr/>
          <p:nvPr/>
        </p:nvSpPr>
        <p:spPr>
          <a:xfrm>
            <a:off x="2367698" y="3684609"/>
            <a:ext cx="865910" cy="286500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M. Eléctrico</a:t>
            </a:r>
          </a:p>
          <a:p>
            <a:pPr algn="ctr"/>
            <a:r>
              <a:rPr lang="es-ES" sz="800" dirty="0">
                <a:solidFill>
                  <a:srgbClr val="63666A"/>
                </a:solidFill>
              </a:rPr>
              <a:t>ES</a:t>
            </a:r>
          </a:p>
        </p:txBody>
      </p:sp>
      <p:cxnSp>
        <p:nvCxnSpPr>
          <p:cNvPr id="15" name="Conector recto de flecha 14">
            <a:extLst>
              <a:ext uri="{FF2B5EF4-FFF2-40B4-BE49-F238E27FC236}">
                <a16:creationId xmlns:a16="http://schemas.microsoft.com/office/drawing/2014/main" id="{7A5FA9F6-EC66-76A6-75C9-7CE7B042D5DB}"/>
              </a:ext>
            </a:extLst>
          </p:cNvPr>
          <p:cNvCxnSpPr>
            <a:cxnSpLocks/>
            <a:stCxn id="14" idx="0"/>
            <a:endCxn id="3" idx="2"/>
          </p:cNvCxnSpPr>
          <p:nvPr/>
        </p:nvCxnSpPr>
        <p:spPr>
          <a:xfrm flipH="1" flipV="1">
            <a:off x="2778405" y="2119310"/>
            <a:ext cx="22248" cy="1565299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CC7ECDC1-3E3B-80E3-7688-F97DBE586C60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5061888" y="3010517"/>
            <a:ext cx="549993" cy="674092"/>
          </a:xfrm>
          <a:prstGeom prst="straightConnector1">
            <a:avLst/>
          </a:prstGeom>
          <a:ln>
            <a:solidFill>
              <a:srgbClr val="63666A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ector recto de flecha 16">
            <a:extLst>
              <a:ext uri="{FF2B5EF4-FFF2-40B4-BE49-F238E27FC236}">
                <a16:creationId xmlns:a16="http://schemas.microsoft.com/office/drawing/2014/main" id="{790EE921-89B8-1840-1FB1-DE6835D1711A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>
            <a:off x="5061888" y="1614883"/>
            <a:ext cx="549993" cy="116703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recto de flecha 17">
            <a:extLst>
              <a:ext uri="{FF2B5EF4-FFF2-40B4-BE49-F238E27FC236}">
                <a16:creationId xmlns:a16="http://schemas.microsoft.com/office/drawing/2014/main" id="{3D9CD97D-D39C-75D6-6045-607D68842FF5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3233608" y="3827859"/>
            <a:ext cx="1395325" cy="0"/>
          </a:xfrm>
          <a:prstGeom prst="straightConnector1">
            <a:avLst/>
          </a:prstGeom>
          <a:ln>
            <a:solidFill>
              <a:srgbClr val="63666A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6CDA6B76-07F6-FCB6-102F-6B3EC2EFA6BB}"/>
              </a:ext>
            </a:extLst>
          </p:cNvPr>
          <p:cNvCxnSpPr>
            <a:cxnSpLocks/>
          </p:cNvCxnSpPr>
          <p:nvPr/>
        </p:nvCxnSpPr>
        <p:spPr>
          <a:xfrm flipH="1">
            <a:off x="3537722" y="2640208"/>
            <a:ext cx="490105" cy="0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ángulo 19">
            <a:extLst>
              <a:ext uri="{FF2B5EF4-FFF2-40B4-BE49-F238E27FC236}">
                <a16:creationId xmlns:a16="http://schemas.microsoft.com/office/drawing/2014/main" id="{6AA41A01-2FDE-2C47-7722-B42B430BDC15}"/>
              </a:ext>
            </a:extLst>
          </p:cNvPr>
          <p:cNvSpPr/>
          <p:nvPr/>
        </p:nvSpPr>
        <p:spPr>
          <a:xfrm>
            <a:off x="4027827" y="2555509"/>
            <a:ext cx="1005405" cy="146330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7AAE"/>
                </a:solidFill>
              </a:rPr>
              <a:t>Almacenamientos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  <a:r>
              <a:rPr lang="es-ES" sz="600" i="1" dirty="0">
                <a:solidFill>
                  <a:srgbClr val="007AAE"/>
                </a:solidFill>
              </a:rPr>
              <a:t>H2</a:t>
            </a:r>
          </a:p>
        </p:txBody>
      </p: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2788C7AA-F564-89A2-5503-22B0D29CD676}"/>
              </a:ext>
            </a:extLst>
          </p:cNvPr>
          <p:cNvCxnSpPr>
            <a:cxnSpLocks/>
          </p:cNvCxnSpPr>
          <p:nvPr/>
        </p:nvCxnSpPr>
        <p:spPr>
          <a:xfrm>
            <a:off x="5951010" y="2443787"/>
            <a:ext cx="0" cy="335938"/>
          </a:xfrm>
          <a:prstGeom prst="straightConnector1">
            <a:avLst/>
          </a:prstGeom>
          <a:ln w="6350">
            <a:solidFill>
              <a:srgbClr val="007AAE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9A519CB-C604-E52C-DE39-061614628468}"/>
              </a:ext>
            </a:extLst>
          </p:cNvPr>
          <p:cNvSpPr/>
          <p:nvPr/>
        </p:nvSpPr>
        <p:spPr>
          <a:xfrm>
            <a:off x="5492296" y="2190844"/>
            <a:ext cx="917427" cy="221454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600" i="1" dirty="0">
                <a:solidFill>
                  <a:srgbClr val="007AAE"/>
                </a:solidFill>
              </a:rPr>
              <a:t>Almacenamientos Hidrógeno</a:t>
            </a:r>
          </a:p>
        </p:txBody>
      </p:sp>
      <p:cxnSp>
        <p:nvCxnSpPr>
          <p:cNvPr id="24" name="Conector recto 23">
            <a:extLst>
              <a:ext uri="{FF2B5EF4-FFF2-40B4-BE49-F238E27FC236}">
                <a16:creationId xmlns:a16="http://schemas.microsoft.com/office/drawing/2014/main" id="{49D2560B-BC41-59AD-132D-5CCCECA1C024}"/>
              </a:ext>
            </a:extLst>
          </p:cNvPr>
          <p:cNvCxnSpPr>
            <a:cxnSpLocks/>
          </p:cNvCxnSpPr>
          <p:nvPr/>
        </p:nvCxnSpPr>
        <p:spPr>
          <a:xfrm flipV="1">
            <a:off x="3210852" y="1488169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ector recto de flecha 24">
            <a:extLst>
              <a:ext uri="{FF2B5EF4-FFF2-40B4-BE49-F238E27FC236}">
                <a16:creationId xmlns:a16="http://schemas.microsoft.com/office/drawing/2014/main" id="{4F91D7C4-AD37-D0D2-8814-92E2159F5561}"/>
              </a:ext>
            </a:extLst>
          </p:cNvPr>
          <p:cNvCxnSpPr>
            <a:cxnSpLocks/>
          </p:cNvCxnSpPr>
          <p:nvPr/>
        </p:nvCxnSpPr>
        <p:spPr>
          <a:xfrm>
            <a:off x="2669297" y="1783125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8AFF4BF-A024-1565-C001-F0B9A800F55E}"/>
              </a:ext>
            </a:extLst>
          </p:cNvPr>
          <p:cNvSpPr/>
          <p:nvPr/>
        </p:nvSpPr>
        <p:spPr>
          <a:xfrm>
            <a:off x="2060493" y="1714355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27" name="Conector recto de flecha 26">
            <a:extLst>
              <a:ext uri="{FF2B5EF4-FFF2-40B4-BE49-F238E27FC236}">
                <a16:creationId xmlns:a16="http://schemas.microsoft.com/office/drawing/2014/main" id="{347DE3AF-FFC2-B98F-BEA7-3E3384452853}"/>
              </a:ext>
            </a:extLst>
          </p:cNvPr>
          <p:cNvCxnSpPr>
            <a:cxnSpLocks/>
          </p:cNvCxnSpPr>
          <p:nvPr/>
        </p:nvCxnSpPr>
        <p:spPr>
          <a:xfrm>
            <a:off x="2685443" y="1625963"/>
            <a:ext cx="490105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tángulo 27">
            <a:extLst>
              <a:ext uri="{FF2B5EF4-FFF2-40B4-BE49-F238E27FC236}">
                <a16:creationId xmlns:a16="http://schemas.microsoft.com/office/drawing/2014/main" id="{4BBAFB33-32E1-28F2-BA6B-F94C60441A44}"/>
              </a:ext>
            </a:extLst>
          </p:cNvPr>
          <p:cNvSpPr/>
          <p:nvPr/>
        </p:nvSpPr>
        <p:spPr>
          <a:xfrm>
            <a:off x="2055223" y="1575702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29" name="Conector recto 28">
            <a:extLst>
              <a:ext uri="{FF2B5EF4-FFF2-40B4-BE49-F238E27FC236}">
                <a16:creationId xmlns:a16="http://schemas.microsoft.com/office/drawing/2014/main" id="{22CEE112-8992-BD9B-66C2-1430A148A511}"/>
              </a:ext>
            </a:extLst>
          </p:cNvPr>
          <p:cNvCxnSpPr>
            <a:cxnSpLocks/>
          </p:cNvCxnSpPr>
          <p:nvPr/>
        </p:nvCxnSpPr>
        <p:spPr>
          <a:xfrm flipV="1">
            <a:off x="5493507" y="972551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Conector recto de flecha 32">
            <a:extLst>
              <a:ext uri="{FF2B5EF4-FFF2-40B4-BE49-F238E27FC236}">
                <a16:creationId xmlns:a16="http://schemas.microsoft.com/office/drawing/2014/main" id="{CA37F382-8C1C-D7AF-0E4B-4B6CC4995D97}"/>
              </a:ext>
            </a:extLst>
          </p:cNvPr>
          <p:cNvCxnSpPr>
            <a:cxnSpLocks/>
          </p:cNvCxnSpPr>
          <p:nvPr/>
        </p:nvCxnSpPr>
        <p:spPr>
          <a:xfrm>
            <a:off x="4951952" y="1267507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Rectángulo 33">
            <a:extLst>
              <a:ext uri="{FF2B5EF4-FFF2-40B4-BE49-F238E27FC236}">
                <a16:creationId xmlns:a16="http://schemas.microsoft.com/office/drawing/2014/main" id="{9795905B-D57F-079F-9099-811F7C07759D}"/>
              </a:ext>
            </a:extLst>
          </p:cNvPr>
          <p:cNvSpPr/>
          <p:nvPr/>
        </p:nvSpPr>
        <p:spPr>
          <a:xfrm>
            <a:off x="4343148" y="1198737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1DED6DD3-B24C-AEAC-0C1B-1229E0CD4D22}"/>
              </a:ext>
            </a:extLst>
          </p:cNvPr>
          <p:cNvCxnSpPr>
            <a:cxnSpLocks/>
          </p:cNvCxnSpPr>
          <p:nvPr/>
        </p:nvCxnSpPr>
        <p:spPr>
          <a:xfrm>
            <a:off x="4968098" y="1110345"/>
            <a:ext cx="490105" cy="0"/>
          </a:xfrm>
          <a:prstGeom prst="straightConnector1">
            <a:avLst/>
          </a:prstGeom>
          <a:ln w="6350">
            <a:solidFill>
              <a:srgbClr val="C0000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ángulo 35">
            <a:extLst>
              <a:ext uri="{FF2B5EF4-FFF2-40B4-BE49-F238E27FC236}">
                <a16:creationId xmlns:a16="http://schemas.microsoft.com/office/drawing/2014/main" id="{FBD2BB58-9DB1-1BEB-74BB-7267D66BC26E}"/>
              </a:ext>
            </a:extLst>
          </p:cNvPr>
          <p:cNvSpPr/>
          <p:nvPr/>
        </p:nvSpPr>
        <p:spPr>
          <a:xfrm>
            <a:off x="4337878" y="1060084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C00000"/>
                </a:solidFill>
              </a:rPr>
              <a:t>Demanda</a:t>
            </a:r>
            <a:r>
              <a:rPr lang="es-ES" sz="600" i="1" dirty="0">
                <a:solidFill>
                  <a:srgbClr val="63666A"/>
                </a:solidFill>
              </a:rPr>
              <a:t> </a:t>
            </a:r>
          </a:p>
        </p:txBody>
      </p:sp>
      <p:cxnSp>
        <p:nvCxnSpPr>
          <p:cNvPr id="37" name="Conector recto 36">
            <a:extLst>
              <a:ext uri="{FF2B5EF4-FFF2-40B4-BE49-F238E27FC236}">
                <a16:creationId xmlns:a16="http://schemas.microsoft.com/office/drawing/2014/main" id="{0810BAE2-F9EA-D51B-315C-0698F0064839}"/>
              </a:ext>
            </a:extLst>
          </p:cNvPr>
          <p:cNvCxnSpPr>
            <a:cxnSpLocks/>
          </p:cNvCxnSpPr>
          <p:nvPr/>
        </p:nvCxnSpPr>
        <p:spPr>
          <a:xfrm flipV="1">
            <a:off x="3501677" y="2353219"/>
            <a:ext cx="0" cy="634666"/>
          </a:xfrm>
          <a:prstGeom prst="line">
            <a:avLst/>
          </a:prstGeom>
          <a:ln w="63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Conector recto de flecha 38">
            <a:extLst>
              <a:ext uri="{FF2B5EF4-FFF2-40B4-BE49-F238E27FC236}">
                <a16:creationId xmlns:a16="http://schemas.microsoft.com/office/drawing/2014/main" id="{2BA63695-B5D7-009C-B0F4-C7B0D098CEB7}"/>
              </a:ext>
            </a:extLst>
          </p:cNvPr>
          <p:cNvCxnSpPr>
            <a:cxnSpLocks/>
          </p:cNvCxnSpPr>
          <p:nvPr/>
        </p:nvCxnSpPr>
        <p:spPr>
          <a:xfrm>
            <a:off x="3537722" y="2464860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Rectángulo 39">
            <a:extLst>
              <a:ext uri="{FF2B5EF4-FFF2-40B4-BE49-F238E27FC236}">
                <a16:creationId xmlns:a16="http://schemas.microsoft.com/office/drawing/2014/main" id="{1B139618-CE3A-E822-30E9-E7A1830229FA}"/>
              </a:ext>
            </a:extLst>
          </p:cNvPr>
          <p:cNvSpPr/>
          <p:nvPr/>
        </p:nvSpPr>
        <p:spPr>
          <a:xfrm>
            <a:off x="4003983" y="2392088"/>
            <a:ext cx="624950" cy="111389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ES" sz="600" i="1" dirty="0">
                <a:solidFill>
                  <a:srgbClr val="00B050"/>
                </a:solidFill>
              </a:rPr>
              <a:t>Generación </a:t>
            </a:r>
          </a:p>
        </p:txBody>
      </p:sp>
    </p:spTree>
    <p:extLst>
      <p:ext uri="{BB962C8B-B14F-4D97-AF65-F5344CB8AC3E}">
        <p14:creationId xmlns:p14="http://schemas.microsoft.com/office/powerpoint/2010/main" val="408417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572DE-AE4C-94E2-9F19-033EAFF0A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761D7BD-8F3F-9DEE-1BF8-EDFB9BCDF4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7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292CB8A-B36A-9DF2-822A-8041345BFFC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Estructura de la Red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2F77A7C-51B9-E00A-3021-8BDFC68A257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s-ES_tradnl" dirty="0"/>
              <a:t>Global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B2E4AC3-DFF2-CB32-0B72-FDBCFD415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677" y="869464"/>
            <a:ext cx="3326988" cy="363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7483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6576C-967D-6A2A-F59B-8974DE193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7E580A2-6ACF-452D-4293-5CA35DFEAED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238325"/>
            <a:ext cx="2794514" cy="666849"/>
          </a:xfrm>
        </p:spPr>
        <p:txBody>
          <a:bodyPr/>
          <a:lstStyle/>
          <a:p>
            <a:pPr algn="ctr"/>
            <a:r>
              <a:rPr lang="es-ES" sz="2400" dirty="0"/>
              <a:t>Cambios </a:t>
            </a:r>
            <a:r>
              <a:rPr lang="es-ES" sz="2400" dirty="0" err="1"/>
              <a:t>D.L</a:t>
            </a:r>
            <a:r>
              <a:rPr lang="es-ES" sz="2400" dirty="0"/>
              <a:t> (Después de Leonor)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290015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B5D19-CEDE-DFF9-09A8-8538CFAA3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62BF339-1DFC-058A-8322-CA598284CC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9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37C800A-C024-8323-F515-72E77AF508B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Cambios D.L. (Después de Leonor)</a:t>
            </a:r>
          </a:p>
        </p:txBody>
      </p:sp>
      <p:sp>
        <p:nvSpPr>
          <p:cNvPr id="21" name="Marcador de texto 8">
            <a:extLst>
              <a:ext uri="{FF2B5EF4-FFF2-40B4-BE49-F238E27FC236}">
                <a16:creationId xmlns:a16="http://schemas.microsoft.com/office/drawing/2014/main" id="{94A1C976-80A5-C025-7B12-802F29B564FE}"/>
              </a:ext>
            </a:extLst>
          </p:cNvPr>
          <p:cNvSpPr txBox="1">
            <a:spLocks/>
          </p:cNvSpPr>
          <p:nvPr/>
        </p:nvSpPr>
        <p:spPr>
          <a:xfrm>
            <a:off x="467424" y="817228"/>
            <a:ext cx="8058052" cy="421959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sz="1400" dirty="0"/>
              <a:t>CAMBIOS IMPORTANTES</a:t>
            </a:r>
          </a:p>
          <a:p>
            <a:pPr algn="just"/>
            <a:r>
              <a:rPr lang="es-ES" sz="1400" dirty="0"/>
              <a:t>Generadores para crear competición con la red: añadimos un bus EU (Europa), con un generador cuyo coste marginal es un 10% más barato que el precio de </a:t>
            </a:r>
            <a:r>
              <a:rPr lang="es-ES" sz="1400" dirty="0" err="1"/>
              <a:t>FRh2</a:t>
            </a:r>
            <a:r>
              <a:rPr lang="es-ES" sz="1400" dirty="0"/>
              <a:t>. Al bus </a:t>
            </a:r>
            <a:r>
              <a:rPr lang="es-ES" sz="1400" dirty="0" err="1"/>
              <a:t>FRh2</a:t>
            </a:r>
            <a:r>
              <a:rPr lang="es-ES" sz="1400" dirty="0"/>
              <a:t> se le añade un generador+ con un coste marginal un 10% superior al precio de </a:t>
            </a:r>
            <a:r>
              <a:rPr lang="es-ES" sz="1400" dirty="0" err="1"/>
              <a:t>FRh2</a:t>
            </a:r>
            <a:r>
              <a:rPr lang="es-ES" sz="1400" dirty="0"/>
              <a:t>.</a:t>
            </a:r>
          </a:p>
          <a:p>
            <a:pPr algn="just"/>
            <a:r>
              <a:rPr lang="es-ES" sz="1400" dirty="0"/>
              <a:t>Sensibilidad 1: Eliminar Flujo de Marruecos</a:t>
            </a:r>
          </a:p>
          <a:p>
            <a:pPr algn="just"/>
            <a:r>
              <a:rPr lang="es-ES" sz="1400" dirty="0"/>
              <a:t>Sensibilidad 2: Reducir la demanda de Eliquids (un 37% de reducción)</a:t>
            </a:r>
          </a:p>
          <a:p>
            <a:pPr algn="just"/>
            <a:r>
              <a:rPr lang="es-ES" sz="1400" dirty="0"/>
              <a:t>Sensibilidad 3: Añadir Ammonia High Band (precio =138) y Low Band (precio = 0)</a:t>
            </a:r>
          </a:p>
          <a:p>
            <a:pPr algn="just"/>
            <a:endParaRPr lang="es-ES" sz="1400" dirty="0"/>
          </a:p>
          <a:p>
            <a:pPr marL="0" indent="0" algn="just">
              <a:buNone/>
            </a:pPr>
            <a:r>
              <a:rPr lang="es-ES" sz="1400" dirty="0"/>
              <a:t>CAMBIOS MENORES</a:t>
            </a:r>
          </a:p>
          <a:p>
            <a:pPr algn="just"/>
            <a:r>
              <a:rPr lang="es-ES" sz="1400" dirty="0"/>
              <a:t>Eliminada la demanda de FRh2SW para obligar a Irún y Larrao. En el modelo de base obligo al link a que transporte el flujo  </a:t>
            </a:r>
          </a:p>
          <a:p>
            <a:pPr algn="just"/>
            <a:endParaRPr lang="es-ES" sz="1400" dirty="0"/>
          </a:p>
          <a:p>
            <a:pPr algn="just"/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280028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A76AB-EF88-7504-BF85-28460FF1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CA0DCA0-A7BD-4AF4-6A46-6813B155619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238325"/>
            <a:ext cx="2794514" cy="666849"/>
          </a:xfrm>
        </p:spPr>
        <p:txBody>
          <a:bodyPr/>
          <a:lstStyle/>
          <a:p>
            <a:pPr algn="ctr"/>
            <a:r>
              <a:rPr lang="es-ES" sz="2400" dirty="0"/>
              <a:t>CREACIÓN DEL MODELO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44209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73C43-BD47-29BB-F6AA-35A5F98BA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08983C-2D74-3F99-1C05-11DB3A20CA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C84A7B8-DCD1-44CA-A629-967FC9CECB50}" type="slidenum">
              <a:rPr lang="es-ES_tradnl" smtClean="0"/>
              <a:pPr/>
              <a:t>11</a:t>
            </a:fld>
            <a:endParaRPr lang="es-ES_tradn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86A1BFB-F7F7-9E61-408F-1A97FFDF624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s-ES_tradnl" dirty="0"/>
              <a:t>Baterías y Almacenamientos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12AFB15E-ED21-5152-9893-9C70BB608081}"/>
              </a:ext>
            </a:extLst>
          </p:cNvPr>
          <p:cNvSpPr txBox="1">
            <a:spLocks/>
          </p:cNvSpPr>
          <p:nvPr/>
        </p:nvSpPr>
        <p:spPr>
          <a:xfrm>
            <a:off x="432000" y="1255214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Estados de Carga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C005C713-28A0-4631-273C-9FBE7DFF95EB}"/>
              </a:ext>
            </a:extLst>
          </p:cNvPr>
          <p:cNvSpPr txBox="1">
            <a:spLocks/>
          </p:cNvSpPr>
          <p:nvPr/>
        </p:nvSpPr>
        <p:spPr>
          <a:xfrm>
            <a:off x="432000" y="1508658"/>
            <a:ext cx="2463805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Batería Mercado Eléctrico España</a:t>
            </a:r>
          </a:p>
        </p:txBody>
      </p:sp>
      <p:sp>
        <p:nvSpPr>
          <p:cNvPr id="12" name="Marcador de texto 8">
            <a:extLst>
              <a:ext uri="{FF2B5EF4-FFF2-40B4-BE49-F238E27FC236}">
                <a16:creationId xmlns:a16="http://schemas.microsoft.com/office/drawing/2014/main" id="{0204D2D8-8B98-7F97-2CCF-9C7D9F0CDF48}"/>
              </a:ext>
            </a:extLst>
          </p:cNvPr>
          <p:cNvSpPr txBox="1">
            <a:spLocks/>
          </p:cNvSpPr>
          <p:nvPr/>
        </p:nvSpPr>
        <p:spPr>
          <a:xfrm>
            <a:off x="2981822" y="1508658"/>
            <a:ext cx="2732502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Batería Mercado Eléctrico Portugal</a:t>
            </a:r>
          </a:p>
        </p:txBody>
      </p:sp>
      <p:sp>
        <p:nvSpPr>
          <p:cNvPr id="13" name="Marcador de texto 8">
            <a:extLst>
              <a:ext uri="{FF2B5EF4-FFF2-40B4-BE49-F238E27FC236}">
                <a16:creationId xmlns:a16="http://schemas.microsoft.com/office/drawing/2014/main" id="{3936389E-ACC7-A1FC-0588-DDD72D0CA7EC}"/>
              </a:ext>
            </a:extLst>
          </p:cNvPr>
          <p:cNvSpPr txBox="1">
            <a:spLocks/>
          </p:cNvSpPr>
          <p:nvPr/>
        </p:nvSpPr>
        <p:spPr>
          <a:xfrm>
            <a:off x="5534001" y="1485756"/>
            <a:ext cx="2429421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900" dirty="0"/>
              <a:t>Almacenamientos H2 España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D47C723-5A6C-EE10-A129-DA438C478EFB}"/>
              </a:ext>
            </a:extLst>
          </p:cNvPr>
          <p:cNvSpPr txBox="1"/>
          <p:nvPr/>
        </p:nvSpPr>
        <p:spPr>
          <a:xfrm>
            <a:off x="432000" y="809171"/>
            <a:ext cx="7940342" cy="369332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</p:txBody>
      </p:sp>
      <p:sp>
        <p:nvSpPr>
          <p:cNvPr id="15" name="Marcador de texto 8">
            <a:extLst>
              <a:ext uri="{FF2B5EF4-FFF2-40B4-BE49-F238E27FC236}">
                <a16:creationId xmlns:a16="http://schemas.microsoft.com/office/drawing/2014/main" id="{FDFA2E78-69CB-2693-8309-65DBB11A9812}"/>
              </a:ext>
            </a:extLst>
          </p:cNvPr>
          <p:cNvSpPr txBox="1">
            <a:spLocks/>
          </p:cNvSpPr>
          <p:nvPr/>
        </p:nvSpPr>
        <p:spPr>
          <a:xfrm>
            <a:off x="467424" y="795357"/>
            <a:ext cx="7904918" cy="330622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/>
              <a:t>Restricción: </a:t>
            </a:r>
            <a:r>
              <a:rPr lang="es-ES" dirty="0"/>
              <a:t>el estado de carga de las baterías eléctricas y almacenamientos de hidrógeno en los instantes inicial y final, debe ser de al menos del 50% y 20% respectivamente.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CB84FED-CFBA-55F3-B1B5-0AA74C22FAA5}"/>
              </a:ext>
            </a:extLst>
          </p:cNvPr>
          <p:cNvSpPr txBox="1"/>
          <p:nvPr/>
        </p:nvSpPr>
        <p:spPr>
          <a:xfrm>
            <a:off x="5638800" y="4087479"/>
            <a:ext cx="2886676" cy="466084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Marcador de texto 8">
                <a:extLst>
                  <a:ext uri="{FF2B5EF4-FFF2-40B4-BE49-F238E27FC236}">
                    <a16:creationId xmlns:a16="http://schemas.microsoft.com/office/drawing/2014/main" id="{3780B5A0-A581-C59D-0BE5-6BD40D38941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43416" y="4098094"/>
                <a:ext cx="4756960" cy="455469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dirty="0" smtClean="0"/>
                      <m:t>Estado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de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carga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inicial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=0)≥50%</m:t>
                    </m:r>
                  </m:oMath>
                </a14:m>
                <a:endParaRPr lang="es-ES" i="1" dirty="0">
                  <a:latin typeface="Cambria Math" panose="02040503050406030204" pitchFamily="18" charset="0"/>
                </a:endParaRP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b="0" i="0" dirty="0" smtClean="0"/>
                      <m:t>Estado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de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carga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final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)≥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43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endParaRPr lang="es-ES" dirty="0"/>
              </a:p>
              <a:p>
                <a:endParaRPr lang="es-ES" dirty="0"/>
              </a:p>
            </p:txBody>
          </p:sp>
        </mc:Choice>
        <mc:Fallback>
          <p:sp>
            <p:nvSpPr>
              <p:cNvPr id="18" name="Marcador de texto 8">
                <a:extLst>
                  <a:ext uri="{FF2B5EF4-FFF2-40B4-BE49-F238E27FC236}">
                    <a16:creationId xmlns:a16="http://schemas.microsoft.com/office/drawing/2014/main" id="{3780B5A0-A581-C59D-0BE5-6BD40D3894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3416" y="4098094"/>
                <a:ext cx="4756960" cy="45546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CuadroTexto 18">
            <a:extLst>
              <a:ext uri="{FF2B5EF4-FFF2-40B4-BE49-F238E27FC236}">
                <a16:creationId xmlns:a16="http://schemas.microsoft.com/office/drawing/2014/main" id="{876C05E5-F0E5-1E4F-0953-2FD9276275D5}"/>
              </a:ext>
            </a:extLst>
          </p:cNvPr>
          <p:cNvSpPr txBox="1"/>
          <p:nvPr/>
        </p:nvSpPr>
        <p:spPr>
          <a:xfrm>
            <a:off x="1428408" y="4101287"/>
            <a:ext cx="2991475" cy="466084"/>
          </a:xfrm>
          <a:prstGeom prst="rect">
            <a:avLst/>
          </a:prstGeom>
          <a:solidFill>
            <a:schemeClr val="accent4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Marcador de texto 8">
                <a:extLst>
                  <a:ext uri="{FF2B5EF4-FFF2-40B4-BE49-F238E27FC236}">
                    <a16:creationId xmlns:a16="http://schemas.microsoft.com/office/drawing/2014/main" id="{E945E918-2D4A-C2A9-D1D3-3C0392999B7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-264160" y="4108709"/>
                <a:ext cx="4756960" cy="455469"/>
              </a:xfrm>
              <a:prstGeom prst="rect">
                <a:avLst/>
              </a:prstGeom>
            </p:spPr>
            <p:txBody>
              <a:bodyPr/>
              <a:lstStyle>
                <a:lvl1pPr marL="342900" indent="-3429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–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»"/>
                  <a:defRPr sz="1000" kern="1200">
                    <a:solidFill>
                      <a:schemeClr val="accent3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spcBef>
                    <a:spcPct val="20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dirty="0" smtClean="0"/>
                      <m:t>Estado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de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dirty="0" smtClean="0"/>
                      <m:t>carga</m:t>
                    </m:r>
                    <m:r>
                      <m:rPr>
                        <m:nor/>
                      </m:rPr>
                      <a:rPr lang="es-ES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inicial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=0)≥50%</m:t>
                    </m:r>
                  </m:oMath>
                </a14:m>
                <a:endParaRPr lang="es-ES" i="1" dirty="0">
                  <a:latin typeface="Cambria Math" panose="02040503050406030204" pitchFamily="18" charset="0"/>
                </a:endParaRP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ES" b="0" i="0" dirty="0" smtClean="0"/>
                      <m:t>Estado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de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carga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r>
                      <m:rPr>
                        <m:nor/>
                      </m:rPr>
                      <a:rPr lang="es-ES" b="0" i="0" dirty="0" smtClean="0"/>
                      <m:t>final</m:t>
                    </m:r>
                    <m:r>
                      <m:rPr>
                        <m:nor/>
                      </m:rPr>
                      <a:rPr lang="es-ES" b="0" i="0" dirty="0" smtClean="0"/>
                      <m:t> </m:t>
                    </m:r>
                    <m:sSub>
                      <m:sSubPr>
                        <m:ctrlPr>
                          <a:rPr lang="es-E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s-ES" b="0" i="1" dirty="0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es-ES" b="0" i="1" dirty="0" smtClean="0">
                        <a:latin typeface="Cambria Math" panose="02040503050406030204" pitchFamily="18" charset="0"/>
                      </a:rPr>
                      <m:t>)≥20%</m:t>
                    </m:r>
                  </m:oMath>
                </a14:m>
                <a:endParaRPr lang="es-ES" dirty="0"/>
              </a:p>
              <a:p>
                <a:endParaRPr lang="es-ES" dirty="0"/>
              </a:p>
            </p:txBody>
          </p:sp>
        </mc:Choice>
        <mc:Fallback>
          <p:sp>
            <p:nvSpPr>
              <p:cNvPr id="20" name="Marcador de texto 8">
                <a:extLst>
                  <a:ext uri="{FF2B5EF4-FFF2-40B4-BE49-F238E27FC236}">
                    <a16:creationId xmlns:a16="http://schemas.microsoft.com/office/drawing/2014/main" id="{E945E918-2D4A-C2A9-D1D3-3C0392999B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64160" y="4108709"/>
                <a:ext cx="4756960" cy="455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Imagen 25">
            <a:extLst>
              <a:ext uri="{FF2B5EF4-FFF2-40B4-BE49-F238E27FC236}">
                <a16:creationId xmlns:a16="http://schemas.microsoft.com/office/drawing/2014/main" id="{9D073B29-9019-3645-8E6C-8C5ECC81F1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423"/>
          <a:stretch>
            <a:fillRect/>
          </a:stretch>
        </p:blipFill>
        <p:spPr>
          <a:xfrm>
            <a:off x="5638800" y="1733586"/>
            <a:ext cx="2580693" cy="2202283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814A388C-18DC-DF3C-06BE-552F1FBE377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423"/>
          <a:stretch>
            <a:fillRect/>
          </a:stretch>
        </p:blipFill>
        <p:spPr>
          <a:xfrm>
            <a:off x="3009485" y="1733586"/>
            <a:ext cx="2466162" cy="2202283"/>
          </a:xfrm>
          <a:prstGeom prst="rect">
            <a:avLst/>
          </a:prstGeom>
        </p:spPr>
      </p:pic>
      <p:pic>
        <p:nvPicPr>
          <p:cNvPr id="30" name="Imagen 29">
            <a:extLst>
              <a:ext uri="{FF2B5EF4-FFF2-40B4-BE49-F238E27FC236}">
                <a16:creationId xmlns:a16="http://schemas.microsoft.com/office/drawing/2014/main" id="{1CFCB84E-2DE6-1ADC-8619-C700A29E3AF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423"/>
          <a:stretch>
            <a:fillRect/>
          </a:stretch>
        </p:blipFill>
        <p:spPr>
          <a:xfrm>
            <a:off x="241198" y="1733586"/>
            <a:ext cx="2648769" cy="2202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5677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BD43B-755E-FAF6-6944-7C188970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C7FB075-0AB7-D734-0675-41A04EE64D4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362928"/>
            <a:ext cx="7940342" cy="333425"/>
          </a:xfrm>
        </p:spPr>
        <p:txBody>
          <a:bodyPr/>
          <a:lstStyle/>
          <a:p>
            <a:r>
              <a:rPr lang="es-ES" sz="2400" dirty="0"/>
              <a:t>Tecnologías Renovables Dedicadas: SRES</a:t>
            </a:r>
            <a:endParaRPr lang="es-ES" dirty="0"/>
          </a:p>
        </p:txBody>
      </p:sp>
      <p:sp>
        <p:nvSpPr>
          <p:cNvPr id="5" name="Marcador de texto 8">
            <a:extLst>
              <a:ext uri="{FF2B5EF4-FFF2-40B4-BE49-F238E27FC236}">
                <a16:creationId xmlns:a16="http://schemas.microsoft.com/office/drawing/2014/main" id="{1895ABCD-BFA7-BFB6-6DCE-A60F7F44DFEE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683203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Se refiere a las tecnologías renovables dedicadas a la producción de H2 para su posterior venta y consumo. Bajo la estructura de SRES impuesta, se generará una electricidad para cubrir la demanda de </a:t>
            </a:r>
            <a:r>
              <a:rPr lang="es-ES" dirty="0" err="1"/>
              <a:t>h2</a:t>
            </a:r>
            <a:r>
              <a:rPr lang="es-ES" dirty="0"/>
              <a:t>, y los excedentes de esta electricidad se envían al mercado eléctrico.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110A86D-F3EE-D26F-CAAE-63C727506939}"/>
              </a:ext>
            </a:extLst>
          </p:cNvPr>
          <p:cNvSpPr/>
          <p:nvPr/>
        </p:nvSpPr>
        <p:spPr>
          <a:xfrm>
            <a:off x="2857346" y="2419573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Eléctrico</a:t>
            </a: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7DE120C9-F1B4-6EBB-9B83-AAED443EC59A}"/>
              </a:ext>
            </a:extLst>
          </p:cNvPr>
          <p:cNvSpPr/>
          <p:nvPr/>
        </p:nvSpPr>
        <p:spPr>
          <a:xfrm>
            <a:off x="4843766" y="2393747"/>
            <a:ext cx="865910" cy="228600"/>
          </a:xfrm>
          <a:prstGeom prst="rect">
            <a:avLst/>
          </a:prstGeom>
          <a:ln w="952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/>
              <a:t>M. Hidrógeno</a:t>
            </a:r>
          </a:p>
        </p:txBody>
      </p: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2212D26A-D4B6-FA83-FA6C-00AF75B277D8}"/>
              </a:ext>
            </a:extLst>
          </p:cNvPr>
          <p:cNvCxnSpPr>
            <a:cxnSpLocks/>
          </p:cNvCxnSpPr>
          <p:nvPr/>
        </p:nvCxnSpPr>
        <p:spPr>
          <a:xfrm>
            <a:off x="3741508" y="2533873"/>
            <a:ext cx="108400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8BE33ED7-A814-E66A-ED20-466D53616A2D}"/>
              </a:ext>
            </a:extLst>
          </p:cNvPr>
          <p:cNvSpPr/>
          <p:nvPr/>
        </p:nvSpPr>
        <p:spPr>
          <a:xfrm>
            <a:off x="2830679" y="1730711"/>
            <a:ext cx="86591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Excedentes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4D58B018-CBD1-2252-27D8-7FF174CE8132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3263634" y="2045263"/>
            <a:ext cx="0" cy="3284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Conector recto 17">
            <a:extLst>
              <a:ext uri="{FF2B5EF4-FFF2-40B4-BE49-F238E27FC236}">
                <a16:creationId xmlns:a16="http://schemas.microsoft.com/office/drawing/2014/main" id="{1F6DD99B-D636-157D-4F07-343D5896A936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696589" y="1454216"/>
            <a:ext cx="0" cy="4337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52EDAAF8-9920-35CF-CAFA-016CF510EF26}"/>
              </a:ext>
            </a:extLst>
          </p:cNvPr>
          <p:cNvCxnSpPr>
            <a:cxnSpLocks/>
          </p:cNvCxnSpPr>
          <p:nvPr/>
        </p:nvCxnSpPr>
        <p:spPr>
          <a:xfrm>
            <a:off x="3058923" y="1514431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CB6764B-8E1F-D9AE-C4F7-1997A1AECF68}"/>
              </a:ext>
            </a:extLst>
          </p:cNvPr>
          <p:cNvSpPr/>
          <p:nvPr/>
        </p:nvSpPr>
        <p:spPr>
          <a:xfrm>
            <a:off x="4688123" y="1713725"/>
            <a:ext cx="1048870" cy="314552"/>
          </a:xfrm>
          <a:prstGeom prst="rect">
            <a:avLst/>
          </a:prstGeom>
          <a:ln w="9525">
            <a:solidFill>
              <a:srgbClr val="63666A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dirty="0">
                <a:solidFill>
                  <a:srgbClr val="63666A"/>
                </a:solidFill>
              </a:rPr>
              <a:t>SRES Electrolizador</a:t>
            </a:r>
          </a:p>
        </p:txBody>
      </p: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9E9F1C35-70B8-4715-AEAF-03D70F8596E1}"/>
              </a:ext>
            </a:extLst>
          </p:cNvPr>
          <p:cNvCxnSpPr>
            <a:cxnSpLocks/>
          </p:cNvCxnSpPr>
          <p:nvPr/>
        </p:nvCxnSpPr>
        <p:spPr>
          <a:xfrm flipV="1">
            <a:off x="5736993" y="1409766"/>
            <a:ext cx="0" cy="48968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35C0359E-E816-A295-E63F-53381AC6ECB3}"/>
              </a:ext>
            </a:extLst>
          </p:cNvPr>
          <p:cNvCxnSpPr>
            <a:cxnSpLocks/>
          </p:cNvCxnSpPr>
          <p:nvPr/>
        </p:nvCxnSpPr>
        <p:spPr>
          <a:xfrm>
            <a:off x="5246888" y="1514431"/>
            <a:ext cx="490105" cy="0"/>
          </a:xfrm>
          <a:prstGeom prst="straightConnector1">
            <a:avLst/>
          </a:prstGeom>
          <a:ln w="6350">
            <a:solidFill>
              <a:srgbClr val="00B05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0FCF6DA-AF0C-39A6-79F4-D52B6B1A9E4C}"/>
              </a:ext>
            </a:extLst>
          </p:cNvPr>
          <p:cNvSpPr/>
          <p:nvPr/>
        </p:nvSpPr>
        <p:spPr>
          <a:xfrm>
            <a:off x="2456367" y="1358807"/>
            <a:ext cx="748624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38CBE44B-1CED-B01B-3385-CED3B21D9F7E}"/>
              </a:ext>
            </a:extLst>
          </p:cNvPr>
          <p:cNvSpPr/>
          <p:nvPr/>
        </p:nvSpPr>
        <p:spPr>
          <a:xfrm>
            <a:off x="4688123" y="1327849"/>
            <a:ext cx="715442" cy="314552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s-ES" sz="600" i="1" dirty="0">
                <a:solidFill>
                  <a:srgbClr val="00B050"/>
                </a:solidFill>
              </a:rPr>
              <a:t>Generación Eólica y Solar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1F5C6A08-3636-B078-B8C0-FD45A10AA1DB}"/>
              </a:ext>
            </a:extLst>
          </p:cNvPr>
          <p:cNvSpPr/>
          <p:nvPr/>
        </p:nvSpPr>
        <p:spPr>
          <a:xfrm>
            <a:off x="3899570" y="2430810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cxnSp>
        <p:nvCxnSpPr>
          <p:cNvPr id="26" name="Conector recto de flecha 25">
            <a:extLst>
              <a:ext uri="{FF2B5EF4-FFF2-40B4-BE49-F238E27FC236}">
                <a16:creationId xmlns:a16="http://schemas.microsoft.com/office/drawing/2014/main" id="{0015B4BE-F769-8BEE-CC72-15323DDCFC20}"/>
              </a:ext>
            </a:extLst>
          </p:cNvPr>
          <p:cNvCxnSpPr>
            <a:cxnSpLocks/>
          </p:cNvCxnSpPr>
          <p:nvPr/>
        </p:nvCxnSpPr>
        <p:spPr>
          <a:xfrm>
            <a:off x="5208522" y="2052828"/>
            <a:ext cx="4036" cy="320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A2468C4-A485-A27B-DA14-601EAC27D933}"/>
              </a:ext>
            </a:extLst>
          </p:cNvPr>
          <p:cNvSpPr/>
          <p:nvPr/>
        </p:nvSpPr>
        <p:spPr>
          <a:xfrm>
            <a:off x="4780595" y="2074949"/>
            <a:ext cx="767881" cy="206125"/>
          </a:xfrm>
          <a:prstGeom prst="rect">
            <a:avLst/>
          </a:prstGeom>
          <a:ln w="9525"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ES" sz="800" i="1" u="sng" dirty="0">
                <a:solidFill>
                  <a:srgbClr val="63666A"/>
                </a:solidFill>
              </a:rPr>
              <a:t>Electrólisis</a:t>
            </a:r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79F0229A-CE93-8CAE-CF65-68172B95CB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821" y="2786670"/>
            <a:ext cx="3353091" cy="2292295"/>
          </a:xfrm>
          <a:prstGeom prst="rect">
            <a:avLst/>
          </a:prstGeom>
        </p:spPr>
      </p:pic>
      <p:pic>
        <p:nvPicPr>
          <p:cNvPr id="35" name="Imagen 34">
            <a:extLst>
              <a:ext uri="{FF2B5EF4-FFF2-40B4-BE49-F238E27FC236}">
                <a16:creationId xmlns:a16="http://schemas.microsoft.com/office/drawing/2014/main" id="{5C776F74-48EE-583B-E8D6-39EF4E5F8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3510" y="2786670"/>
            <a:ext cx="3670110" cy="228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2815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BAA9B-3200-A1BD-A957-E158D4545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DE9F3BD-F57C-F994-756B-3E8AE58F857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74743" y="2405037"/>
            <a:ext cx="2794514" cy="333425"/>
          </a:xfrm>
        </p:spPr>
        <p:txBody>
          <a:bodyPr/>
          <a:lstStyle/>
          <a:p>
            <a:pPr algn="ctr"/>
            <a:r>
              <a:rPr lang="es-ES" sz="2400" dirty="0"/>
              <a:t>BENCHMARKING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5059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3B910-D80C-FDE8-9A0C-563AE886A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BC9B3F7-C913-71A1-6A12-77328C2F26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362928"/>
            <a:ext cx="7940342" cy="333425"/>
          </a:xfrm>
        </p:spPr>
        <p:txBody>
          <a:bodyPr/>
          <a:lstStyle/>
          <a:p>
            <a:r>
              <a:rPr lang="es-ES" sz="2400" dirty="0"/>
              <a:t>BenchMarking</a:t>
            </a:r>
            <a:endParaRPr lang="es-ES" dirty="0"/>
          </a:p>
        </p:txBody>
      </p:sp>
      <p:sp>
        <p:nvSpPr>
          <p:cNvPr id="5" name="Marcador de texto 8">
            <a:extLst>
              <a:ext uri="{FF2B5EF4-FFF2-40B4-BE49-F238E27FC236}">
                <a16:creationId xmlns:a16="http://schemas.microsoft.com/office/drawing/2014/main" id="{B5FCC9EC-F06F-FE3C-E684-C6EB05E5CEB6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284384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Explicación. </a:t>
            </a:r>
          </a:p>
          <a:p>
            <a:pPr marL="0" indent="0" algn="just">
              <a:buNone/>
            </a:pPr>
            <a:r>
              <a:rPr lang="es-ES" dirty="0"/>
              <a:t>Modelo de referencia: </a:t>
            </a:r>
            <a:r>
              <a:rPr lang="es-ES" dirty="0" err="1"/>
              <a:t>TYNDP</a:t>
            </a:r>
            <a:r>
              <a:rPr lang="es-ES" dirty="0"/>
              <a:t> 26</a:t>
            </a:r>
          </a:p>
          <a:p>
            <a:pPr marL="0" indent="0" algn="just">
              <a:buNone/>
            </a:pPr>
            <a:r>
              <a:rPr lang="es-ES" dirty="0"/>
              <a:t>Modelo de implementación: 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r>
              <a:rPr lang="es-ES" dirty="0"/>
              <a:t>Resultados como se mostrarán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000885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36407-BF7C-321F-654F-3BC03ABF7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6F136EC-B11E-B5DB-B0CD-11FF713013A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331169" y="2269570"/>
            <a:ext cx="4481661" cy="302180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Generadores de Electricidad</a:t>
            </a:r>
          </a:p>
        </p:txBody>
      </p:sp>
    </p:spTree>
    <p:extLst>
      <p:ext uri="{BB962C8B-B14F-4D97-AF65-F5344CB8AC3E}">
        <p14:creationId xmlns:p14="http://schemas.microsoft.com/office/powerpoint/2010/main" val="1069816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26BD4-08C3-FF76-F9AA-B24D43576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n 30">
            <a:extLst>
              <a:ext uri="{FF2B5EF4-FFF2-40B4-BE49-F238E27FC236}">
                <a16:creationId xmlns:a16="http://schemas.microsoft.com/office/drawing/2014/main" id="{43C0833B-58FF-B6DE-AAE3-9CB20E0A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292" y="199194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Imagen 32">
            <a:extLst>
              <a:ext uri="{FF2B5EF4-FFF2-40B4-BE49-F238E27FC236}">
                <a16:creationId xmlns:a16="http://schemas.microsoft.com/office/drawing/2014/main" id="{31F30982-E17F-CC48-3F67-85075CF3A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292" y="2621539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9" name="Imagen 38">
            <a:extLst>
              <a:ext uri="{FF2B5EF4-FFF2-40B4-BE49-F238E27FC236}">
                <a16:creationId xmlns:a16="http://schemas.microsoft.com/office/drawing/2014/main" id="{23191BD0-6802-D51A-B463-113A5912F1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810" y="2621538"/>
            <a:ext cx="2928004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1" name="Imagen 40">
            <a:extLst>
              <a:ext uri="{FF2B5EF4-FFF2-40B4-BE49-F238E27FC236}">
                <a16:creationId xmlns:a16="http://schemas.microsoft.com/office/drawing/2014/main" id="{BBD0BB1D-35CB-9925-66FD-075D2AC8F5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1810" y="199195"/>
            <a:ext cx="2928004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99923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C0AE3-5063-CABE-89CD-E0D820DC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C91BE60-B304-A4DC-4E2E-50F770230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362" y="271328"/>
            <a:ext cx="3007934" cy="21341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881AEF9-A47A-B890-3B48-F38B3EF55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635" y="276405"/>
            <a:ext cx="2925042" cy="21341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BC8DFF7-CBF4-2CEE-6A85-95C1C06AD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362" y="2571749"/>
            <a:ext cx="3007934" cy="21341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D9E936C8-1F17-33E2-5FB0-DECBAA0B10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6635" y="2571749"/>
            <a:ext cx="3007934" cy="213410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94206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0EB67-66A9-5D1A-949F-B483DA1A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857DED4-C3DE-BD93-D357-0C7F5529E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981" y="199198"/>
            <a:ext cx="2928003" cy="212902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5B424F3-022E-F483-C5CC-ACA31265E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99198"/>
            <a:ext cx="2928002" cy="212902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3363164-0DE2-41FF-4735-82849762A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57" y="2571749"/>
            <a:ext cx="2950828" cy="212902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334DE402-199B-D483-C968-A076812C25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9174" y="2571749"/>
            <a:ext cx="2950828" cy="215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2607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B3F37-D5C8-326F-C2B1-8C06A0FCF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9E4D2833-398D-ED46-D021-C2368AC2F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2571750"/>
            <a:ext cx="2934534" cy="2129029"/>
          </a:xfrm>
          <a:prstGeom prst="rect">
            <a:avLst/>
          </a:prstGeom>
        </p:spPr>
      </p:pic>
      <p:pic>
        <p:nvPicPr>
          <p:cNvPr id="38" name="Imagen 37">
            <a:extLst>
              <a:ext uri="{FF2B5EF4-FFF2-40B4-BE49-F238E27FC236}">
                <a16:creationId xmlns:a16="http://schemas.microsoft.com/office/drawing/2014/main" id="{BBCEB57A-0905-CAF1-6741-75C8EBD1AD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3981" y="2571750"/>
            <a:ext cx="2933483" cy="212902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5271586-F927-A39E-E530-BF894CFCE0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9" y="199198"/>
            <a:ext cx="2928003" cy="212902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566F9BBC-5D6B-533A-BDD1-58BAD18FF6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930" y="199198"/>
            <a:ext cx="2934534" cy="2129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6894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D2B20-C17F-A981-98C8-6439A265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592ACD-9F42-CDC0-4887-561E85B297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149980" y="2388381"/>
            <a:ext cx="2844039" cy="366738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Generación de H2</a:t>
            </a:r>
          </a:p>
        </p:txBody>
      </p:sp>
    </p:spTree>
    <p:extLst>
      <p:ext uri="{BB962C8B-B14F-4D97-AF65-F5344CB8AC3E}">
        <p14:creationId xmlns:p14="http://schemas.microsoft.com/office/powerpoint/2010/main" val="778276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EE241-DC1D-DFA3-4B16-E66F4E996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C845B32-BB2C-4310-3153-BB012BD360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146" y="251785"/>
            <a:ext cx="3333411" cy="204799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B22689D-5507-734F-E437-E89596E3E1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82499"/>
            <a:ext cx="3207640" cy="2017283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44FD271-8053-E4BA-7964-3073F85FF7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146" y="2445237"/>
            <a:ext cx="3333411" cy="215345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05501C65-C3B0-DCE6-DBED-36F36F1778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5828" y="2445237"/>
            <a:ext cx="3243812" cy="2153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413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88C6A-2A75-FD46-E43A-6C21AB84C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CF9C744C-BD45-D51F-A57C-B66D5DC6C4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610" y="1282626"/>
            <a:ext cx="3822780" cy="257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9351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7510-8EBF-9B2D-E835-6E97A8702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470EBFA-D2E6-2133-2DAE-061F693C1F5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599499" y="2238325"/>
            <a:ext cx="3945002" cy="666849"/>
          </a:xfrm>
        </p:spPr>
        <p:txBody>
          <a:bodyPr/>
          <a:lstStyle/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Baterías Eléctricas y Almacenamientos H2</a:t>
            </a:r>
          </a:p>
        </p:txBody>
      </p:sp>
    </p:spTree>
    <p:extLst>
      <p:ext uri="{BB962C8B-B14F-4D97-AF65-F5344CB8AC3E}">
        <p14:creationId xmlns:p14="http://schemas.microsoft.com/office/powerpoint/2010/main" val="705808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6A23C-D5D7-5C89-650D-97B83FB78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FA7A270-A73E-97CC-9305-BC5226C0D8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664" y="2571750"/>
            <a:ext cx="4154671" cy="234229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DAA465E-8ECA-7193-B86C-9411A627AC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882" y="143671"/>
            <a:ext cx="3427738" cy="2279272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42E85EBF-7BBE-0B32-F05D-545D7E3E08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5551" y="143671"/>
            <a:ext cx="3657829" cy="227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9239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3D73-14CF-882E-6F8D-8129CF220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FFFA128-DF1D-97EF-2A47-888D4E8A22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36848" y="2383618"/>
            <a:ext cx="2670304" cy="376263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Interconexiones</a:t>
            </a:r>
          </a:p>
        </p:txBody>
      </p:sp>
    </p:spTree>
    <p:extLst>
      <p:ext uri="{BB962C8B-B14F-4D97-AF65-F5344CB8AC3E}">
        <p14:creationId xmlns:p14="http://schemas.microsoft.com/office/powerpoint/2010/main" val="1992938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B867-1EDF-BC9F-4A18-CFF4C4855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AA54697-E86E-8F67-C94C-77A6F87F3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3616" y="211929"/>
            <a:ext cx="4113787" cy="23598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5002C806-33FA-828F-CF9C-A29F03D379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3615" y="2664855"/>
            <a:ext cx="4113787" cy="226671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668869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D3712-B791-5CBE-DBCC-0DCA631E7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372925A-EA34-BE69-900F-0C97A27D4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178" y="68346"/>
            <a:ext cx="4155489" cy="229535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84338746-2BB3-D40C-21B7-A2EAC8B08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6861" y="2498394"/>
            <a:ext cx="4240122" cy="244731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698335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4A446-84FD-4298-4A75-BD06F774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C54B788-C815-4BF9-8D42-449BD11EC2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900" y="72766"/>
            <a:ext cx="4276199" cy="24312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0264E515-1D76-24AE-D248-4EDC75380D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900" y="2639484"/>
            <a:ext cx="4276199" cy="242822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906523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AD666-FBE2-B944-8E43-CD6CE176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78CCB3-FB40-3BB8-67D8-7774241789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971099" y="2405037"/>
            <a:ext cx="1201802" cy="333425"/>
          </a:xfrm>
        </p:spPr>
        <p:txBody>
          <a:bodyPr/>
          <a:lstStyle/>
          <a:p>
            <a:pPr algn="just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Precios</a:t>
            </a:r>
          </a:p>
        </p:txBody>
      </p:sp>
    </p:spTree>
    <p:extLst>
      <p:ext uri="{BB962C8B-B14F-4D97-AF65-F5344CB8AC3E}">
        <p14:creationId xmlns:p14="http://schemas.microsoft.com/office/powerpoint/2010/main" val="7905996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AEB54-15F4-0415-E9B2-53D8D5870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E170C0B1-F006-ADF9-B3BD-A7FA526573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1" y="222902"/>
            <a:ext cx="3425952" cy="203317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BFDA537-B824-8378-DC73-4454059E4B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27670"/>
            <a:ext cx="3425952" cy="20284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108A167-E87E-598A-68D3-EE83700074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046" y="2406422"/>
            <a:ext cx="3433488" cy="20331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C38551E9-0DCC-5C99-C0D9-FA3750A356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1" y="2406422"/>
            <a:ext cx="3425952" cy="20284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361803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AC04-242F-4382-1006-392DF086C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9E555B-C859-1CE1-D159-4DA4126FD65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629890" y="2204470"/>
            <a:ext cx="5884219" cy="734560"/>
          </a:xfrm>
        </p:spPr>
        <p:txBody>
          <a:bodyPr/>
          <a:lstStyle/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Sensibilidad 1: </a:t>
            </a:r>
          </a:p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Eliminación Interconexión Marruecos</a:t>
            </a:r>
          </a:p>
        </p:txBody>
      </p:sp>
    </p:spTree>
    <p:extLst>
      <p:ext uri="{BB962C8B-B14F-4D97-AF65-F5344CB8AC3E}">
        <p14:creationId xmlns:p14="http://schemas.microsoft.com/office/powerpoint/2010/main" val="31549627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4E8BD-C6EA-85C9-DD58-F68BA774D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489AB23-1CCD-55A2-CC05-31D2B4FA6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220" y="782621"/>
            <a:ext cx="7537559" cy="357825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682201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C8856-E9FC-165A-A8AD-0B7B3A31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CB0411A-9817-56BE-7168-C70809F204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946" y="739743"/>
            <a:ext cx="7712108" cy="366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4227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39016-AEE3-EA9F-9A72-48695E809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2FD6AF03-226C-5FC7-4C0A-F25F4D70B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534" y="309977"/>
            <a:ext cx="7026932" cy="45235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041231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7FC5C-1ABC-1209-3733-4FAB8FE5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3DA1EB78-2525-1058-013A-7199188DA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652" y="476277"/>
            <a:ext cx="7718696" cy="41909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03160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7573F3-335C-2CF6-94D9-43FA7D6DA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C3F23D78-6CEB-18B6-C9FE-0177F37F1C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218" y="0"/>
            <a:ext cx="62935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4431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A7D43-7FFF-7D10-EC09-B5864CA6F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6E48D08-C2D2-DD77-9129-2714C58D52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765" y="2654300"/>
            <a:ext cx="3635870" cy="194131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12FD39-AAE5-B0B0-943B-43CDB0B4DB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4765" y="666422"/>
            <a:ext cx="3626136" cy="194131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E807E3D-725C-212C-A2F6-0A54C5EE94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140" y="657955"/>
            <a:ext cx="3626136" cy="194131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63C6CF8-4AB8-20D2-3DAF-655DB513D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40" y="2654300"/>
            <a:ext cx="3626136" cy="1941316"/>
          </a:xfrm>
          <a:prstGeom prst="rect">
            <a:avLst/>
          </a:prstGeom>
        </p:spPr>
      </p:pic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1A6C1D79-5281-5530-2069-5CDD0D999636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Marcador de texto 8">
            <a:extLst>
              <a:ext uri="{FF2B5EF4-FFF2-40B4-BE49-F238E27FC236}">
                <a16:creationId xmlns:a16="http://schemas.microsoft.com/office/drawing/2014/main" id="{9AB0A73D-8474-F7DC-AB2D-C21C13296FEB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14" name="Marcador de texto 8">
            <a:extLst>
              <a:ext uri="{FF2B5EF4-FFF2-40B4-BE49-F238E27FC236}">
                <a16:creationId xmlns:a16="http://schemas.microsoft.com/office/drawing/2014/main" id="{4190C2DB-982E-6C74-A444-DC925573DCCF}"/>
              </a:ext>
            </a:extLst>
          </p:cNvPr>
          <p:cNvSpPr txBox="1">
            <a:spLocks/>
          </p:cNvSpPr>
          <p:nvPr/>
        </p:nvSpPr>
        <p:spPr>
          <a:xfrm>
            <a:off x="4749801" y="210952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1 – Eliminación de Marruecos</a:t>
            </a:r>
            <a:endParaRPr lang="es-ES" dirty="0">
              <a:solidFill>
                <a:srgbClr val="5CBDC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15763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5D82F-3F82-840E-8038-66D09103B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BC3642E-723B-E217-5B74-A302E5AE353D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Marcador de texto 8">
            <a:extLst>
              <a:ext uri="{FF2B5EF4-FFF2-40B4-BE49-F238E27FC236}">
                <a16:creationId xmlns:a16="http://schemas.microsoft.com/office/drawing/2014/main" id="{48253FE2-59E3-71BE-8BC1-834111753C21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41A99D28-00AA-F0DB-304D-BEB19664969D}"/>
              </a:ext>
            </a:extLst>
          </p:cNvPr>
          <p:cNvSpPr txBox="1">
            <a:spLocks/>
          </p:cNvSpPr>
          <p:nvPr/>
        </p:nvSpPr>
        <p:spPr>
          <a:xfrm>
            <a:off x="457200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1 – Eliminación de Marruecos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D8A109E6-5A66-17CD-6180-4E4A14599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9" y="567265"/>
            <a:ext cx="3835450" cy="428413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0A2CEC5A-8DB3-BFEA-07C5-A01C554BBB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567265"/>
            <a:ext cx="3835450" cy="428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18760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0251E-5827-62B9-A3DE-AD900D549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373BDF8E-D95E-EC8C-41FE-4477C6DD41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678" y="0"/>
            <a:ext cx="630064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594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90BAB-8E0F-6911-25A8-37FB0C7C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FE142BB9-EA2E-7D8E-2CF6-1DA51D2254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1678" y="0"/>
            <a:ext cx="630064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4190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8C9B6-6DE3-DDEE-3593-48A598476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D5A1B4E-9E83-37B7-CA0A-F5375E6877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214" y="0"/>
            <a:ext cx="566357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5698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7561D-6B31-CE92-BA3C-78A91B24B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C3A3F9F-77C2-C839-1FF3-CCF2A7749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84" y="183404"/>
            <a:ext cx="6675120" cy="238834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FD1C4FC-64B4-25AE-A1A5-98588ABB03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484" y="2571750"/>
            <a:ext cx="6668996" cy="238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06822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02D597-FDC5-E22C-BFC8-0A8D36817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02845EC-B7FC-C0AF-34FE-8541F4A931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9" y="809624"/>
            <a:ext cx="3924299" cy="3924299"/>
          </a:xfrm>
          <a:prstGeom prst="rect">
            <a:avLst/>
          </a:prstGeom>
        </p:spPr>
      </p:pic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86D92552-E84E-96E8-68B2-AA1FBD8B7707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EE972782-5B9F-C129-CFF9-C1356EC386BE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E0326616-D270-FF81-3FCB-D3BC4841CAB9}"/>
              </a:ext>
            </a:extLst>
          </p:cNvPr>
          <p:cNvSpPr txBox="1">
            <a:spLocks/>
          </p:cNvSpPr>
          <p:nvPr/>
        </p:nvSpPr>
        <p:spPr>
          <a:xfrm>
            <a:off x="457200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3 – Ammonia High y Low Band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E5B2038-1935-3AF9-1B5C-545B1362C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02" y="809623"/>
            <a:ext cx="3924299" cy="392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32722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A33D4-7DE0-5744-2BAC-383F36647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86B61F2-A876-7C37-3503-C04CF4CCD5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74778" y="2200785"/>
            <a:ext cx="6794443" cy="741930"/>
          </a:xfrm>
        </p:spPr>
        <p:txBody>
          <a:bodyPr/>
          <a:lstStyle/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Sensibilidad 2: </a:t>
            </a:r>
          </a:p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Reducción Demanda de Eliquids H2 España</a:t>
            </a:r>
          </a:p>
        </p:txBody>
      </p:sp>
    </p:spTree>
    <p:extLst>
      <p:ext uri="{BB962C8B-B14F-4D97-AF65-F5344CB8AC3E}">
        <p14:creationId xmlns:p14="http://schemas.microsoft.com/office/powerpoint/2010/main" val="42422768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F54B7-FED5-2C10-5DBA-ED5CDF141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B591C8C-9DAF-61CA-F146-DD197DD0B0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5149" y="381000"/>
            <a:ext cx="5173702" cy="422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3192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D89C2-2F05-B733-E9FF-35F0CC4A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0AF57E1E-B5CF-5332-08BE-90DD710DE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40" y="657955"/>
            <a:ext cx="3626136" cy="194131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3517CC9-DCEA-E6CC-D76A-922E1F3002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140" y="2654300"/>
            <a:ext cx="3626136" cy="1941316"/>
          </a:xfrm>
          <a:prstGeom prst="rect">
            <a:avLst/>
          </a:prstGeom>
        </p:spPr>
      </p:pic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3F1DB16E-AFB1-5EB2-FC06-2CDB61F42D9E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Marcador de texto 8">
            <a:extLst>
              <a:ext uri="{FF2B5EF4-FFF2-40B4-BE49-F238E27FC236}">
                <a16:creationId xmlns:a16="http://schemas.microsoft.com/office/drawing/2014/main" id="{9158C862-7F0C-0C61-8B81-5F99090B1DE5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14" name="Marcador de texto 8">
            <a:extLst>
              <a:ext uri="{FF2B5EF4-FFF2-40B4-BE49-F238E27FC236}">
                <a16:creationId xmlns:a16="http://schemas.microsoft.com/office/drawing/2014/main" id="{14D195C8-2146-F044-3EF1-CC1892B2D24E}"/>
              </a:ext>
            </a:extLst>
          </p:cNvPr>
          <p:cNvSpPr txBox="1">
            <a:spLocks/>
          </p:cNvSpPr>
          <p:nvPr/>
        </p:nvSpPr>
        <p:spPr>
          <a:xfrm>
            <a:off x="4749801" y="210952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2 – Reducción 37% Eliquids España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D2C185B-9614-6F71-B2A3-F0D19CD956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666422"/>
            <a:ext cx="3626136" cy="19328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85ADF76-ABF5-6E8D-855E-4D52A30CD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654300"/>
            <a:ext cx="3754505" cy="1941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13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9F72D-A5B7-62DA-7F33-8DB47CF7B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78E27BAA-19C6-89C8-3B53-DC66557D2F67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Marcador de texto 8">
            <a:extLst>
              <a:ext uri="{FF2B5EF4-FFF2-40B4-BE49-F238E27FC236}">
                <a16:creationId xmlns:a16="http://schemas.microsoft.com/office/drawing/2014/main" id="{43263780-FF1A-C7AC-97F2-0F0C2CF138B5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672B81A5-5C82-EAAB-028E-29A06572FE8E}"/>
              </a:ext>
            </a:extLst>
          </p:cNvPr>
          <p:cNvSpPr txBox="1">
            <a:spLocks/>
          </p:cNvSpPr>
          <p:nvPr/>
        </p:nvSpPr>
        <p:spPr>
          <a:xfrm>
            <a:off x="457200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2 - Reducción 37% Eliquids España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B05287A8-B0DF-F173-3243-584E1B8A9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9" y="567265"/>
            <a:ext cx="3835450" cy="4284133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1A38D4D-24DA-8C55-963B-77C47E90EE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623550"/>
            <a:ext cx="3835450" cy="4171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77713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D40C3-7526-D338-1D6A-E32CC04B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6B303486-23A2-7BF7-B54B-E66CDC2204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6758" y="281704"/>
            <a:ext cx="5610484" cy="458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790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DEDA0-3C3B-9D7A-B125-E9814F66A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8718B927-022C-6ABF-4D83-2A23BE6C9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019" y="228600"/>
            <a:ext cx="5603962" cy="4574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231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29F32-66EF-ECF2-A9A9-8F47CF820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5236968B-FA9E-1066-552C-772D4767E5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1207" y="282435"/>
            <a:ext cx="5041586" cy="4578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3694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DB075-EA32-64FB-7337-A040E73CF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F929DAF5-B1E8-B60F-59CC-83FAEC393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670" y="184768"/>
            <a:ext cx="6804660" cy="2386982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F2A83E9-122B-BCDD-CD2C-B55860C4DD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9670" y="2571750"/>
            <a:ext cx="6804660" cy="243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9344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EE112-3A7F-4FBF-C39A-35E693D28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7D43D4A-A864-E22C-0891-D1BDC21C6E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03045"/>
            <a:ext cx="3992880" cy="3992880"/>
          </a:xfrm>
          <a:prstGeom prst="rect">
            <a:avLst/>
          </a:prstGeom>
        </p:spPr>
      </p:pic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585FF229-90D0-3A74-CEF2-B97E32F05BC0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0D5DE707-72E3-92C6-2742-1D5A5DC6A3C6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8" name="Marcador de texto 8">
            <a:extLst>
              <a:ext uri="{FF2B5EF4-FFF2-40B4-BE49-F238E27FC236}">
                <a16:creationId xmlns:a16="http://schemas.microsoft.com/office/drawing/2014/main" id="{C213A988-A892-17AC-47DD-A3F3B4A01106}"/>
              </a:ext>
            </a:extLst>
          </p:cNvPr>
          <p:cNvSpPr txBox="1">
            <a:spLocks/>
          </p:cNvSpPr>
          <p:nvPr/>
        </p:nvSpPr>
        <p:spPr>
          <a:xfrm>
            <a:off x="457200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3 – Ammonia High y Low Band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789E7AF5-8FB4-EC5C-2000-03E37C611F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02" y="809623"/>
            <a:ext cx="3924299" cy="392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3243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C61D3-CC6C-991F-5A36-4FC8260A0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3D3E7BC-CE59-BFFB-48BA-D826CC682EF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174778" y="2200785"/>
            <a:ext cx="6794443" cy="741930"/>
          </a:xfrm>
        </p:spPr>
        <p:txBody>
          <a:bodyPr/>
          <a:lstStyle/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Sensibilidad 3: </a:t>
            </a:r>
          </a:p>
          <a:p>
            <a:pPr algn="ctr">
              <a:spcBef>
                <a:spcPct val="20000"/>
              </a:spcBef>
            </a:pPr>
            <a:r>
              <a:rPr lang="es-ES" sz="2200" b="1" dirty="0">
                <a:solidFill>
                  <a:srgbClr val="5CBDCA"/>
                </a:solidFill>
                <a:latin typeface="+mn-lt"/>
                <a:ea typeface="+mn-ea"/>
              </a:rPr>
              <a:t>Ammonia High y Low Band</a:t>
            </a:r>
          </a:p>
        </p:txBody>
      </p:sp>
    </p:spTree>
    <p:extLst>
      <p:ext uri="{BB962C8B-B14F-4D97-AF65-F5344CB8AC3E}">
        <p14:creationId xmlns:p14="http://schemas.microsoft.com/office/powerpoint/2010/main" val="20740166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B939C-D591-9E64-88B1-288C147CD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C38AE2BB-6338-A87A-080E-8E6F94873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40" y="657955"/>
            <a:ext cx="3626136" cy="1941317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DC241651-44F9-BE9B-36B1-E37999147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140" y="2654300"/>
            <a:ext cx="3626136" cy="1941316"/>
          </a:xfrm>
          <a:prstGeom prst="rect">
            <a:avLst/>
          </a:prstGeom>
        </p:spPr>
      </p:pic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B9EB9FC8-F2B5-9BBB-03DB-0BA010756958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Marcador de texto 8">
            <a:extLst>
              <a:ext uri="{FF2B5EF4-FFF2-40B4-BE49-F238E27FC236}">
                <a16:creationId xmlns:a16="http://schemas.microsoft.com/office/drawing/2014/main" id="{50C3CA5C-FFBA-F523-78C9-1FE91D1B9966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14" name="Marcador de texto 8">
            <a:extLst>
              <a:ext uri="{FF2B5EF4-FFF2-40B4-BE49-F238E27FC236}">
                <a16:creationId xmlns:a16="http://schemas.microsoft.com/office/drawing/2014/main" id="{A90573E2-C670-2B6E-DA81-C82A5BF4B536}"/>
              </a:ext>
            </a:extLst>
          </p:cNvPr>
          <p:cNvSpPr txBox="1">
            <a:spLocks/>
          </p:cNvSpPr>
          <p:nvPr/>
        </p:nvSpPr>
        <p:spPr>
          <a:xfrm>
            <a:off x="4749801" y="210952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3 – Ammonia High y Low Band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4C12A54-26FD-541D-1E27-CDA6BB242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801" y="2599272"/>
            <a:ext cx="3688796" cy="194131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C5C90F2-3D0A-7F66-C8F0-9F7CAB88BA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8125" y="679122"/>
            <a:ext cx="3626136" cy="1892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2869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65B66-ACC1-4A75-B954-3FDAA8DAF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CCA7AB39-7E9D-6822-1C1B-9B73DEC8770C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Marcador de texto 8">
            <a:extLst>
              <a:ext uri="{FF2B5EF4-FFF2-40B4-BE49-F238E27FC236}">
                <a16:creationId xmlns:a16="http://schemas.microsoft.com/office/drawing/2014/main" id="{FB46AD8A-B34A-23ED-F87A-D8A70D6BE941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44A612D5-17C7-89EA-4946-C0618E5CC4CE}"/>
              </a:ext>
            </a:extLst>
          </p:cNvPr>
          <p:cNvSpPr txBox="1">
            <a:spLocks/>
          </p:cNvSpPr>
          <p:nvPr/>
        </p:nvSpPr>
        <p:spPr>
          <a:xfrm>
            <a:off x="457200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3 – Ammonia High y Low Band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C66A6ED-2F7F-FCFF-7BB2-CEEBD5CC9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9" y="567265"/>
            <a:ext cx="3835450" cy="428413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4D6FC096-3F26-4FD0-D295-4B2D3CC2E8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596473"/>
            <a:ext cx="3855766" cy="422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3635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A5B18-BA90-1D89-E260-EEF0330DD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D8D0CDB-426C-330A-3EB1-236B0BC55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250" y="0"/>
            <a:ext cx="51435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32639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88353-1CFD-AC8B-AFB7-51F8BCE80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F240C518-0867-9F71-EEF2-93C7CD61E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5218" y="0"/>
            <a:ext cx="62935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17003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608E-1E8D-C9C1-BB1A-EEF3B8529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4130BFD-9AA9-8CD8-632D-1B07490AC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214" y="0"/>
            <a:ext cx="566357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594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54993-E68B-BAB8-3A3B-C4F5E0265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11FA550-47C6-72A0-B124-35DB2F3A24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11057"/>
            <a:ext cx="6096000" cy="218113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D985F51-1109-065B-D75A-24226B2AA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9597" y="2588352"/>
            <a:ext cx="6090403" cy="218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2474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C2B3-95AE-3E7D-0522-FB0BC62D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B48113E1-3D9F-64C4-AC19-39F577F5FA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776375"/>
            <a:ext cx="4046220" cy="4046220"/>
          </a:xfrm>
          <a:prstGeom prst="rect">
            <a:avLst/>
          </a:prstGeom>
        </p:spPr>
      </p:pic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8AE3ABDE-D6B5-C994-2DE4-12346D979443}"/>
              </a:ext>
            </a:extLst>
          </p:cNvPr>
          <p:cNvCxnSpPr/>
          <p:nvPr/>
        </p:nvCxnSpPr>
        <p:spPr>
          <a:xfrm>
            <a:off x="4394200" y="211667"/>
            <a:ext cx="0" cy="47074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Marcador de texto 8">
            <a:extLst>
              <a:ext uri="{FF2B5EF4-FFF2-40B4-BE49-F238E27FC236}">
                <a16:creationId xmlns:a16="http://schemas.microsoft.com/office/drawing/2014/main" id="{7550D77E-A770-2EE4-A4CF-51909C2FBDE5}"/>
              </a:ext>
            </a:extLst>
          </p:cNvPr>
          <p:cNvSpPr txBox="1">
            <a:spLocks/>
          </p:cNvSpPr>
          <p:nvPr/>
        </p:nvSpPr>
        <p:spPr>
          <a:xfrm>
            <a:off x="47414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Modelo Base</a:t>
            </a:r>
            <a:endParaRPr lang="es-ES" dirty="0">
              <a:solidFill>
                <a:srgbClr val="5CBDCA"/>
              </a:solidFill>
            </a:endParaRP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12" name="Marcador de texto 8">
            <a:extLst>
              <a:ext uri="{FF2B5EF4-FFF2-40B4-BE49-F238E27FC236}">
                <a16:creationId xmlns:a16="http://schemas.microsoft.com/office/drawing/2014/main" id="{8274FD39-2192-BBA4-572B-FF2021E4F0B9}"/>
              </a:ext>
            </a:extLst>
          </p:cNvPr>
          <p:cNvSpPr txBox="1">
            <a:spLocks/>
          </p:cNvSpPr>
          <p:nvPr/>
        </p:nvSpPr>
        <p:spPr>
          <a:xfrm>
            <a:off x="4572000" y="224367"/>
            <a:ext cx="5206800" cy="45547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b="1" dirty="0">
                <a:solidFill>
                  <a:srgbClr val="5CBDCA"/>
                </a:solidFill>
              </a:rPr>
              <a:t>Sensibilidad 3 – Ammonia High y Low Band</a:t>
            </a:r>
            <a:endParaRPr lang="es-ES" dirty="0">
              <a:solidFill>
                <a:srgbClr val="5CBDCA"/>
              </a:solidFill>
            </a:endParaRP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5FA46F1-247F-DFB0-4051-4EC507A50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102" y="809623"/>
            <a:ext cx="3924299" cy="3924299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B0450AF2-C74F-819C-BF38-BE617BAF6C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2" y="962023"/>
            <a:ext cx="3924299" cy="3924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50584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A521F-57A2-B4B6-25F2-F30765DA6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8">
            <a:extLst>
              <a:ext uri="{FF2B5EF4-FFF2-40B4-BE49-F238E27FC236}">
                <a16:creationId xmlns:a16="http://schemas.microsoft.com/office/drawing/2014/main" id="{28C9E20D-EDD6-DA9A-C967-BC3F79E103FC}"/>
              </a:ext>
            </a:extLst>
          </p:cNvPr>
          <p:cNvSpPr txBox="1">
            <a:spLocks/>
          </p:cNvSpPr>
          <p:nvPr/>
        </p:nvSpPr>
        <p:spPr>
          <a:xfrm>
            <a:off x="350258" y="771420"/>
            <a:ext cx="7940341" cy="284384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10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dirty="0"/>
              <a:t>Hemos tenido que fijar el flujo de Irún Larrao, es decir, obligar al modelo a que envíe ese flujo por la interconexión. Para </a:t>
            </a:r>
            <a:r>
              <a:rPr lang="es-ES" dirty="0" err="1"/>
              <a:t>dispatching</a:t>
            </a:r>
            <a:r>
              <a:rPr lang="es-ES" dirty="0"/>
              <a:t> se eliminará esa restricción, de forma que las sensibilidades puedan aplicarse correctamente. </a:t>
            </a:r>
          </a:p>
          <a:p>
            <a:pPr marL="0" indent="0" algn="just">
              <a:buNone/>
            </a:pPr>
            <a:r>
              <a:rPr lang="es-ES" dirty="0"/>
              <a:t>Hay ciertas diferencias en el modelo implementado de PyPSA respecto al modelo objetivo o modelo de referencia. Esto es debido a:</a:t>
            </a:r>
          </a:p>
          <a:p>
            <a:pPr algn="just">
              <a:buFontTx/>
              <a:buChar char="-"/>
            </a:pPr>
            <a:r>
              <a:rPr lang="es-ES" dirty="0"/>
              <a:t>Como el tiempo de estudio de nuestro modelo es de 1 semana, existen lógicas diferentes aplicadas al optimizar, por ejemplo, en los almacenamientos de </a:t>
            </a:r>
            <a:r>
              <a:rPr lang="es-ES" dirty="0" err="1"/>
              <a:t>h2</a:t>
            </a:r>
            <a:r>
              <a:rPr lang="es-ES" dirty="0"/>
              <a:t>. Esta es una de las razones por las que en el modelo de PyPSA la generación de </a:t>
            </a:r>
            <a:r>
              <a:rPr lang="es-ES" dirty="0" err="1"/>
              <a:t>h2</a:t>
            </a:r>
            <a:r>
              <a:rPr lang="es-ES" dirty="0"/>
              <a:t> desde el mercado eléctrico no es completamente igual, ni tampoco los almacenamientos. Como el modelo objetivo tiene 8736 h, en la hora 168 y anteriores prioriza una lógica y optimización diferente, teniendo en cuenta que debe almacenar </a:t>
            </a:r>
            <a:r>
              <a:rPr lang="es-ES" dirty="0" err="1"/>
              <a:t>h2</a:t>
            </a:r>
            <a:r>
              <a:rPr lang="es-ES" dirty="0"/>
              <a:t> para posibles horas futuras, algo que no ocurre en el modelo implementado en PyPSA.</a:t>
            </a:r>
          </a:p>
          <a:p>
            <a:pPr algn="just">
              <a:buFontTx/>
              <a:buChar char="-"/>
            </a:pPr>
            <a:r>
              <a:rPr lang="es-ES" dirty="0"/>
              <a:t>Simplicidad nodo de FR, donde solo buscamos obtener datos sobre las interconexiones, y no tanto sobre la generación que se utiliza. Esto repercute en una representación poco precisa de los precios para el nodo de Francia, que no se analizan. </a:t>
            </a:r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  <a:p>
            <a:pPr marL="0" indent="0" algn="just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4624343"/>
      </p:ext>
    </p:extLst>
  </p:cSld>
  <p:clrMapOvr>
    <a:masterClrMapping/>
  </p:clrMapOvr>
</p:sld>
</file>

<file path=ppt/theme/theme1.xml><?xml version="1.0" encoding="utf-8"?>
<a:theme xmlns:a="http://schemas.openxmlformats.org/drawingml/2006/main" name="PORTADAS">
  <a:themeElements>
    <a:clrScheme name="Enagás">
      <a:dk1>
        <a:sysClr val="windowText" lastClr="000000"/>
      </a:dk1>
      <a:lt1>
        <a:srgbClr val="FFFFFF"/>
      </a:lt1>
      <a:dk2>
        <a:srgbClr val="1F497D"/>
      </a:dk2>
      <a:lt2>
        <a:srgbClr val="EEECE1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02338034-3F79-4D1A-9BAE-DD2EA4FD57D0}"/>
    </a:ext>
  </a:extLst>
</a:theme>
</file>

<file path=ppt/theme/theme2.xml><?xml version="1.0" encoding="utf-8"?>
<a:theme xmlns:a="http://schemas.openxmlformats.org/drawingml/2006/main" name="ÍNDICES">
  <a:themeElements>
    <a:clrScheme name="Enagás">
      <a:dk1>
        <a:sysClr val="windowText" lastClr="000000"/>
      </a:dk1>
      <a:lt1>
        <a:srgbClr val="FFFFFF"/>
      </a:lt1>
      <a:dk2>
        <a:srgbClr val="1F497D"/>
      </a:dk2>
      <a:lt2>
        <a:srgbClr val="EEECE1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000FF"/>
      </a:hlink>
      <a:folHlink>
        <a:srgbClr val="800080"/>
      </a:folHlink>
    </a:clrScheme>
    <a:fontScheme name="Aspecto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943A63E2-ED05-45AC-B051-D66F09AFDE9C}"/>
    </a:ext>
  </a:extLst>
</a:theme>
</file>

<file path=ppt/theme/theme3.xml><?xml version="1.0" encoding="utf-8"?>
<a:theme xmlns:a="http://schemas.openxmlformats.org/drawingml/2006/main" name="1_SLIDE BASE ">
  <a:themeElements>
    <a:clrScheme name="Enagá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563C1"/>
      </a:hlink>
      <a:folHlink>
        <a:srgbClr val="954F72"/>
      </a:folHlink>
    </a:clrScheme>
    <a:fontScheme name="Personalizado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accent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Presentación1" id="{B05A2A09-AB1E-49F4-8EF5-852076001084}" vid="{7A27A82D-3FA2-4480-BBB2-244A982ECB2D}"/>
    </a:ext>
  </a:extLst>
</a:theme>
</file>

<file path=ppt/theme/theme4.xml><?xml version="1.0" encoding="utf-8"?>
<a:theme xmlns:a="http://schemas.openxmlformats.org/drawingml/2006/main" name="CIERRES">
  <a:themeElements>
    <a:clrScheme name="Enagá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7AAE"/>
      </a:accent1>
      <a:accent2>
        <a:srgbClr val="9CB700"/>
      </a:accent2>
      <a:accent3>
        <a:srgbClr val="63666A"/>
      </a:accent3>
      <a:accent4>
        <a:srgbClr val="00B5E2"/>
      </a:accent4>
      <a:accent5>
        <a:srgbClr val="FFB81C"/>
      </a:accent5>
      <a:accent6>
        <a:srgbClr val="FFFFFF"/>
      </a:accent6>
      <a:hlink>
        <a:srgbClr val="0563C1"/>
      </a:hlink>
      <a:folHlink>
        <a:srgbClr val="954F72"/>
      </a:folHlink>
    </a:clrScheme>
    <a:fontScheme name="Personalizado 1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B05A2A09-AB1E-49F4-8EF5-852076001084}" vid="{040286F5-0FC6-4904-98C2-46ACE7C66119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3C8A6744A6DACA4A85F5717C91CAF9DF" ma:contentTypeVersion="11" ma:contentTypeDescription="Crear nuevo documento." ma:contentTypeScope="" ma:versionID="42cd996d4ababeb757980679842f76ac">
  <xsd:schema xmlns:xsd="http://www.w3.org/2001/XMLSchema" xmlns:xs="http://www.w3.org/2001/XMLSchema" xmlns:p="http://schemas.microsoft.com/office/2006/metadata/properties" xmlns:ns2="1841eac5-b4b0-4244-b60a-f629dbdcb0cc" xmlns:ns3="779a45df-2b94-4221-a031-b06477108c1e" targetNamespace="http://schemas.microsoft.com/office/2006/metadata/properties" ma:root="true" ma:fieldsID="a0d098d53da39906cc42df1f6f8a2fa4" ns2:_="" ns3:_="">
    <xsd:import namespace="1841eac5-b4b0-4244-b60a-f629dbdcb0cc"/>
    <xsd:import namespace="779a45df-2b94-4221-a031-b06477108c1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41eac5-b4b0-4244-b60a-f629dbdcb0c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63893423-6642-4e46-86c7-65b14e417bc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9a45df-2b94-4221-a031-b06477108c1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4525e18-e4f9-4cd8-b371-15e4b6538c6c}" ma:internalName="TaxCatchAll" ma:showField="CatchAllData" ma:web="779a45df-2b94-4221-a031-b06477108c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41eac5-b4b0-4244-b60a-f629dbdcb0cc">
      <Terms xmlns="http://schemas.microsoft.com/office/infopath/2007/PartnerControls"/>
    </lcf76f155ced4ddcb4097134ff3c332f>
    <TaxCatchAll xmlns="779a45df-2b94-4221-a031-b06477108c1e" xsi:nil="true"/>
  </documentManagement>
</p:properties>
</file>

<file path=customXml/itemProps1.xml><?xml version="1.0" encoding="utf-8"?>
<ds:datastoreItem xmlns:ds="http://schemas.openxmlformats.org/officeDocument/2006/customXml" ds:itemID="{E93EC387-034B-467B-B689-C474C0F6BCF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85BF74C-44D6-4605-A98C-D192D7559C5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41eac5-b4b0-4244-b60a-f629dbdcb0cc"/>
    <ds:schemaRef ds:uri="779a45df-2b94-4221-a031-b06477108c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631F27C-6E9E-417F-B2FD-B2DC2B14F772}">
  <ds:schemaRefs>
    <ds:schemaRef ds:uri="http://purl.org/dc/elements/1.1/"/>
    <ds:schemaRef ds:uri="http://schemas.microsoft.com/office/2006/metadata/properties"/>
    <ds:schemaRef ds:uri="779a45df-2b94-4221-a031-b06477108c1e"/>
    <ds:schemaRef ds:uri="1841eac5-b4b0-4244-b60a-f629dbdcb0cc"/>
    <ds:schemaRef ds:uri="http://purl.org/dc/dcmitype/"/>
    <ds:schemaRef ds:uri="http://www.w3.org/XML/1998/namespa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1 - Plantilla PPT Enagás</Template>
  <TotalTime>1038</TotalTime>
  <Words>7027</Words>
  <Application>Microsoft Office PowerPoint</Application>
  <PresentationFormat>Presentación en pantalla (16:9)</PresentationFormat>
  <Paragraphs>475</Paragraphs>
  <Slides>61</Slides>
  <Notes>53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4</vt:i4>
      </vt:variant>
      <vt:variant>
        <vt:lpstr>Títulos de diapositiva</vt:lpstr>
      </vt:variant>
      <vt:variant>
        <vt:i4>61</vt:i4>
      </vt:variant>
    </vt:vector>
  </HeadingPairs>
  <TitlesOfParts>
    <vt:vector size="69" baseType="lpstr">
      <vt:lpstr>Cambria Math</vt:lpstr>
      <vt:lpstr>Enagás PT Serif</vt:lpstr>
      <vt:lpstr>Verdana</vt:lpstr>
      <vt:lpstr>Arial</vt:lpstr>
      <vt:lpstr>PORTADAS</vt:lpstr>
      <vt:lpstr>ÍNDICES</vt:lpstr>
      <vt:lpstr>1_SLIDE BASE </vt:lpstr>
      <vt:lpstr>CIERRES</vt:lpstr>
      <vt:lpstr>Presentación de PowerPoint</vt:lpstr>
      <vt:lpstr>Índice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Batres Fernandez, Ana</dc:creator>
  <cp:keywords/>
  <dc:description/>
  <cp:lastModifiedBy>Batres Fernandez, Ana</cp:lastModifiedBy>
  <cp:revision>10</cp:revision>
  <cp:lastPrinted>2023-10-10T14:09:26Z</cp:lastPrinted>
  <dcterms:created xsi:type="dcterms:W3CDTF">2026-05-21T06:32:14Z</dcterms:created>
  <dcterms:modified xsi:type="dcterms:W3CDTF">2026-06-05T12:24:49Z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0x0101003C8A6744A6DACA4A85F5717C91CAF9DF</vt:lpwstr>
  </property>
  <property fmtid="{D5CDD505-2E9C-101B-9397-08002B2CF9AE}" pid="3" name="MediaServiceImageTags">
    <vt:lpwstr/>
  </property>
</Properties>
</file>