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2" r:id="rId4"/>
    <p:sldId id="261" r:id="rId5"/>
    <p:sldId id="260" r:id="rId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950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3DF9CF-6508-A1B5-D259-29B06E8E04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2A104AD-BE19-0860-282E-280245F90B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32990F0-2A81-8110-88E1-F84783B5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6B9F80-45FE-1F9A-CCA0-92DA8F897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A287018-584F-2EEA-E091-AC42CB13A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04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8F35DD-675A-8D1C-B270-382888D23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45E7993-463A-5254-A6B7-4FA5A681C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8485A3-20AD-2034-C78D-AEA50D3A8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5298EEE-9C85-72AF-F8D0-B6F9EDB26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C6BBF0-770E-BECE-40AF-3D0B75B22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88188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E7E34-A6E6-F3D5-3E1A-BE669C6A5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8A6D4B-4F0F-1150-5915-AEA5F24B9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8BE372-BAD2-3B2C-83F1-1D6BB5DAD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A9F9129-A179-F008-5ED6-6FDB24E12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79465F-F0F2-3D93-24B5-098185895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06979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E2E01F-0A86-18BF-89EB-13C0F152C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A89BFF-16F7-D99A-DD20-084AAB8480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808783D-B69C-5DF1-0FB0-71E76FBD86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9B360C9-C770-1021-F003-539BC8A26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0D7BE3B-4F78-8C4C-04F0-798C1020F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5CCEBF-513D-B636-D7EE-20A90ACA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08821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3B2336-385A-8B9C-36CB-E50A63E24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35AE46A-5F87-49AC-D9CD-4376F93EE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BB18083-F69D-FEF3-D5E6-7B9C4BCECA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DC14F38-D9B4-F19D-F36E-1E275C7E3A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F285A7C-845A-9AD3-5E0B-40E660138F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7705E36-BA9D-54A1-F900-1F3EEAE3C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1645244-BC15-2BD3-20A2-6940727EC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16495A0-4452-0EB7-EECE-50D15481C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906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B52E00-9191-67C9-4275-74C3C500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B153DA8-AD5E-3319-C74B-C6C3AFE81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5DBCD64-BAE8-8CE2-0EF3-6E0AAA62A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983120E-6BF7-EC73-AC1D-15DF5036F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377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C893CB2-77DF-E0BC-B2EC-38BED049E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AE9D3C4-DE0C-D136-B044-CB109F4BB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6C1453C-84D6-332D-2DAD-81D927876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5243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8C615A-5F46-0F15-1F36-98E5E4912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85D66A-7AE5-F8A3-457B-76AC1C4E8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44A6416-5728-CCF1-AD3D-037ED63B3A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F703108-35C5-45AB-A1A2-162AF9D9D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1D6E5D2-9077-30A8-CAFE-EFD998856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A00B06A-B1D4-56F6-656F-AEFBB971E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705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919A45-68E6-006B-E1E9-8BFDF0479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4677B8A-500A-0EE0-B8E3-D33ABC6571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B1C7F0-180D-67EE-139E-1B0A65593A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025CB33-A211-EC09-A0C5-3D4306359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7D6C4C3-0164-BB6E-3F17-8DE4048EA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B3531FD-0D5C-C9E3-82F3-E264F6DE7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544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6450B2-718B-EFE8-BCA3-B5642B6CC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610124D-EE27-03FF-4C5B-1A98042DC9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E7451C1-9A5F-27C3-4082-4C8A29B8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23F485-1CA8-5CDE-FD5D-3EE5D7E23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4F59FD-40FC-F1B8-152D-370023CA9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1270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DB652D9-9A74-03FF-6E06-71EC393DE6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5697319-99AF-D5C0-FD7A-78A44C8BB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10C0E1-E37D-62F5-FD5A-C283A2867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494235B-55AC-0235-EB8A-C433268F8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7EE9BA-1B43-F403-39DF-86301F780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9400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2771234-B28B-C6B7-19D2-98A8D3ACA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03133-1F1C-9EE5-CF9D-77430198B8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CE7770C-97E6-4FA1-D2B6-0F6941D2BC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783434-823D-4D47-95A2-ACDC8AEE4C3F}" type="datetimeFigureOut">
              <a:rPr lang="es-ES" smtClean="0"/>
              <a:t>19/05/2026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4CF90C-851E-3B26-65CB-0D96AEE2C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610B529-FFDA-EEBA-500B-FB61F62799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577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ADD635-0807-86E9-CFDF-2CE436882E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b="1" dirty="0">
                <a:latin typeface="Arial Rounded MT Bold" panose="020F0704030504030204" pitchFamily="34" charset="0"/>
              </a:rPr>
              <a:t>BenchMarking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237B01F-29B6-6BB4-9F74-13185C5EBF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>
                <a:latin typeface="Arial Rounded MT Bold" panose="020F0704030504030204" pitchFamily="34" charset="0"/>
              </a:rPr>
              <a:t>Nuestro Modelito de Pypsa</a:t>
            </a:r>
          </a:p>
        </p:txBody>
      </p:sp>
    </p:spTree>
    <p:extLst>
      <p:ext uri="{BB962C8B-B14F-4D97-AF65-F5344CB8AC3E}">
        <p14:creationId xmlns:p14="http://schemas.microsoft.com/office/powerpoint/2010/main" val="752228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F02F-64EB-0AA1-7EAC-13F49D57B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9FE7F4-7AD5-F390-F79D-3E85898CE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69900"/>
            <a:ext cx="10934700" cy="617537"/>
          </a:xfrm>
        </p:spPr>
        <p:txBody>
          <a:bodyPr>
            <a:normAutofit fontScale="90000"/>
          </a:bodyPr>
          <a:lstStyle/>
          <a:p>
            <a:r>
              <a:rPr lang="es-ES" sz="4200" dirty="0">
                <a:latin typeface="Arial Rounded MT Bold" panose="020F0704030504030204" pitchFamily="34" charset="0"/>
              </a:rPr>
              <a:t>Modificaciones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74698B-27B8-7D05-4F19-245DDC0AC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0515600" cy="5439569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accent2"/>
                </a:solidFill>
                <a:latin typeface="Arial Rounded MT Bold" panose="020F0704030504030204" pitchFamily="34" charset="0"/>
              </a:rPr>
              <a:t>Generación Extra – Demandas Extras: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Los generadores y demandas que anteriormente se utilizaban en el modelito eran las obtenidas de las carpetas de resultados (para 2040 escenario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ws071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), y que eran correctos parcialmente. Debido a esto, nuestro modelito experimentaba unos resultados donde él load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shedding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estaba a la orden del día. A su vez el benchmarking de los generadores no era demasiado similar, aun teniendo perfiles y valores iguales. 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Esto hace que volvamos a repasar la carpeta de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TimeSeriesDashboard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(resultados del modelo de plexos desgranados para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ES,FR,PT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en 2040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ws071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). Aquí tenemos una visión más desglosada de cada generador por hora, intercambios, demandas… y vemos que: hay demandas y generaciones que no se están teniendo en cuenta, y que por poco que sean, posteriormente veríamos que marcan una diferencia a la hora de obtener resultados y realizar el benchmarking. </a:t>
            </a:r>
          </a:p>
          <a:p>
            <a:pPr marL="0" indent="0" algn="just">
              <a:buNone/>
            </a:pP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840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6ED54-E2A7-3CDA-5807-240A11A6B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A29B1E-FBD1-3D97-A669-71FCE98CC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69900"/>
            <a:ext cx="10934700" cy="617537"/>
          </a:xfrm>
        </p:spPr>
        <p:txBody>
          <a:bodyPr>
            <a:normAutofit fontScale="90000"/>
          </a:bodyPr>
          <a:lstStyle/>
          <a:p>
            <a:r>
              <a:rPr lang="es-ES" sz="4200" dirty="0">
                <a:latin typeface="Arial Rounded MT Bold" panose="020F0704030504030204" pitchFamily="34" charset="0"/>
              </a:rPr>
              <a:t>Modificaciones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9500957-D8FD-4AFD-A5DF-6AAD2B1CC7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7100" y="1253330"/>
            <a:ext cx="10515600" cy="5439569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accent2"/>
                </a:solidFill>
                <a:latin typeface="Arial Rounded MT Bold" panose="020F0704030504030204" pitchFamily="34" charset="0"/>
              </a:rPr>
              <a:t>Generación Extra – Demandas Extras: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De esta forma, se pusieron generadores extra en el modelo para poder cubrir esa generación restante, y se corrigieron los valores de las demandas. Obteniendo los siguientes datos base: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ESPAÑA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PORTUGAL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D7BF6754-E00D-00C9-3689-B8214C3F9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449727"/>
              </p:ext>
            </p:extLst>
          </p:nvPr>
        </p:nvGraphicFramePr>
        <p:xfrm>
          <a:off x="1028700" y="3077131"/>
          <a:ext cx="6007100" cy="48260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232898">
                  <a:extLst>
                    <a:ext uri="{9D8B030D-6E8A-4147-A177-3AD203B41FA5}">
                      <a16:colId xmlns:a16="http://schemas.microsoft.com/office/drawing/2014/main" val="691976120"/>
                    </a:ext>
                  </a:extLst>
                </a:gridCol>
                <a:gridCol w="983695">
                  <a:extLst>
                    <a:ext uri="{9D8B030D-6E8A-4147-A177-3AD203B41FA5}">
                      <a16:colId xmlns:a16="http://schemas.microsoft.com/office/drawing/2014/main" val="3909111179"/>
                    </a:ext>
                  </a:extLst>
                </a:gridCol>
                <a:gridCol w="918116">
                  <a:extLst>
                    <a:ext uri="{9D8B030D-6E8A-4147-A177-3AD203B41FA5}">
                      <a16:colId xmlns:a16="http://schemas.microsoft.com/office/drawing/2014/main" val="3670710511"/>
                    </a:ext>
                  </a:extLst>
                </a:gridCol>
                <a:gridCol w="1429638">
                  <a:extLst>
                    <a:ext uri="{9D8B030D-6E8A-4147-A177-3AD203B41FA5}">
                      <a16:colId xmlns:a16="http://schemas.microsoft.com/office/drawing/2014/main" val="1443637109"/>
                    </a:ext>
                  </a:extLst>
                </a:gridCol>
                <a:gridCol w="1442753">
                  <a:extLst>
                    <a:ext uri="{9D8B030D-6E8A-4147-A177-3AD203B41FA5}">
                      <a16:colId xmlns:a16="http://schemas.microsoft.com/office/drawing/2014/main" val="3974695899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Demanda Total </a:t>
                      </a:r>
                      <a:r>
                        <a:rPr lang="es-ES" sz="11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ES00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Native </a:t>
                      </a:r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Demand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Fixed</a:t>
                      </a: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Demand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Demanda Extra </a:t>
                      </a:r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Prosumer</a:t>
                      </a: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(</a:t>
                      </a:r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ES00RETE</a:t>
                      </a: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)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Demanda Extra Emarket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7252380"/>
                  </a:ext>
                </a:extLst>
              </a:tr>
            </a:tbl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3262392A-B9DC-B2BA-2827-08102A2C67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254725"/>
              </p:ext>
            </p:extLst>
          </p:nvPr>
        </p:nvGraphicFramePr>
        <p:xfrm>
          <a:off x="7321550" y="3073400"/>
          <a:ext cx="3733800" cy="46990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054799">
                  <a:extLst>
                    <a:ext uri="{9D8B030D-6E8A-4147-A177-3AD203B41FA5}">
                      <a16:colId xmlns:a16="http://schemas.microsoft.com/office/drawing/2014/main" val="2668085353"/>
                    </a:ext>
                  </a:extLst>
                </a:gridCol>
                <a:gridCol w="1298131">
                  <a:extLst>
                    <a:ext uri="{9D8B030D-6E8A-4147-A177-3AD203B41FA5}">
                      <a16:colId xmlns:a16="http://schemas.microsoft.com/office/drawing/2014/main" val="3899065426"/>
                    </a:ext>
                  </a:extLst>
                </a:gridCol>
                <a:gridCol w="1380870">
                  <a:extLst>
                    <a:ext uri="{9D8B030D-6E8A-4147-A177-3AD203B41FA5}">
                      <a16:colId xmlns:a16="http://schemas.microsoft.com/office/drawing/2014/main" val="1460939413"/>
                    </a:ext>
                  </a:extLst>
                </a:gridCol>
              </a:tblGrid>
              <a:tr h="46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effectLst/>
                        </a:rPr>
                        <a:t>Generador Extra </a:t>
                      </a:r>
                      <a:r>
                        <a:rPr lang="es-ES" sz="1100" b="1" u="none" strike="noStrike" dirty="0" err="1">
                          <a:effectLst/>
                        </a:rPr>
                        <a:t>ES00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Generador Extra </a:t>
                      </a:r>
                      <a:r>
                        <a:rPr lang="es-ES" sz="1100" u="none" strike="noStrike" dirty="0" err="1">
                          <a:effectLst/>
                        </a:rPr>
                        <a:t>Prosumer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Generador Extra Emarket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14905169"/>
                  </a:ext>
                </a:extLst>
              </a:tr>
            </a:tbl>
          </a:graphicData>
        </a:graphic>
      </p:graphicFrame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71A23B28-1D9E-340D-EBBB-77ABC5293E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245845"/>
              </p:ext>
            </p:extLst>
          </p:nvPr>
        </p:nvGraphicFramePr>
        <p:xfrm>
          <a:off x="1028700" y="3680777"/>
          <a:ext cx="4914900" cy="39370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384300">
                  <a:extLst>
                    <a:ext uri="{9D8B030D-6E8A-4147-A177-3AD203B41FA5}">
                      <a16:colId xmlns:a16="http://schemas.microsoft.com/office/drawing/2014/main" val="3359341341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1929998222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342013135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82035933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effectLst/>
                        </a:rPr>
                        <a:t>Demanda Total ESh2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Native </a:t>
                      </a:r>
                      <a:r>
                        <a:rPr lang="es-ES" sz="1100" u="none" strike="noStrike" dirty="0" err="1">
                          <a:effectLst/>
                        </a:rPr>
                        <a:t>Demand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>
                          <a:effectLst/>
                        </a:rPr>
                        <a:t>H2 to eLiquids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 err="1">
                          <a:effectLst/>
                        </a:rPr>
                        <a:t>H2</a:t>
                      </a:r>
                      <a:r>
                        <a:rPr lang="es-ES" sz="1100" u="none" strike="noStrike" dirty="0">
                          <a:effectLst/>
                        </a:rPr>
                        <a:t> Boiler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978145611"/>
                  </a:ext>
                </a:extLst>
              </a:tr>
            </a:tbl>
          </a:graphicData>
        </a:graphic>
      </p:graphicFrame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A7E0BC6D-F38B-4356-E740-8A23E1A1D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420580"/>
              </p:ext>
            </p:extLst>
          </p:nvPr>
        </p:nvGraphicFramePr>
        <p:xfrm>
          <a:off x="1028700" y="4605654"/>
          <a:ext cx="5994400" cy="34163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358900">
                  <a:extLst>
                    <a:ext uri="{9D8B030D-6E8A-4147-A177-3AD203B41FA5}">
                      <a16:colId xmlns:a16="http://schemas.microsoft.com/office/drawing/2014/main" val="2355321560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419167060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66259095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1811273988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97681241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effectLst/>
                        </a:rPr>
                        <a:t>Demanda Total </a:t>
                      </a:r>
                      <a:r>
                        <a:rPr lang="es-ES" sz="1100" b="1" u="none" strike="noStrike" dirty="0" err="1">
                          <a:effectLst/>
                        </a:rPr>
                        <a:t>PT00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Native </a:t>
                      </a:r>
                      <a:r>
                        <a:rPr lang="es-ES" sz="1100" u="none" strike="noStrike" dirty="0" err="1">
                          <a:effectLst/>
                        </a:rPr>
                        <a:t>Demand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>
                          <a:effectLst/>
                        </a:rPr>
                        <a:t>Fixed Demand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>
                          <a:effectLst/>
                        </a:rPr>
                        <a:t>Load Extra Emarket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Load Extra </a:t>
                      </a:r>
                      <a:r>
                        <a:rPr lang="es-ES" sz="1100" u="none" strike="noStrike" dirty="0" err="1">
                          <a:effectLst/>
                        </a:rPr>
                        <a:t>Prosumer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9316144"/>
                  </a:ext>
                </a:extLst>
              </a:tr>
            </a:tbl>
          </a:graphicData>
        </a:graphic>
      </p:graphicFrame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D47794F2-CD92-B586-7812-7EE8E9B07C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596858"/>
              </p:ext>
            </p:extLst>
          </p:nvPr>
        </p:nvGraphicFramePr>
        <p:xfrm>
          <a:off x="7321550" y="4605654"/>
          <a:ext cx="3733801" cy="34163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221763">
                  <a:extLst>
                    <a:ext uri="{9D8B030D-6E8A-4147-A177-3AD203B41FA5}">
                      <a16:colId xmlns:a16="http://schemas.microsoft.com/office/drawing/2014/main" val="1533948576"/>
                    </a:ext>
                  </a:extLst>
                </a:gridCol>
                <a:gridCol w="1256019">
                  <a:extLst>
                    <a:ext uri="{9D8B030D-6E8A-4147-A177-3AD203B41FA5}">
                      <a16:colId xmlns:a16="http://schemas.microsoft.com/office/drawing/2014/main" val="3962302812"/>
                    </a:ext>
                  </a:extLst>
                </a:gridCol>
                <a:gridCol w="1256019">
                  <a:extLst>
                    <a:ext uri="{9D8B030D-6E8A-4147-A177-3AD203B41FA5}">
                      <a16:colId xmlns:a16="http://schemas.microsoft.com/office/drawing/2014/main" val="1527019747"/>
                    </a:ext>
                  </a:extLst>
                </a:gridCol>
              </a:tblGrid>
              <a:tr h="1714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effectLst/>
                        </a:rPr>
                        <a:t>Generador Extra </a:t>
                      </a:r>
                      <a:r>
                        <a:rPr lang="es-ES" sz="1100" b="1" u="none" strike="noStrike" dirty="0" err="1">
                          <a:effectLst/>
                        </a:rPr>
                        <a:t>PT00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>
                          <a:effectLst/>
                        </a:rPr>
                        <a:t>Generador Extra Emarket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Generador Extra </a:t>
                      </a:r>
                      <a:r>
                        <a:rPr lang="es-ES" sz="1100" u="none" strike="noStrike" dirty="0" err="1">
                          <a:effectLst/>
                        </a:rPr>
                        <a:t>Prosumer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94301481"/>
                  </a:ext>
                </a:extLst>
              </a:tr>
            </a:tbl>
          </a:graphicData>
        </a:graphic>
      </p:graphicFrame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14573001-1348-1821-BE8E-99B0DC2BC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108446"/>
              </p:ext>
            </p:extLst>
          </p:nvPr>
        </p:nvGraphicFramePr>
        <p:xfrm>
          <a:off x="1028700" y="5084761"/>
          <a:ext cx="2768600" cy="39370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384300">
                  <a:extLst>
                    <a:ext uri="{9D8B030D-6E8A-4147-A177-3AD203B41FA5}">
                      <a16:colId xmlns:a16="http://schemas.microsoft.com/office/drawing/2014/main" val="2388911091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3832733987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effectLst/>
                        </a:rPr>
                        <a:t>Demanda Total </a:t>
                      </a:r>
                      <a:r>
                        <a:rPr lang="es-ES" sz="1100" b="1" u="none" strike="noStrike" dirty="0" err="1">
                          <a:effectLst/>
                        </a:rPr>
                        <a:t>PTh2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Native </a:t>
                      </a:r>
                      <a:r>
                        <a:rPr lang="es-ES" sz="1100" u="none" strike="noStrike" dirty="0" err="1">
                          <a:effectLst/>
                        </a:rPr>
                        <a:t>Demand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980126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3023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787AA-6B69-548E-A2A3-8490189B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831EB7-7BF8-9342-D593-BF5802F3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69900"/>
            <a:ext cx="10934700" cy="617537"/>
          </a:xfrm>
        </p:spPr>
        <p:txBody>
          <a:bodyPr>
            <a:normAutofit fontScale="90000"/>
          </a:bodyPr>
          <a:lstStyle/>
          <a:p>
            <a:r>
              <a:rPr lang="es-ES" sz="4200" dirty="0">
                <a:latin typeface="Arial Rounded MT Bold" panose="020F0704030504030204" pitchFamily="34" charset="0"/>
              </a:rPr>
              <a:t>Modificaciones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675C75-DAE9-CFFE-733E-2D5DE8422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0515600" cy="5439569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chemeClr val="accent2"/>
                </a:solidFill>
                <a:latin typeface="Arial Rounded MT Bold" panose="020F0704030504030204" pitchFamily="34" charset="0"/>
              </a:rPr>
              <a:t>FRh2SW:</a:t>
            </a:r>
          </a:p>
          <a:p>
            <a:pPr marL="0" indent="0">
              <a:buNone/>
            </a:pPr>
            <a:r>
              <a:rPr lang="es-ES" sz="1600" dirty="0">
                <a:latin typeface="Arial Rounded MT Bold" panose="020F0704030504030204" pitchFamily="34" charset="0"/>
              </a:rPr>
              <a:t>Lógica inicial: </a:t>
            </a:r>
          </a:p>
          <a:p>
            <a:pPr algn="just">
              <a:buFontTx/>
              <a:buChar char="-"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generador 1 = line flow FRh2SW – FRh2S.</a:t>
            </a:r>
          </a:p>
          <a:p>
            <a:pPr>
              <a:buFontTx/>
              <a:buChar char="-"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demanda 1 = line flow ESh2 – FRh2SW (Irún Larrao)</a:t>
            </a:r>
          </a:p>
          <a:p>
            <a:pPr>
              <a:buFontTx/>
              <a:buChar char="-"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un almacenamiento = generador 2 y load 2.</a:t>
            </a:r>
          </a:p>
          <a:p>
            <a:pPr marL="0" indent="0">
              <a:buNone/>
            </a:pPr>
            <a:r>
              <a:rPr lang="es-ES" sz="1600" dirty="0">
                <a:latin typeface="Arial Rounded MT Bold" panose="020F0704030504030204" pitchFamily="34" charset="0"/>
              </a:rPr>
              <a:t>Problemas a la lógica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Irún Larrao no coincide en nada, ya que utiliza los generadores del bus (descarga de batería y line Flow) para cubrir la demanda de FRh2SW correspondiente a Irún Larrao. 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LOAD de lo que tiene que enviar de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esh2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a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frsw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, no tiene sentido,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pq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se queda como un consumo en el mismo nodo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frsw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. En vez de enviarlo hacia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frh2s</a:t>
            </a: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s-ES" sz="1600" dirty="0">
                <a:latin typeface="Arial Rounded MT Bold" panose="020F0704030504030204" pitchFamily="34" charset="0"/>
              </a:rPr>
              <a:t>Solución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Obligar al link ESh2-FRh2SW tener el mismo flujo que el modelo del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TYNDP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. Eliminar Load FRh2SW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Generador FRh2SW 2: line flow FRh2SW-FRh2S + carga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h2storage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(load) – descarga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h2storage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(gen) – flujo desde ESh2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Load 1: carga de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h2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storage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FRh2SW</a:t>
            </a:r>
          </a:p>
        </p:txBody>
      </p:sp>
    </p:spTree>
    <p:extLst>
      <p:ext uri="{BB962C8B-B14F-4D97-AF65-F5344CB8AC3E}">
        <p14:creationId xmlns:p14="http://schemas.microsoft.com/office/powerpoint/2010/main" val="30308185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6EBDA1-CF2B-636B-6FA1-B626129FA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adroTexto 12">
            <a:extLst>
              <a:ext uri="{FF2B5EF4-FFF2-40B4-BE49-F238E27FC236}">
                <a16:creationId xmlns:a16="http://schemas.microsoft.com/office/drawing/2014/main" id="{CDB8CFE0-1826-2131-08BE-86D7CE8CEF9F}"/>
              </a:ext>
            </a:extLst>
          </p:cNvPr>
          <p:cNvSpPr txBox="1"/>
          <p:nvPr/>
        </p:nvSpPr>
        <p:spPr>
          <a:xfrm>
            <a:off x="1301750" y="467433"/>
            <a:ext cx="979805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s-ES" sz="1600" dirty="0">
                <a:latin typeface="Arial Rounded MT Bold" panose="020F0704030504030204" pitchFamily="34" charset="0"/>
              </a:rPr>
              <a:t>Explicación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La línea negra marca el flujo que será enviado del nodo FRh2SW al nodo FRh2S. La generación  del generador FRh2SW es el área de color azul (flujo a enviar-flujo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irunlarrao-descarga+carga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). En naranja el flujo (obligado) de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h2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enviado desde ESh2. en verde la generación debida a la descarga de las baterías.</a:t>
            </a:r>
            <a:endParaRPr lang="es-ES" sz="1600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52FAB9C5-6A58-1A30-062B-E250371FF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8064" y="1790872"/>
            <a:ext cx="7416936" cy="4840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7141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</TotalTime>
  <Words>487</Words>
  <Application>Microsoft Office PowerPoint</Application>
  <PresentationFormat>Panorámica</PresentationFormat>
  <Paragraphs>50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Arial Rounded MT Bold</vt:lpstr>
      <vt:lpstr>Tema de Office</vt:lpstr>
      <vt:lpstr>BenchMarking</vt:lpstr>
      <vt:lpstr>Modificaciones</vt:lpstr>
      <vt:lpstr>Modificaciones</vt:lpstr>
      <vt:lpstr>Modificaciones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Batres Fernandez, Ana</dc:creator>
  <cp:lastModifiedBy>Batres Fernandez, Ana</cp:lastModifiedBy>
  <cp:revision>2</cp:revision>
  <dcterms:created xsi:type="dcterms:W3CDTF">2026-05-19T08:05:01Z</dcterms:created>
  <dcterms:modified xsi:type="dcterms:W3CDTF">2026-05-19T15:01:08Z</dcterms:modified>
</cp:coreProperties>
</file>