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  <p:sldMasterId id="2147483786" r:id="rId5"/>
    <p:sldMasterId id="2147483761" r:id="rId6"/>
    <p:sldMasterId id="2147483788" r:id="rId7"/>
  </p:sldMasterIdLst>
  <p:notesMasterIdLst>
    <p:notesMasterId r:id="rId38"/>
  </p:notesMasterIdLst>
  <p:handoutMasterIdLst>
    <p:handoutMasterId r:id="rId39"/>
  </p:handoutMasterIdLst>
  <p:sldIdLst>
    <p:sldId id="3049" r:id="rId8"/>
    <p:sldId id="3050" r:id="rId9"/>
    <p:sldId id="3118" r:id="rId10"/>
    <p:sldId id="3119" r:id="rId11"/>
    <p:sldId id="3120" r:id="rId12"/>
    <p:sldId id="3121" r:id="rId13"/>
    <p:sldId id="3125" r:id="rId14"/>
    <p:sldId id="3122" r:id="rId15"/>
    <p:sldId id="3123" r:id="rId16"/>
    <p:sldId id="3124" r:id="rId17"/>
    <p:sldId id="3098" r:id="rId18"/>
    <p:sldId id="3127" r:id="rId19"/>
    <p:sldId id="3126" r:id="rId20"/>
    <p:sldId id="3143" r:id="rId21"/>
    <p:sldId id="3128" r:id="rId22"/>
    <p:sldId id="3130" r:id="rId23"/>
    <p:sldId id="3131" r:id="rId24"/>
    <p:sldId id="3133" r:id="rId25"/>
    <p:sldId id="3144" r:id="rId26"/>
    <p:sldId id="3129" r:id="rId27"/>
    <p:sldId id="3146" r:id="rId28"/>
    <p:sldId id="3145" r:id="rId29"/>
    <p:sldId id="3134" r:id="rId30"/>
    <p:sldId id="3141" r:id="rId31"/>
    <p:sldId id="3136" r:id="rId32"/>
    <p:sldId id="3137" r:id="rId33"/>
    <p:sldId id="3138" r:id="rId34"/>
    <p:sldId id="3142" r:id="rId35"/>
    <p:sldId id="3140" r:id="rId36"/>
    <p:sldId id="3139" r:id="rId37"/>
  </p:sldIdLst>
  <p:sldSz cx="9144000" cy="5143500" type="screen16x9"/>
  <p:notesSz cx="6797675" cy="9926638"/>
  <p:embeddedFontLst>
    <p:embeddedFont>
      <p:font typeface="Cambria Math" panose="02040503050406030204" pitchFamily="18" charset="0"/>
      <p:regular r:id="rId40"/>
    </p:embeddedFont>
    <p:embeddedFont>
      <p:font typeface="Enagás PT Serif" panose="020A0603040505020204" pitchFamily="18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705A43-9D1A-AC61-0A50-9C7D20E1837B}" name="Vilches Ros, Maria Del Mar" initials="VM" userId="S::mmvilches@enagas.es::52dcbdfa-f18a-4b0d-91b1-b37dbc651ec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GCRI.BEC8" initials="D" lastIdx="1" clrIdx="0">
    <p:extLst>
      <p:ext uri="{19B8F6BF-5375-455C-9EA6-DF929625EA0E}">
        <p15:presenceInfo xmlns:p15="http://schemas.microsoft.com/office/powerpoint/2012/main" userId="DGCRI.BEC8" providerId="None"/>
      </p:ext>
    </p:extLst>
  </p:cmAuthor>
  <p:cmAuthor id="2" name="Maria Del Mar Vilches Ros" initials="MDMVR" lastIdx="2" clrIdx="1">
    <p:extLst>
      <p:ext uri="{19B8F6BF-5375-455C-9EA6-DF929625EA0E}">
        <p15:presenceInfo xmlns:p15="http://schemas.microsoft.com/office/powerpoint/2012/main" userId="S::mmvilches@enagas.es::52dcbdfa-f18a-4b0d-91b1-b37dbc651ec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AE"/>
    <a:srgbClr val="00B5E2"/>
    <a:srgbClr val="F9F9F9"/>
    <a:srgbClr val="FFFFFF"/>
    <a:srgbClr val="9CB700"/>
    <a:srgbClr val="63666A"/>
    <a:srgbClr val="5CBDCA"/>
    <a:srgbClr val="8F4B80"/>
    <a:srgbClr val="E2DB8D"/>
    <a:srgbClr val="C1BD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01"/>
  </p:normalViewPr>
  <p:slideViewPr>
    <p:cSldViewPr snapToGrid="0">
      <p:cViewPr>
        <p:scale>
          <a:sx n="100" d="100"/>
          <a:sy n="100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1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3.xml"/><Relationship Id="rId41" Type="http://schemas.openxmlformats.org/officeDocument/2006/relationships/font" Target="fonts/font2.fntdata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>
              <a:latin typeface="Verdana" panose="020B0604030504040204" pitchFamily="34" charset="0"/>
            </a:endParaRPr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F3DD2-969E-4F51-8A51-EB0B4110BB09}" type="datetimeFigureOut">
              <a:rPr lang="es-ES_tradnl" smtClean="0">
                <a:latin typeface="Verdana" panose="020B0604030504040204" pitchFamily="34" charset="0"/>
              </a:rPr>
              <a:pPr/>
              <a:t>21/05/2026</a:t>
            </a:fld>
            <a:endParaRPr lang="es-ES_tradnl">
              <a:latin typeface="Verdana" panose="020B0604030504040204" pitchFamily="34" charset="0"/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>
              <a:latin typeface="Verdana" panose="020B0604030504040204" pitchFamily="34" charset="0"/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603E4-74DB-4ECD-BD53-5BB58D963DE4}" type="slidenum">
              <a:rPr lang="es-ES_tradnl" smtClean="0">
                <a:latin typeface="Verdana" panose="020B0604030504040204" pitchFamily="34" charset="0"/>
              </a:rPr>
              <a:pPr/>
              <a:t>‹Nº›</a:t>
            </a:fld>
            <a:endParaRPr lang="es-ES_tradnl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85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6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1B1655B4-8907-4DA8-B699-724CD93370C9}" type="datetimeFigureOut">
              <a:rPr lang="es-ES_tradnl" smtClean="0"/>
              <a:pPr/>
              <a:t>21/05/2026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3" y="9428585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6" y="9428585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0C573B90-E109-49E6-81EC-950EC00F49A1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9159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0B4C-AFC9-4600-E4EF-4DBB8C36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7092A1-959C-A876-F48E-C2D615BB7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48E25C-C41D-E4AF-403A-C955F4B33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E581E-6635-B918-2445-CAD9E7970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535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06C6-F85A-0B64-4850-3B69851F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0788C6-F41E-979D-651E-96D35A4EB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030C2B-3F8F-7102-1845-FB573FBA3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71805C-77CE-AFAF-69ED-7F23E73F1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962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61262-A83D-1BEE-E948-F042CA22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463442-D9E8-DFB2-6B11-8C1989DF0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491ED2-5ACB-8241-1811-24EA1281F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D48FE9-85D6-8C15-81D9-3FD75512A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46465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33EB-37B5-4232-A177-F0941B9E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566BB7-630A-FFA6-EE41-8AD2EBA7A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4480D2-30D3-5C62-1BF0-66959936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02037B-E7EB-88FA-A3AD-45DF6FD86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9464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9143A-66A9-2448-1148-4A4FFB8B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D2A5D6-BE2F-C9D0-9F8F-17AB3BFE1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793222-269F-C463-3CB0-0D5A73256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20ABBD-6920-587D-3FDE-A92CB9665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0928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7365-7EE6-19F5-2A14-29629C39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8769C0-2663-D009-56F9-C4B3774A8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65F22A-4D44-6710-3956-F63CEDF1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D9A32F-58CC-544C-0163-CA6D90865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18692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D764-856E-3FF0-9DC4-A1AE1622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621100-338C-3CB8-C5D2-247EA7AA8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EFC86D-5D4E-4B88-96D5-952D1433D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89ACEF-EA81-7879-306C-6DABE5EAC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4046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9B88-E91E-C3E7-16D7-45232126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607E8E-FF0D-48D1-5CA1-1DC7D7CFC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F1CB24-BB4D-67D9-4913-4D5BAE1C2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0DF57D-DF50-AFB5-2FDA-CECAD28B0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5099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3B7B-AD8E-7471-B414-680E617C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73578E-D4DC-5FD4-5A1F-4E2FF54EE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9D8552-FC9E-B0F9-4ACB-33C1D2528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08628-D12C-E158-3A37-C83280E11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1836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7DFB-2DCA-5A97-E950-6AE47D45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82DDA6-49F1-3290-9B4A-2EA6631FD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2CED00-D088-DE0D-D2D9-E54959415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EB9E81-1E84-8321-29D3-0D2B8A304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3412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E69F-0053-00D8-5B70-ED3A2A5F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C1F163-FE67-32A1-BE16-BECC7D612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1DB2F0-1DF4-88A7-3298-E38CC934A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35AC5B-1C7E-E049-D277-F23837ACC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8379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03B5-C512-6052-6A77-2F53EC65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23A8FF-183B-8857-CDDA-FC39252E0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8D6AFD-E4B6-C5B0-C024-3884CB43E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DC11EE-3E9C-AE2A-C0BE-B9D64CB5D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75384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1C5A-FA67-D2AF-77DB-E2FFA587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BCD095-EEED-7379-C496-6C145DE4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0B2425-F3A6-3665-2353-3A141AB58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47A7E7-D185-4D0B-2A71-E3BA9580F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86576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8271-5B37-5D1A-E746-820FB009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D542D0-EBC8-AD83-7815-E5B25782A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26F75E-01DB-5F95-5959-54639045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553E33-2490-1F62-D499-0B44EAF43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5203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8D23-9974-8B01-42D6-0234EA05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58E581-35E4-FD22-1B34-4018DBF9C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86CE68-79A1-5405-8B5F-4BD7E06AA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424861-951A-79E7-29FE-B38AD3DAC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5753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DE566-EA66-8D5D-156A-06D550E0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F6F1CA-9F17-1518-0681-4989AFB0B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9D4731-6F1E-FB99-091F-CFBFA6DD7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64D069-653F-46F5-00C4-50C957F6D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1772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796D-628B-C207-22A6-45AB08BB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8E4858-C997-8A85-2402-ECD58FD5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7BBC27-AFCE-1652-73B1-5FD925835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1B3608-B4DF-2F44-4D80-7D6D1B7B1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7166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8893-AF1C-1C08-CF31-52BEE67D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B0BBA3-7A0D-74EE-FB23-DAD58E066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EDE815-2AF4-1DFB-75EE-BFF2A0B5F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0E1E8D-A247-BCE4-33B6-8583BBE4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5677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1071-6EA9-54D2-0256-D0DD4632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551E7F-131F-748C-C201-762038DE0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8A8D45-7E20-E26E-7E56-0B90FDC16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CF51DA-6576-2C78-CDB5-AB1F7BE8F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2655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F9DA-E668-806E-B232-4E76990F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A8B75D-F071-44A7-AC3B-2213920DE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34C04A-A2C0-67D9-AA4B-3017EE3D8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841025-9EB5-F694-12DA-A7B6435A5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0852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B98E-8742-C343-15B5-459A21AE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AD907A-819C-03AC-7222-9A662C1F9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185DDD-CE05-BB58-D556-7B050E3CD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132346-DBC3-0A9E-CBC9-8ADF5C3C3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8682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A1C5-1751-7001-F7CA-28119D84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4C7D51-9660-39A2-DE79-A1E46FEBF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454060-2208-AC05-6432-675A47FB9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Mejoras En nuestra red de España:</a:t>
            </a:r>
          </a:p>
          <a:p>
            <a:pPr lvl="0"/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Nos hemos acercado más a lo que es el sistema energético real, antes se repetía 7 veces el mismo día para formar la demanda de una semana de 2040, ahora, la curva se forma gracias a los datos de la primera semana de 2025 . Con la demanda de hidrógeno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españa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ocurre algo parecido, anteriormente se tomaba un valor constante, y ahora contamos con una curva de demanda de hidrógeno mucho más real, obtenida de los datos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tyndp2026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También hemos añadido restricción por emisiones de CO2, que limita las emisiones de CO2 por medio de una penalización económica.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009B47-B5FD-D522-8FC7-F9AD4638A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73B90-E109-49E6-81EC-950EC00F49A1}" type="slidenum">
              <a:rPr lang="es-ES_tradnl" smtClean="0"/>
              <a:pPr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479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>
            <a:extLst>
              <a:ext uri="{FF2B5EF4-FFF2-40B4-BE49-F238E27FC236}">
                <a16:creationId xmlns:a16="http://schemas.microsoft.com/office/drawing/2014/main" id="{4EE3FF46-9D72-DE44-A8FC-C84C9F8A5F81}"/>
              </a:ext>
            </a:extLst>
          </p:cNvPr>
          <p:cNvSpPr/>
          <p:nvPr userDrawn="1"/>
        </p:nvSpPr>
        <p:spPr>
          <a:xfrm>
            <a:off x="6817921" y="169070"/>
            <a:ext cx="2146691" cy="2976434"/>
          </a:xfrm>
          <a:custGeom>
            <a:avLst/>
            <a:gdLst/>
            <a:ahLst/>
            <a:cxnLst/>
            <a:rect l="l" t="t" r="r" b="b"/>
            <a:pathLst>
              <a:path w="5088890" h="2262504">
                <a:moveTo>
                  <a:pt x="5088850" y="0"/>
                </a:moveTo>
                <a:lnTo>
                  <a:pt x="0" y="0"/>
                </a:lnTo>
                <a:lnTo>
                  <a:pt x="0" y="2262318"/>
                </a:lnTo>
                <a:lnTo>
                  <a:pt x="5088850" y="2262318"/>
                </a:lnTo>
                <a:lnTo>
                  <a:pt x="508885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819" b="0" i="0">
              <a:latin typeface="Enagás PT Serif" panose="020A0603040505020204" pitchFamily="18" charset="77"/>
            </a:endParaRPr>
          </a:p>
        </p:txBody>
      </p:sp>
      <p:pic>
        <p:nvPicPr>
          <p:cNvPr id="17" name="Imagen 16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35F061E7-09A0-8E43-9C0D-6C95FC13D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69070"/>
            <a:ext cx="6638532" cy="4053516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76C855EF-017A-3340-80AB-25DAF8898FAA}"/>
              </a:ext>
            </a:extLst>
          </p:cNvPr>
          <p:cNvSpPr/>
          <p:nvPr userDrawn="1"/>
        </p:nvSpPr>
        <p:spPr>
          <a:xfrm>
            <a:off x="321" y="4222588"/>
            <a:ext cx="6817599" cy="920913"/>
          </a:xfrm>
          <a:custGeom>
            <a:avLst/>
            <a:gdLst/>
            <a:ahLst/>
            <a:cxnLst/>
            <a:rect l="l" t="t" r="r" b="b"/>
            <a:pathLst>
              <a:path w="15015844" h="2262504">
                <a:moveTo>
                  <a:pt x="0" y="2262318"/>
                </a:moveTo>
                <a:lnTo>
                  <a:pt x="15015249" y="2262318"/>
                </a:lnTo>
                <a:lnTo>
                  <a:pt x="15015249" y="0"/>
                </a:lnTo>
                <a:lnTo>
                  <a:pt x="0" y="0"/>
                </a:lnTo>
                <a:lnTo>
                  <a:pt x="0" y="22623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lang="en-GB" sz="819">
              <a:latin typeface="Enagás PT Serif" panose="020A0603040505020204" pitchFamily="18" charset="77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FCD48D0-2B98-A642-AEF9-400F269DB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13" y="4553300"/>
            <a:ext cx="1362819" cy="222953"/>
          </a:xfrm>
          <a:prstGeom prst="rect">
            <a:avLst/>
          </a:prstGeom>
          <a:solidFill>
            <a:schemeClr val="accent5"/>
          </a:solidFill>
        </p:spPr>
        <p:txBody>
          <a:bodyPr wrap="none"/>
          <a:lstStyle>
            <a:lvl1pPr marL="0" indent="0" algn="ctr">
              <a:buNone/>
              <a:defRPr sz="900" b="1" i="0" spc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s-ES_tradnl" noProof="0"/>
              <a:t>Fecha/evento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77712D5-0146-B841-919C-D494ADD33B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813" y="1474128"/>
            <a:ext cx="3738086" cy="144339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216000" tIns="288000" rIns="216000" bIns="288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8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aquí el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11771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3" userDrawn="1">
          <p15:clr>
            <a:srgbClr val="FBAE40"/>
          </p15:clr>
        </p15:guide>
        <p15:guide id="2" pos="5647" userDrawn="1">
          <p15:clr>
            <a:srgbClr val="FBAE40"/>
          </p15:clr>
        </p15:guide>
        <p15:guide id="3" orient="horz" pos="100" userDrawn="1">
          <p15:clr>
            <a:srgbClr val="FBAE40"/>
          </p15:clr>
        </p15:guide>
        <p15:guide id="4" orient="horz" pos="31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>
            <a:extLst>
              <a:ext uri="{FF2B5EF4-FFF2-40B4-BE49-F238E27FC236}">
                <a16:creationId xmlns:a16="http://schemas.microsoft.com/office/drawing/2014/main" id="{4EE3FF46-9D72-DE44-A8FC-C84C9F8A5F81}"/>
              </a:ext>
            </a:extLst>
          </p:cNvPr>
          <p:cNvSpPr/>
          <p:nvPr userDrawn="1"/>
        </p:nvSpPr>
        <p:spPr>
          <a:xfrm>
            <a:off x="6817921" y="169070"/>
            <a:ext cx="2145600" cy="2976434"/>
          </a:xfrm>
          <a:custGeom>
            <a:avLst/>
            <a:gdLst/>
            <a:ahLst/>
            <a:cxnLst/>
            <a:rect l="l" t="t" r="r" b="b"/>
            <a:pathLst>
              <a:path w="5088890" h="2262504">
                <a:moveTo>
                  <a:pt x="5088850" y="0"/>
                </a:moveTo>
                <a:lnTo>
                  <a:pt x="0" y="0"/>
                </a:lnTo>
                <a:lnTo>
                  <a:pt x="0" y="2262318"/>
                </a:lnTo>
                <a:lnTo>
                  <a:pt x="5088850" y="2262318"/>
                </a:lnTo>
                <a:lnTo>
                  <a:pt x="508885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819" b="0" i="0">
              <a:latin typeface="Enagás PT Serif" panose="020A0603040505020204" pitchFamily="18" charset="77"/>
            </a:endParaRPr>
          </a:p>
        </p:txBody>
      </p:sp>
      <p:pic>
        <p:nvPicPr>
          <p:cNvPr id="10" name="Imagen 9" descr="Un conjunto de árboles&#10;&#10;Descripción generada automáticamente con confianza baja">
            <a:extLst>
              <a:ext uri="{FF2B5EF4-FFF2-40B4-BE49-F238E27FC236}">
                <a16:creationId xmlns:a16="http://schemas.microsoft.com/office/drawing/2014/main" id="{6DCBABE3-A83E-FC43-A317-CE38ABB0D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69071"/>
            <a:ext cx="6638482" cy="4053517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76C855EF-017A-3340-80AB-25DAF8898FAA}"/>
              </a:ext>
            </a:extLst>
          </p:cNvPr>
          <p:cNvSpPr/>
          <p:nvPr userDrawn="1"/>
        </p:nvSpPr>
        <p:spPr>
          <a:xfrm>
            <a:off x="321" y="4222588"/>
            <a:ext cx="6817599" cy="920913"/>
          </a:xfrm>
          <a:custGeom>
            <a:avLst/>
            <a:gdLst/>
            <a:ahLst/>
            <a:cxnLst/>
            <a:rect l="l" t="t" r="r" b="b"/>
            <a:pathLst>
              <a:path w="15015844" h="2262504">
                <a:moveTo>
                  <a:pt x="0" y="2262318"/>
                </a:moveTo>
                <a:lnTo>
                  <a:pt x="15015249" y="2262318"/>
                </a:lnTo>
                <a:lnTo>
                  <a:pt x="15015249" y="0"/>
                </a:lnTo>
                <a:lnTo>
                  <a:pt x="0" y="0"/>
                </a:lnTo>
                <a:lnTo>
                  <a:pt x="0" y="22623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lang="en-GB" sz="819">
              <a:latin typeface="Enagás PT Serif" panose="020A0603040505020204" pitchFamily="18" charset="77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FCD48D0-2B98-A642-AEF9-400F269DB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13" y="4553300"/>
            <a:ext cx="1362819" cy="222953"/>
          </a:xfrm>
          <a:prstGeom prst="rect">
            <a:avLst/>
          </a:prstGeom>
          <a:solidFill>
            <a:schemeClr val="accent2"/>
          </a:solidFill>
        </p:spPr>
        <p:txBody>
          <a:bodyPr wrap="none"/>
          <a:lstStyle>
            <a:lvl1pPr marL="0" indent="0" algn="ctr">
              <a:buNone/>
              <a:defRPr sz="900" b="1" i="0" spc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s-ES_tradnl" noProof="0"/>
              <a:t>Fecha/evento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5C74D19-E097-8F4F-8BC6-B5B0F31AC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813" y="1474128"/>
            <a:ext cx="3738086" cy="144339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216000" tIns="288000" rIns="216000" bIns="288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8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aquí el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14013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>
            <a:extLst>
              <a:ext uri="{FF2B5EF4-FFF2-40B4-BE49-F238E27FC236}">
                <a16:creationId xmlns:a16="http://schemas.microsoft.com/office/drawing/2014/main" id="{4EE3FF46-9D72-DE44-A8FC-C84C9F8A5F81}"/>
              </a:ext>
            </a:extLst>
          </p:cNvPr>
          <p:cNvSpPr/>
          <p:nvPr userDrawn="1"/>
        </p:nvSpPr>
        <p:spPr>
          <a:xfrm>
            <a:off x="6818400" y="169200"/>
            <a:ext cx="2145600" cy="2976434"/>
          </a:xfrm>
          <a:custGeom>
            <a:avLst/>
            <a:gdLst/>
            <a:ahLst/>
            <a:cxnLst/>
            <a:rect l="l" t="t" r="r" b="b"/>
            <a:pathLst>
              <a:path w="5088890" h="2262504">
                <a:moveTo>
                  <a:pt x="5088850" y="0"/>
                </a:moveTo>
                <a:lnTo>
                  <a:pt x="0" y="0"/>
                </a:lnTo>
                <a:lnTo>
                  <a:pt x="0" y="2262318"/>
                </a:lnTo>
                <a:lnTo>
                  <a:pt x="5088850" y="2262318"/>
                </a:lnTo>
                <a:lnTo>
                  <a:pt x="508885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819" b="0" i="0">
              <a:latin typeface="Enagás PT Serif" panose="020A0603040505020204" pitchFamily="18" charset="77"/>
            </a:endParaRPr>
          </a:p>
        </p:txBody>
      </p:sp>
      <p:pic>
        <p:nvPicPr>
          <p:cNvPr id="4" name="Imagen 3" descr="Imagen que contiene agua, parado, grande, pájaro&#10;&#10;Descripción generada automáticamente">
            <a:extLst>
              <a:ext uri="{FF2B5EF4-FFF2-40B4-BE49-F238E27FC236}">
                <a16:creationId xmlns:a16="http://schemas.microsoft.com/office/drawing/2014/main" id="{0B96B8FB-B04C-E74C-9873-EE3268A12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179387" y="169071"/>
            <a:ext cx="6638325" cy="4053516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76C855EF-017A-3340-80AB-25DAF8898FAA}"/>
              </a:ext>
            </a:extLst>
          </p:cNvPr>
          <p:cNvSpPr/>
          <p:nvPr userDrawn="1"/>
        </p:nvSpPr>
        <p:spPr>
          <a:xfrm>
            <a:off x="321" y="4222588"/>
            <a:ext cx="6817599" cy="920913"/>
          </a:xfrm>
          <a:custGeom>
            <a:avLst/>
            <a:gdLst/>
            <a:ahLst/>
            <a:cxnLst/>
            <a:rect l="l" t="t" r="r" b="b"/>
            <a:pathLst>
              <a:path w="15015844" h="2262504">
                <a:moveTo>
                  <a:pt x="0" y="2262318"/>
                </a:moveTo>
                <a:lnTo>
                  <a:pt x="15015249" y="2262318"/>
                </a:lnTo>
                <a:lnTo>
                  <a:pt x="15015249" y="0"/>
                </a:lnTo>
                <a:lnTo>
                  <a:pt x="0" y="0"/>
                </a:lnTo>
                <a:lnTo>
                  <a:pt x="0" y="22623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lang="en-GB" sz="819">
              <a:latin typeface="Enagás PT Serif" panose="020A0603040505020204" pitchFamily="18" charset="77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FCD48D0-2B98-A642-AEF9-400F269DB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13" y="4553300"/>
            <a:ext cx="1362819" cy="222953"/>
          </a:xfrm>
          <a:prstGeom prst="rect">
            <a:avLst/>
          </a:prstGeom>
          <a:solidFill>
            <a:schemeClr val="accent1"/>
          </a:solidFill>
        </p:spPr>
        <p:txBody>
          <a:bodyPr wrap="none"/>
          <a:lstStyle>
            <a:lvl1pPr marL="0" indent="0" algn="ctr">
              <a:buNone/>
              <a:defRPr sz="900" b="1" i="0" spc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s-ES_tradnl" noProof="0"/>
              <a:t>Fecha/evento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13AD00D-C571-F44A-803F-DEA8DB61BC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813" y="1474128"/>
            <a:ext cx="3738086" cy="144339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216000" tIns="288000" rIns="216000" bIns="288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8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aquí el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64664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>
            <a:extLst>
              <a:ext uri="{FF2B5EF4-FFF2-40B4-BE49-F238E27FC236}">
                <a16:creationId xmlns:a16="http://schemas.microsoft.com/office/drawing/2014/main" id="{4EE3FF46-9D72-DE44-A8FC-C84C9F8A5F81}"/>
              </a:ext>
            </a:extLst>
          </p:cNvPr>
          <p:cNvSpPr/>
          <p:nvPr userDrawn="1"/>
        </p:nvSpPr>
        <p:spPr>
          <a:xfrm>
            <a:off x="6818400" y="169070"/>
            <a:ext cx="2145600" cy="2976434"/>
          </a:xfrm>
          <a:custGeom>
            <a:avLst/>
            <a:gdLst/>
            <a:ahLst/>
            <a:cxnLst/>
            <a:rect l="l" t="t" r="r" b="b"/>
            <a:pathLst>
              <a:path w="5088890" h="2262504">
                <a:moveTo>
                  <a:pt x="5088850" y="0"/>
                </a:moveTo>
                <a:lnTo>
                  <a:pt x="0" y="0"/>
                </a:lnTo>
                <a:lnTo>
                  <a:pt x="0" y="2262318"/>
                </a:lnTo>
                <a:lnTo>
                  <a:pt x="5088850" y="2262318"/>
                </a:lnTo>
                <a:lnTo>
                  <a:pt x="508885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819" b="0" i="0">
              <a:latin typeface="Enagás PT Serif" panose="020A0603040505020204" pitchFamily="18" charset="77"/>
            </a:endParaRPr>
          </a:p>
        </p:txBody>
      </p:sp>
      <p:pic>
        <p:nvPicPr>
          <p:cNvPr id="4" name="Imagen 3" descr="Imagen que contiene interior, tabla, taza, naranja&#10;&#10;Descripción generada automáticamente">
            <a:extLst>
              <a:ext uri="{FF2B5EF4-FFF2-40B4-BE49-F238E27FC236}">
                <a16:creationId xmlns:a16="http://schemas.microsoft.com/office/drawing/2014/main" id="{D418353C-B613-EC42-9E99-A6875FF0F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69072"/>
            <a:ext cx="6637705" cy="4053516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76C855EF-017A-3340-80AB-25DAF8898FAA}"/>
              </a:ext>
            </a:extLst>
          </p:cNvPr>
          <p:cNvSpPr/>
          <p:nvPr userDrawn="1"/>
        </p:nvSpPr>
        <p:spPr>
          <a:xfrm>
            <a:off x="321" y="4222588"/>
            <a:ext cx="6817599" cy="920913"/>
          </a:xfrm>
          <a:custGeom>
            <a:avLst/>
            <a:gdLst/>
            <a:ahLst/>
            <a:cxnLst/>
            <a:rect l="l" t="t" r="r" b="b"/>
            <a:pathLst>
              <a:path w="15015844" h="2262504">
                <a:moveTo>
                  <a:pt x="0" y="2262318"/>
                </a:moveTo>
                <a:lnTo>
                  <a:pt x="15015249" y="2262318"/>
                </a:lnTo>
                <a:lnTo>
                  <a:pt x="15015249" y="0"/>
                </a:lnTo>
                <a:lnTo>
                  <a:pt x="0" y="0"/>
                </a:lnTo>
                <a:lnTo>
                  <a:pt x="0" y="22623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lang="en-GB" sz="819">
              <a:latin typeface="Enagás PT Serif" panose="020A0603040505020204" pitchFamily="18" charset="77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FCD48D0-2B98-A642-AEF9-400F269DB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13" y="4553300"/>
            <a:ext cx="1362819" cy="222953"/>
          </a:xfrm>
          <a:prstGeom prst="rect">
            <a:avLst/>
          </a:prstGeom>
          <a:solidFill>
            <a:schemeClr val="accent4"/>
          </a:solidFill>
        </p:spPr>
        <p:txBody>
          <a:bodyPr wrap="none"/>
          <a:lstStyle>
            <a:lvl1pPr marL="0" indent="0" algn="ctr">
              <a:buNone/>
              <a:defRPr sz="900" b="1" i="0" spc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s-ES_tradnl" noProof="0"/>
              <a:t>Fecha/evento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A1D101C-F5E1-BF4B-B989-64B08A14FB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813" y="1474128"/>
            <a:ext cx="3738086" cy="144339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216000" tIns="288000" rIns="216000" bIns="288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8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aquí el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33398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454F8EA-597D-8C47-9AD3-A0F6271E0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10" name="Imagen 9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0504104-7F21-5D43-9991-0B1BF89AEC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355" y="1050449"/>
            <a:ext cx="7966800" cy="1919900"/>
          </a:xfrm>
          <a:prstGeom prst="rect">
            <a:avLst/>
          </a:prstGeom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72A6B4E3-3CFE-AA49-9566-9D207A21C2F9}"/>
              </a:ext>
            </a:extLst>
          </p:cNvPr>
          <p:cNvSpPr/>
          <p:nvPr userDrawn="1"/>
        </p:nvSpPr>
        <p:spPr>
          <a:xfrm>
            <a:off x="426381" y="853351"/>
            <a:ext cx="7966800" cy="197100"/>
          </a:xfrm>
          <a:custGeom>
            <a:avLst/>
            <a:gdLst/>
            <a:ahLst/>
            <a:cxnLst/>
            <a:rect l="l" t="t" r="r" b="b"/>
            <a:pathLst>
              <a:path w="721995" h="312420">
                <a:moveTo>
                  <a:pt x="721789" y="0"/>
                </a:moveTo>
                <a:lnTo>
                  <a:pt x="0" y="0"/>
                </a:lnTo>
                <a:lnTo>
                  <a:pt x="0" y="312178"/>
                </a:lnTo>
                <a:lnTo>
                  <a:pt x="721789" y="312178"/>
                </a:lnTo>
                <a:lnTo>
                  <a:pt x="721789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135000" tIns="0" rIns="0" bIns="0" rtlCol="0" anchor="ctr"/>
          <a:lstStyle/>
          <a:p>
            <a:endParaRPr lang="es-ES" sz="1050" spc="225">
              <a:solidFill>
                <a:srgbClr val="FFFFFF"/>
              </a:solidFill>
              <a:latin typeface="Enagás PT Serif" panose="020A0603040505020204" pitchFamily="18" charset="77"/>
              <a:ea typeface="Enagás PT Serif" panose="020A0603040505020204" pitchFamily="18" charset="0"/>
              <a:cs typeface="Enagás PT Serif" panose="020A0603040505020204" pitchFamily="18" charset="0"/>
            </a:endParaRPr>
          </a:p>
        </p:txBody>
      </p:sp>
      <p:sp>
        <p:nvSpPr>
          <p:cNvPr id="8" name="2 Título"/>
          <p:cNvSpPr>
            <a:spLocks noGrp="1"/>
          </p:cNvSpPr>
          <p:nvPr>
            <p:ph type="title" hasCustomPrompt="1"/>
          </p:nvPr>
        </p:nvSpPr>
        <p:spPr>
          <a:xfrm>
            <a:off x="439199" y="298800"/>
            <a:ext cx="7953981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600" b="0">
                <a:solidFill>
                  <a:schemeClr val="accent3"/>
                </a:solidFill>
                <a:latin typeface="Enagás PT Serif" panose="020A0603040505020204" pitchFamily="18" charset="0"/>
                <a:ea typeface="Enagás PT Serif" panose="020A0603040505020204" pitchFamily="18" charset="0"/>
                <a:cs typeface="Verdana" panose="020B0604030504040204" pitchFamily="34" charset="0"/>
              </a:defRPr>
            </a:lvl1pPr>
          </a:lstStyle>
          <a:p>
            <a:r>
              <a:rPr lang="es-ES"/>
              <a:t>Completa el índice</a:t>
            </a:r>
          </a:p>
        </p:txBody>
      </p:sp>
      <p:sp>
        <p:nvSpPr>
          <p:cNvPr id="11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426379" y="2967775"/>
            <a:ext cx="7966800" cy="1764000"/>
          </a:xfrm>
          <a:prstGeom prst="rect">
            <a:avLst/>
          </a:prstGeom>
          <a:solidFill>
            <a:schemeClr val="bg1"/>
          </a:solidFill>
        </p:spPr>
        <p:txBody>
          <a:bodyPr lIns="360000" tIns="360000" rIns="360000" bIns="360000" numCol="2" anchor="ctr" anchorCtr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400" b="0" baseline="0">
                <a:solidFill>
                  <a:schemeClr val="accent3"/>
                </a:solidFill>
              </a:defRPr>
            </a:lvl1pPr>
            <a:lvl2pPr marL="457200" indent="0">
              <a:buClr>
                <a:schemeClr val="accent1"/>
              </a:buClr>
              <a:buFont typeface="Arial" panose="020B0604020202020204" pitchFamily="34" charset="0"/>
              <a:buNone/>
              <a:defRPr sz="1400" baseline="0">
                <a:solidFill>
                  <a:schemeClr val="accent3"/>
                </a:solidFill>
              </a:defRPr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1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2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3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4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957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50ECD44-34C8-2E44-AA48-30F7B410C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13" name="Imagen 12" descr="Un conjunto de árboles&#10;&#10;Descripción generada automáticamente con confianza baja">
            <a:extLst>
              <a:ext uri="{FF2B5EF4-FFF2-40B4-BE49-F238E27FC236}">
                <a16:creationId xmlns:a16="http://schemas.microsoft.com/office/drawing/2014/main" id="{571B1B5D-6563-F34B-B64B-F26B70F5C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376" y="1050451"/>
            <a:ext cx="7966800" cy="1918051"/>
          </a:xfrm>
          <a:prstGeom prst="rect">
            <a:avLst/>
          </a:prstGeom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72A6B4E3-3CFE-AA49-9566-9D207A21C2F9}"/>
              </a:ext>
            </a:extLst>
          </p:cNvPr>
          <p:cNvSpPr/>
          <p:nvPr userDrawn="1"/>
        </p:nvSpPr>
        <p:spPr>
          <a:xfrm>
            <a:off x="426381" y="853351"/>
            <a:ext cx="7965000" cy="197100"/>
          </a:xfrm>
          <a:custGeom>
            <a:avLst/>
            <a:gdLst/>
            <a:ahLst/>
            <a:cxnLst/>
            <a:rect l="l" t="t" r="r" b="b"/>
            <a:pathLst>
              <a:path w="721995" h="312420">
                <a:moveTo>
                  <a:pt x="721789" y="0"/>
                </a:moveTo>
                <a:lnTo>
                  <a:pt x="0" y="0"/>
                </a:lnTo>
                <a:lnTo>
                  <a:pt x="0" y="312178"/>
                </a:lnTo>
                <a:lnTo>
                  <a:pt x="721789" y="312178"/>
                </a:lnTo>
                <a:lnTo>
                  <a:pt x="72178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135000" tIns="0" rIns="0" bIns="0" rtlCol="0" anchor="ctr"/>
          <a:lstStyle/>
          <a:p>
            <a:endParaRPr lang="es-ES" sz="1050" spc="225">
              <a:solidFill>
                <a:srgbClr val="FFFFFF"/>
              </a:solidFill>
              <a:latin typeface="Enagás PT Serif" panose="020A0603040505020204" pitchFamily="18" charset="77"/>
              <a:ea typeface="Enagás PT Serif" panose="020A0603040505020204" pitchFamily="18" charset="0"/>
              <a:cs typeface="Enagás PT Serif" panose="020A0603040505020204" pitchFamily="18" charset="0"/>
            </a:endParaRPr>
          </a:p>
        </p:txBody>
      </p:sp>
      <p:sp>
        <p:nvSpPr>
          <p:cNvPr id="11" name="2 Título"/>
          <p:cNvSpPr>
            <a:spLocks noGrp="1"/>
          </p:cNvSpPr>
          <p:nvPr>
            <p:ph type="title" hasCustomPrompt="1"/>
          </p:nvPr>
        </p:nvSpPr>
        <p:spPr>
          <a:xfrm>
            <a:off x="439199" y="298800"/>
            <a:ext cx="7953981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600" b="0">
                <a:solidFill>
                  <a:schemeClr val="accent3"/>
                </a:solidFill>
                <a:latin typeface="Enagás PT Serif" panose="020A0603040505020204" pitchFamily="18" charset="0"/>
                <a:ea typeface="Enagás PT Serif" panose="020A0603040505020204" pitchFamily="18" charset="0"/>
                <a:cs typeface="Verdana" panose="020B0604030504040204" pitchFamily="34" charset="0"/>
              </a:defRPr>
            </a:lvl1pPr>
          </a:lstStyle>
          <a:p>
            <a:r>
              <a:rPr lang="es-ES"/>
              <a:t>Completa el índice</a:t>
            </a:r>
          </a:p>
        </p:txBody>
      </p:sp>
      <p:sp>
        <p:nvSpPr>
          <p:cNvPr id="14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426379" y="2967775"/>
            <a:ext cx="7966800" cy="1764000"/>
          </a:xfrm>
          <a:prstGeom prst="rect">
            <a:avLst/>
          </a:prstGeom>
          <a:solidFill>
            <a:schemeClr val="bg1"/>
          </a:solidFill>
        </p:spPr>
        <p:txBody>
          <a:bodyPr lIns="360000" tIns="360000" rIns="360000" bIns="360000" numCol="2" anchor="ctr" anchorCtr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400" b="0" baseline="0">
                <a:solidFill>
                  <a:schemeClr val="accent3"/>
                </a:solidFill>
              </a:defRPr>
            </a:lvl1pPr>
            <a:lvl2pPr marL="457200" indent="0">
              <a:buClr>
                <a:schemeClr val="accent1"/>
              </a:buClr>
              <a:buFont typeface="Arial" panose="020B0604020202020204" pitchFamily="34" charset="0"/>
              <a:buNone/>
              <a:defRPr sz="1400" baseline="0">
                <a:solidFill>
                  <a:schemeClr val="accent3"/>
                </a:solidFill>
              </a:defRPr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1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2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3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4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14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5CDCAF3-0746-004C-9C3B-0FCB94230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9" name="Imagen 8" descr="Imagen que contiene agua, parado, grande, pájaro&#10;&#10;Descripción generada automáticamente">
            <a:extLst>
              <a:ext uri="{FF2B5EF4-FFF2-40B4-BE49-F238E27FC236}">
                <a16:creationId xmlns:a16="http://schemas.microsoft.com/office/drawing/2014/main" id="{8023BAE1-37B8-B540-B421-814E0ED8F4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301" y="1050448"/>
            <a:ext cx="7966800" cy="1917333"/>
          </a:xfrm>
          <a:prstGeom prst="rect">
            <a:avLst/>
          </a:prstGeom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72A6B4E3-3CFE-AA49-9566-9D207A21C2F9}"/>
              </a:ext>
            </a:extLst>
          </p:cNvPr>
          <p:cNvSpPr/>
          <p:nvPr userDrawn="1"/>
        </p:nvSpPr>
        <p:spPr>
          <a:xfrm>
            <a:off x="426381" y="853351"/>
            <a:ext cx="7965000" cy="197100"/>
          </a:xfrm>
          <a:custGeom>
            <a:avLst/>
            <a:gdLst/>
            <a:ahLst/>
            <a:cxnLst/>
            <a:rect l="l" t="t" r="r" b="b"/>
            <a:pathLst>
              <a:path w="721995" h="312420">
                <a:moveTo>
                  <a:pt x="721789" y="0"/>
                </a:moveTo>
                <a:lnTo>
                  <a:pt x="0" y="0"/>
                </a:lnTo>
                <a:lnTo>
                  <a:pt x="0" y="312178"/>
                </a:lnTo>
                <a:lnTo>
                  <a:pt x="721789" y="312178"/>
                </a:lnTo>
                <a:lnTo>
                  <a:pt x="721789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135000" tIns="0" rIns="0" bIns="0" rtlCol="0" anchor="ctr"/>
          <a:lstStyle/>
          <a:p>
            <a:endParaRPr lang="es-ES" sz="1050" spc="225">
              <a:solidFill>
                <a:srgbClr val="FFFFFF"/>
              </a:solidFill>
              <a:latin typeface="Enagás PT Serif" panose="020A0603040505020204" pitchFamily="18" charset="77"/>
              <a:ea typeface="Enagás PT Serif" panose="020A0603040505020204" pitchFamily="18" charset="0"/>
              <a:cs typeface="Enagás PT Serif" panose="020A0603040505020204" pitchFamily="18" charset="0"/>
            </a:endParaRPr>
          </a:p>
        </p:txBody>
      </p:sp>
      <p:sp>
        <p:nvSpPr>
          <p:cNvPr id="13" name="2 Título"/>
          <p:cNvSpPr>
            <a:spLocks noGrp="1"/>
          </p:cNvSpPr>
          <p:nvPr>
            <p:ph type="title" hasCustomPrompt="1"/>
          </p:nvPr>
        </p:nvSpPr>
        <p:spPr>
          <a:xfrm>
            <a:off x="439199" y="298800"/>
            <a:ext cx="7953981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600" b="0">
                <a:solidFill>
                  <a:schemeClr val="accent3"/>
                </a:solidFill>
                <a:latin typeface="Enagás PT Serif" panose="020A0603040505020204" pitchFamily="18" charset="0"/>
                <a:ea typeface="Enagás PT Serif" panose="020A0603040505020204" pitchFamily="18" charset="0"/>
                <a:cs typeface="Verdana" panose="020B0604030504040204" pitchFamily="34" charset="0"/>
              </a:defRPr>
            </a:lvl1pPr>
          </a:lstStyle>
          <a:p>
            <a:r>
              <a:rPr lang="es-ES"/>
              <a:t>Completa el índice</a:t>
            </a:r>
          </a:p>
        </p:txBody>
      </p:sp>
      <p:sp>
        <p:nvSpPr>
          <p:cNvPr id="14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426379" y="2967775"/>
            <a:ext cx="7966800" cy="1764000"/>
          </a:xfrm>
          <a:prstGeom prst="rect">
            <a:avLst/>
          </a:prstGeom>
          <a:solidFill>
            <a:schemeClr val="bg1"/>
          </a:solidFill>
        </p:spPr>
        <p:txBody>
          <a:bodyPr lIns="360000" tIns="360000" rIns="360000" bIns="360000" numCol="2" anchor="ctr" anchorCtr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400" b="0" baseline="0">
                <a:solidFill>
                  <a:schemeClr val="accent3"/>
                </a:solidFill>
              </a:defRPr>
            </a:lvl1pPr>
            <a:lvl2pPr marL="457200" indent="0">
              <a:buClr>
                <a:schemeClr val="accent1"/>
              </a:buClr>
              <a:buFont typeface="Arial" panose="020B0604020202020204" pitchFamily="34" charset="0"/>
              <a:buNone/>
              <a:defRPr sz="1400" baseline="0">
                <a:solidFill>
                  <a:schemeClr val="accent3"/>
                </a:solidFill>
              </a:defRPr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1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2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3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4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5664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ior, tabla, taza, naranja&#10;&#10;Descripción generada automáticamente">
            <a:extLst>
              <a:ext uri="{FF2B5EF4-FFF2-40B4-BE49-F238E27FC236}">
                <a16:creationId xmlns:a16="http://schemas.microsoft.com/office/drawing/2014/main" id="{CCB3EBC8-0550-0947-9BF4-C76AAE1DE1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381" y="1050451"/>
            <a:ext cx="7966800" cy="19173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48707C8-4524-DD43-8B3C-BEA69EE2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72A6B4E3-3CFE-AA49-9566-9D207A21C2F9}"/>
              </a:ext>
            </a:extLst>
          </p:cNvPr>
          <p:cNvSpPr/>
          <p:nvPr userDrawn="1"/>
        </p:nvSpPr>
        <p:spPr>
          <a:xfrm>
            <a:off x="426381" y="853351"/>
            <a:ext cx="7965000" cy="197100"/>
          </a:xfrm>
          <a:custGeom>
            <a:avLst/>
            <a:gdLst/>
            <a:ahLst/>
            <a:cxnLst/>
            <a:rect l="l" t="t" r="r" b="b"/>
            <a:pathLst>
              <a:path w="721995" h="312420">
                <a:moveTo>
                  <a:pt x="721789" y="0"/>
                </a:moveTo>
                <a:lnTo>
                  <a:pt x="0" y="0"/>
                </a:lnTo>
                <a:lnTo>
                  <a:pt x="0" y="312178"/>
                </a:lnTo>
                <a:lnTo>
                  <a:pt x="721789" y="312178"/>
                </a:lnTo>
                <a:lnTo>
                  <a:pt x="72178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35000" tIns="0" rIns="0" bIns="0" rtlCol="0" anchor="ctr"/>
          <a:lstStyle/>
          <a:p>
            <a:endParaRPr lang="es-ES" sz="1050" spc="225">
              <a:solidFill>
                <a:srgbClr val="FFFFFF"/>
              </a:solidFill>
              <a:latin typeface="Enagás PT Serif" panose="020A0603040505020204" pitchFamily="18" charset="77"/>
              <a:ea typeface="Enagás PT Serif" panose="020A0603040505020204" pitchFamily="18" charset="0"/>
              <a:cs typeface="Enagás PT Serif" panose="020A0603040505020204" pitchFamily="18" charset="0"/>
            </a:endParaRPr>
          </a:p>
        </p:txBody>
      </p:sp>
      <p:sp>
        <p:nvSpPr>
          <p:cNvPr id="13" name="2 Título"/>
          <p:cNvSpPr>
            <a:spLocks noGrp="1"/>
          </p:cNvSpPr>
          <p:nvPr>
            <p:ph type="title" hasCustomPrompt="1"/>
          </p:nvPr>
        </p:nvSpPr>
        <p:spPr>
          <a:xfrm>
            <a:off x="439199" y="298800"/>
            <a:ext cx="7953981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600" b="0">
                <a:solidFill>
                  <a:schemeClr val="accent3"/>
                </a:solidFill>
                <a:latin typeface="Enagás PT Serif" panose="020A0603040505020204" pitchFamily="18" charset="0"/>
                <a:ea typeface="Enagás PT Serif" panose="020A0603040505020204" pitchFamily="18" charset="0"/>
                <a:cs typeface="Verdana" panose="020B0604030504040204" pitchFamily="34" charset="0"/>
              </a:defRPr>
            </a:lvl1pPr>
          </a:lstStyle>
          <a:p>
            <a:r>
              <a:rPr lang="es-ES"/>
              <a:t>Completa el índice</a:t>
            </a:r>
          </a:p>
        </p:txBody>
      </p:sp>
      <p:sp>
        <p:nvSpPr>
          <p:cNvPr id="14" name="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426379" y="2967775"/>
            <a:ext cx="7966800" cy="1764000"/>
          </a:xfrm>
          <a:prstGeom prst="rect">
            <a:avLst/>
          </a:prstGeom>
          <a:solidFill>
            <a:schemeClr val="bg1"/>
          </a:solidFill>
        </p:spPr>
        <p:txBody>
          <a:bodyPr lIns="360000" tIns="360000" rIns="360000" bIns="360000" numCol="2" anchor="ctr" anchorCtr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400" b="0" baseline="0">
                <a:solidFill>
                  <a:schemeClr val="accent3"/>
                </a:solidFill>
              </a:defRPr>
            </a:lvl1pPr>
            <a:lvl2pPr marL="457200" indent="0">
              <a:buClr>
                <a:schemeClr val="accent1"/>
              </a:buClr>
              <a:buFont typeface="Arial" panose="020B0604020202020204" pitchFamily="34" charset="0"/>
              <a:buNone/>
              <a:defRPr sz="1400" baseline="0">
                <a:solidFill>
                  <a:schemeClr val="accent3"/>
                </a:solidFill>
              </a:defRPr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1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2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3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Apartado 4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852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ante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AC64-697C-744A-8112-A87F70158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382541-1604-654B-A65F-6E00B131DD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102A1F6-3BA1-9344-A2BE-98333259B6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D20DD62-D5F1-BD4A-B469-89350AF1C4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Subtítulo de la diapositiva si lo tuviera. </a:t>
            </a:r>
            <a:r>
              <a:rPr lang="es-ES_tradnl" noProof="0" err="1"/>
              <a:t>Verdana</a:t>
            </a:r>
            <a:r>
              <a:rPr lang="es-ES_tradnl" noProof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C6DF052F-C7BB-3949-A7C2-035D5A3B33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1123950"/>
            <a:ext cx="7940342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671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31AD17-31BE-45A5-93FF-A0630DA3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F9B3165-755B-4757-9796-F6D06A73A6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E4826B8-3F56-4E3E-BD94-F9E926FEC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328BC89-CF2A-4416-85A2-9362E30D0F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Subtítulo de la diapositiva si lo tuviera. </a:t>
            </a:r>
            <a:r>
              <a:rPr lang="es-ES_tradnl" noProof="0" err="1"/>
              <a:t>Verdana</a:t>
            </a:r>
            <a:r>
              <a:rPr lang="es-ES_tradnl" noProof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EF69AEC-D4F5-41CC-A515-31FCCC605E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1123950"/>
            <a:ext cx="392400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0CE3E694-7F2A-4805-BBD4-8C64CAF465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8342" y="1123949"/>
            <a:ext cx="392400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305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31AD17-31BE-45A5-93FF-A0630DA3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F9B3165-755B-4757-9796-F6D06A73A6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E4826B8-3F56-4E3E-BD94-F9E926FEC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328BC89-CF2A-4416-85A2-9362E30D0F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Subtítulo de la diapositiva si lo tuviera. </a:t>
            </a:r>
            <a:r>
              <a:rPr lang="es-ES_tradnl" noProof="0" err="1"/>
              <a:t>Verdana</a:t>
            </a:r>
            <a:r>
              <a:rPr lang="es-ES_tradnl" noProof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EF69AEC-D4F5-41CC-A515-31FCCC605E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1123950"/>
            <a:ext cx="257048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0CE3E694-7F2A-4805-BBD4-8C64CAF465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24835" y="1123949"/>
            <a:ext cx="257048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71E1142-29E5-4DD8-909F-F670F636B4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17870" y="1123949"/>
            <a:ext cx="257048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194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31AD17-31BE-45A5-93FF-A0630DA3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F9B3165-755B-4757-9796-F6D06A73A6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E4826B8-3F56-4E3E-BD94-F9E926FEC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328BC89-CF2A-4416-85A2-9362E30D0F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Subtítulo de la diapositiva si lo tuviera. </a:t>
            </a:r>
            <a:r>
              <a:rPr lang="es-ES_tradnl" noProof="0" err="1"/>
              <a:t>Verdana</a:t>
            </a:r>
            <a:r>
              <a:rPr lang="es-ES_tradnl" noProof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EF69AEC-D4F5-41CC-A515-31FCCC605E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1123950"/>
            <a:ext cx="392400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8E7612F4-E61E-44D6-898C-5013C22F3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48144" y="1123949"/>
            <a:ext cx="3923999" cy="36566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3395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7D463045-E6B2-42B2-A3CF-88E8439310C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48143" y="1125432"/>
            <a:ext cx="3923999" cy="3655140"/>
          </a:xfrm>
          <a:prstGeom prst="rect">
            <a:avLst/>
          </a:prstGeom>
        </p:spPr>
        <p:txBody>
          <a:bodyPr/>
          <a:lstStyle>
            <a:lvl1pPr>
              <a:defRPr lang="es-ES_tradnl" sz="1000" dirty="0">
                <a:solidFill>
                  <a:schemeClr val="accent3"/>
                </a:solidFill>
              </a:defRPr>
            </a:lvl1pPr>
          </a:lstStyle>
          <a:p>
            <a:pPr lvl="0"/>
            <a:endParaRPr lang="es-ES_tradnl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31AD17-31BE-45A5-93FF-A0630DA3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F9B3165-755B-4757-9796-F6D06A73A6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E4826B8-3F56-4E3E-BD94-F9E926FEC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328BC89-CF2A-4416-85A2-9362E30D0F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 dirty="0"/>
              <a:t>Subtítulo de la diapositiva si lo tuviera. </a:t>
            </a:r>
            <a:r>
              <a:rPr lang="es-ES_tradnl" noProof="0" dirty="0" err="1"/>
              <a:t>Verdana</a:t>
            </a:r>
            <a:r>
              <a:rPr lang="es-ES_tradnl" noProof="0" dirty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EF69AEC-D4F5-41CC-A515-31FCCC605E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1123950"/>
            <a:ext cx="3924000" cy="3656623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153241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31AD17-31BE-45A5-93FF-A0630DA3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F9B3165-755B-4757-9796-F6D06A73A6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158750"/>
            <a:ext cx="7956550" cy="141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1">
                <a:solidFill>
                  <a:schemeClr val="accent1"/>
                </a:solidFill>
              </a:defRPr>
            </a:lvl1pPr>
            <a:lvl2pPr marL="457200" indent="0">
              <a:buNone/>
              <a:defRPr sz="900" b="1">
                <a:solidFill>
                  <a:schemeClr val="accent1"/>
                </a:solidFill>
              </a:defRPr>
            </a:lvl2pPr>
            <a:lvl3pPr marL="914400" indent="0">
              <a:buNone/>
              <a:defRPr sz="9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Antetítulo si lo tuviera. </a:t>
            </a:r>
            <a:r>
              <a:rPr lang="es-ES" err="1"/>
              <a:t>Verdana</a:t>
            </a:r>
            <a:r>
              <a:rPr lang="es-ES"/>
              <a:t> 9 negrita (RGB 0, 122, 174) </a:t>
            </a:r>
            <a:endParaRPr lang="es-ES_tradnl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E4826B8-3F56-4E3E-BD94-F9E926FEC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362927"/>
            <a:ext cx="7940342" cy="335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Escribe el título en Enagás PT Serif (RGB 99, 102, 106)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328BC89-CF2A-4416-85A2-9362E30D0F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0" y="700187"/>
            <a:ext cx="7940342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1100" b="1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Subtítulo de la diapositiva si lo tuviera. </a:t>
            </a:r>
            <a:r>
              <a:rPr lang="es-ES_tradnl" noProof="0" err="1"/>
              <a:t>Verdana</a:t>
            </a:r>
            <a:r>
              <a:rPr lang="es-ES_tradnl" noProof="0"/>
              <a:t> 11 negrita (RGB 99, 102, 106)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EF69AEC-D4F5-41CC-A515-31FCCC605E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3031959"/>
            <a:ext cx="3924000" cy="174861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0CE3E694-7F2A-4805-BBD4-8C64CAF465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8342" y="3031958"/>
            <a:ext cx="3924000" cy="174861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  <a:lvl2pPr>
              <a:defRPr sz="1000">
                <a:solidFill>
                  <a:schemeClr val="accent3"/>
                </a:solidFill>
              </a:defRPr>
            </a:lvl2pPr>
            <a:lvl3pPr>
              <a:defRPr sz="1000">
                <a:solidFill>
                  <a:schemeClr val="accent3"/>
                </a:solidFill>
              </a:defRPr>
            </a:lvl3pPr>
            <a:lvl4pPr>
              <a:defRPr sz="1000">
                <a:solidFill>
                  <a:schemeClr val="accent3"/>
                </a:solidFill>
              </a:defRPr>
            </a:lvl4pPr>
            <a:lvl5pPr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2B80916D-7991-4B07-B199-2167AE329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800" y="935026"/>
            <a:ext cx="7940343" cy="2028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3824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643699B8-E881-A244-B164-636AD58C4C28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60750"/>
            <a:ext cx="8784000" cy="48240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B20A344-34DD-5F42-92AF-C966897110F6}"/>
              </a:ext>
            </a:extLst>
          </p:cNvPr>
          <p:cNvSpPr/>
          <p:nvPr userDrawn="1"/>
        </p:nvSpPr>
        <p:spPr>
          <a:xfrm>
            <a:off x="697297" y="289"/>
            <a:ext cx="2540560" cy="5143211"/>
          </a:xfrm>
          <a:custGeom>
            <a:avLst/>
            <a:gdLst/>
            <a:ahLst/>
            <a:cxnLst/>
            <a:rect l="l" t="t" r="r" b="b"/>
            <a:pathLst>
              <a:path w="5586095" h="11308715">
                <a:moveTo>
                  <a:pt x="5585473" y="0"/>
                </a:moveTo>
                <a:lnTo>
                  <a:pt x="0" y="0"/>
                </a:lnTo>
                <a:lnTo>
                  <a:pt x="0" y="11308556"/>
                </a:lnTo>
                <a:lnTo>
                  <a:pt x="5585473" y="11308556"/>
                </a:lnTo>
                <a:lnTo>
                  <a:pt x="558547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8A01CEB-9609-CB40-A774-43E008B18F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7200" y="1292950"/>
            <a:ext cx="1960754" cy="8002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Muchas gracias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0EAD808B-FCE8-448A-AD7F-60FDBE7E84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706" y="2892491"/>
            <a:ext cx="1213743" cy="101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7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Un conjunto de árboles&#10;&#10;Descripción generada automáticamente con confianza baja">
            <a:extLst>
              <a:ext uri="{FF2B5EF4-FFF2-40B4-BE49-F238E27FC236}">
                <a16:creationId xmlns:a16="http://schemas.microsoft.com/office/drawing/2014/main" id="{63732BDC-4662-2E4E-B207-AB3AA3B2C9F8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13" y="157150"/>
            <a:ext cx="8784000" cy="48240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B20A344-34DD-5F42-92AF-C966897110F6}"/>
              </a:ext>
            </a:extLst>
          </p:cNvPr>
          <p:cNvSpPr/>
          <p:nvPr userDrawn="1"/>
        </p:nvSpPr>
        <p:spPr>
          <a:xfrm>
            <a:off x="697297" y="1"/>
            <a:ext cx="2540560" cy="5143211"/>
          </a:xfrm>
          <a:custGeom>
            <a:avLst/>
            <a:gdLst/>
            <a:ahLst/>
            <a:cxnLst/>
            <a:rect l="l" t="t" r="r" b="b"/>
            <a:pathLst>
              <a:path w="5586095" h="11308715">
                <a:moveTo>
                  <a:pt x="5585473" y="0"/>
                </a:moveTo>
                <a:lnTo>
                  <a:pt x="0" y="0"/>
                </a:lnTo>
                <a:lnTo>
                  <a:pt x="0" y="11308556"/>
                </a:lnTo>
                <a:lnTo>
                  <a:pt x="5585473" y="11308556"/>
                </a:lnTo>
                <a:lnTo>
                  <a:pt x="558547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219BE9C-3873-B940-BEF9-E677EA486D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7200" y="1292950"/>
            <a:ext cx="1960754" cy="8002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Muchas gracias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503BF32-3F33-4B73-BBA8-275C601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706" y="2892491"/>
            <a:ext cx="1213743" cy="101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14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agua, parado, grande, pájaro&#10;&#10;Descripción generada automáticamente">
            <a:extLst>
              <a:ext uri="{FF2B5EF4-FFF2-40B4-BE49-F238E27FC236}">
                <a16:creationId xmlns:a16="http://schemas.microsoft.com/office/drawing/2014/main" id="{EB781FAF-3792-F04C-B512-3CB78E19F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13" y="160587"/>
            <a:ext cx="8784000" cy="4824163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B20A344-34DD-5F42-92AF-C966897110F6}"/>
              </a:ext>
            </a:extLst>
          </p:cNvPr>
          <p:cNvSpPr/>
          <p:nvPr userDrawn="1"/>
        </p:nvSpPr>
        <p:spPr>
          <a:xfrm>
            <a:off x="697297" y="1"/>
            <a:ext cx="2540560" cy="5143211"/>
          </a:xfrm>
          <a:custGeom>
            <a:avLst/>
            <a:gdLst/>
            <a:ahLst/>
            <a:cxnLst/>
            <a:rect l="l" t="t" r="r" b="b"/>
            <a:pathLst>
              <a:path w="5586095" h="11308715">
                <a:moveTo>
                  <a:pt x="5585473" y="0"/>
                </a:moveTo>
                <a:lnTo>
                  <a:pt x="0" y="0"/>
                </a:lnTo>
                <a:lnTo>
                  <a:pt x="0" y="11308556"/>
                </a:lnTo>
                <a:lnTo>
                  <a:pt x="5585473" y="11308556"/>
                </a:lnTo>
                <a:lnTo>
                  <a:pt x="558547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D589650-B272-A144-91B0-3D7516CD1E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7200" y="1292950"/>
            <a:ext cx="1960754" cy="8002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Muchas gracias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C0997F4-0D07-48D0-973F-3561B5C4E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706" y="2892491"/>
            <a:ext cx="1213743" cy="101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6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interior, tabla, taza, naranja&#10;&#10;Descripción generada automáticamente">
            <a:extLst>
              <a:ext uri="{FF2B5EF4-FFF2-40B4-BE49-F238E27FC236}">
                <a16:creationId xmlns:a16="http://schemas.microsoft.com/office/drawing/2014/main" id="{904FCB76-16C1-F141-AE99-33097D320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13" y="160587"/>
            <a:ext cx="8784000" cy="4824163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B20A344-34DD-5F42-92AF-C966897110F6}"/>
              </a:ext>
            </a:extLst>
          </p:cNvPr>
          <p:cNvSpPr/>
          <p:nvPr userDrawn="1"/>
        </p:nvSpPr>
        <p:spPr>
          <a:xfrm>
            <a:off x="697297" y="1"/>
            <a:ext cx="2540560" cy="5143211"/>
          </a:xfrm>
          <a:custGeom>
            <a:avLst/>
            <a:gdLst/>
            <a:ahLst/>
            <a:cxnLst/>
            <a:rect l="l" t="t" r="r" b="b"/>
            <a:pathLst>
              <a:path w="5586095" h="11308715">
                <a:moveTo>
                  <a:pt x="5585473" y="0"/>
                </a:moveTo>
                <a:lnTo>
                  <a:pt x="0" y="0"/>
                </a:lnTo>
                <a:lnTo>
                  <a:pt x="0" y="11308556"/>
                </a:lnTo>
                <a:lnTo>
                  <a:pt x="5585473" y="11308556"/>
                </a:lnTo>
                <a:lnTo>
                  <a:pt x="558547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A1DC80A3-74E2-7241-8FBB-BF96C7ED4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7200" y="1292950"/>
            <a:ext cx="1960754" cy="8002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None/>
              <a:defRPr sz="2600" b="0" i="0">
                <a:solidFill>
                  <a:schemeClr val="accent3"/>
                </a:solidFill>
                <a:latin typeface="Enagás PT Serif" panose="020A0603040505020204" pitchFamily="18" charset="77"/>
                <a:ea typeface="Enagás PT Serif" panose="020A0603040505020204" pitchFamily="18" charset="77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_tradnl" noProof="0"/>
              <a:t>Muchas gracias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884A5A8-E3B9-4084-8B9E-2669B3F91D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706" y="2892491"/>
            <a:ext cx="1213743" cy="101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sv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9D46EECE-567F-45E9-9FB3-701CBD324A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369179" y="3630606"/>
            <a:ext cx="1223563" cy="102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6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5" r:id="rId2"/>
    <p:sldLayoutId id="2147483827" r:id="rId3"/>
    <p:sldLayoutId id="2147483829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" userDrawn="1">
          <p15:clr>
            <a:srgbClr val="F26B43"/>
          </p15:clr>
        </p15:guide>
        <p15:guide id="2" orient="horz" pos="3140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pos="56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8">
            <a:extLst>
              <a:ext uri="{FF2B5EF4-FFF2-40B4-BE49-F238E27FC236}">
                <a16:creationId xmlns:a16="http://schemas.microsoft.com/office/drawing/2014/main" id="{16B1695C-D222-3941-8EB4-3D4865352757}"/>
              </a:ext>
            </a:extLst>
          </p:cNvPr>
          <p:cNvCxnSpPr>
            <a:cxnSpLocks/>
          </p:cNvCxnSpPr>
          <p:nvPr userDrawn="1"/>
        </p:nvCxnSpPr>
        <p:spPr>
          <a:xfrm>
            <a:off x="8757047" y="923192"/>
            <a:ext cx="0" cy="3525716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B72E51-3DA6-EA4A-AA08-C346D81FE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18291F7-5BC9-A34B-9232-71699CB53F2E}"/>
              </a:ext>
            </a:extLst>
          </p:cNvPr>
          <p:cNvSpPr/>
          <p:nvPr userDrawn="1"/>
        </p:nvSpPr>
        <p:spPr>
          <a:xfrm>
            <a:off x="0" y="0"/>
            <a:ext cx="8379619" cy="5143500"/>
          </a:xfrm>
          <a:custGeom>
            <a:avLst/>
            <a:gdLst/>
            <a:ahLst/>
            <a:cxnLst/>
            <a:rect l="l" t="t" r="r" b="b"/>
            <a:pathLst>
              <a:path w="19266535" h="10471150">
                <a:moveTo>
                  <a:pt x="19266429" y="0"/>
                </a:moveTo>
                <a:lnTo>
                  <a:pt x="0" y="0"/>
                </a:lnTo>
                <a:lnTo>
                  <a:pt x="0" y="10470885"/>
                </a:lnTo>
                <a:lnTo>
                  <a:pt x="19266429" y="10470885"/>
                </a:lnTo>
                <a:lnTo>
                  <a:pt x="19266429" y="0"/>
                </a:lnTo>
                <a:close/>
              </a:path>
            </a:pathLst>
          </a:custGeom>
          <a:solidFill>
            <a:schemeClr val="accent6">
              <a:lumMod val="95000"/>
            </a:schemeClr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F7180EB-41B2-A648-BA5C-52ED0C5E9F4E}"/>
              </a:ext>
            </a:extLst>
          </p:cNvPr>
          <p:cNvSpPr/>
          <p:nvPr userDrawn="1"/>
        </p:nvSpPr>
        <p:spPr>
          <a:xfrm>
            <a:off x="190808" y="158750"/>
            <a:ext cx="8188811" cy="4826000"/>
          </a:xfrm>
          <a:custGeom>
            <a:avLst/>
            <a:gdLst/>
            <a:ahLst/>
            <a:cxnLst/>
            <a:rect l="l" t="t" r="r" b="b"/>
            <a:pathLst>
              <a:path w="19266535" h="10471150">
                <a:moveTo>
                  <a:pt x="19266429" y="0"/>
                </a:moveTo>
                <a:lnTo>
                  <a:pt x="0" y="0"/>
                </a:lnTo>
                <a:lnTo>
                  <a:pt x="0" y="10470885"/>
                </a:lnTo>
                <a:lnTo>
                  <a:pt x="19266429" y="10470885"/>
                </a:lnTo>
                <a:lnTo>
                  <a:pt x="192664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3D4A278-4EB7-4C83-B9E9-25835E5D2C5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86886" y="300095"/>
            <a:ext cx="540322" cy="4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5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1" r:id="rId2"/>
    <p:sldLayoutId id="2147483833" r:id="rId3"/>
    <p:sldLayoutId id="214748383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4" userDrawn="1">
          <p15:clr>
            <a:srgbClr val="F26B43"/>
          </p15:clr>
        </p15:guide>
        <p15:guide id="2" pos="5647" userDrawn="1">
          <p15:clr>
            <a:srgbClr val="F26B43"/>
          </p15:clr>
        </p15:guide>
        <p15:guide id="3" orient="horz" pos="100" userDrawn="1">
          <p15:clr>
            <a:srgbClr val="F26B43"/>
          </p15:clr>
        </p15:guide>
        <p15:guide id="4" orient="horz" pos="31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28">
            <a:extLst>
              <a:ext uri="{FF2B5EF4-FFF2-40B4-BE49-F238E27FC236}">
                <a16:creationId xmlns:a16="http://schemas.microsoft.com/office/drawing/2014/main" id="{6A5B03F0-8BD6-2746-8F4B-6F4FE60D7DE3}"/>
              </a:ext>
            </a:extLst>
          </p:cNvPr>
          <p:cNvCxnSpPr>
            <a:cxnSpLocks/>
          </p:cNvCxnSpPr>
          <p:nvPr userDrawn="1"/>
        </p:nvCxnSpPr>
        <p:spPr>
          <a:xfrm>
            <a:off x="8757047" y="923192"/>
            <a:ext cx="0" cy="3525716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5BA7-8D08-C745-98EF-B036C872A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5476" y="4638617"/>
            <a:ext cx="473273" cy="204788"/>
          </a:xfrm>
          <a:prstGeom prst="rect">
            <a:avLst/>
          </a:prstGeom>
        </p:spPr>
        <p:txBody>
          <a:bodyPr/>
          <a:lstStyle>
            <a:lvl1pPr algn="ctr">
              <a:defRPr sz="800" b="0" i="0">
                <a:solidFill>
                  <a:schemeClr val="accent3"/>
                </a:solidFill>
                <a:latin typeface="Enagás PT Serif" panose="020A0603040505020204" pitchFamily="18" charset="77"/>
              </a:defRPr>
            </a:lvl1pPr>
          </a:lstStyle>
          <a:p>
            <a:fld id="{BC84A7B8-DCD1-44CA-A629-967FC9CECB50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104244E3-16DF-4CEA-805E-0B3F675AC58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486886" y="300095"/>
            <a:ext cx="540322" cy="4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9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53" r:id="rId2"/>
    <p:sldLayoutId id="2147483857" r:id="rId3"/>
    <p:sldLayoutId id="2147483855" r:id="rId4"/>
    <p:sldLayoutId id="2147483858" r:id="rId5"/>
    <p:sldLayoutId id="2147483854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3" userDrawn="1">
          <p15:clr>
            <a:srgbClr val="F26B43"/>
          </p15:clr>
        </p15:guide>
        <p15:guide id="2" pos="5647" userDrawn="1">
          <p15:clr>
            <a:srgbClr val="F26B43"/>
          </p15:clr>
        </p15:guide>
        <p15:guide id="3" orient="horz" pos="100" userDrawn="1">
          <p15:clr>
            <a:srgbClr val="F26B43"/>
          </p15:clr>
        </p15:guide>
        <p15:guide id="4" orient="horz" pos="3140" userDrawn="1">
          <p15:clr>
            <a:srgbClr val="F26B43"/>
          </p15:clr>
        </p15:guide>
        <p15:guide id="5" pos="5284" userDrawn="1">
          <p15:clr>
            <a:srgbClr val="F26B43"/>
          </p15:clr>
        </p15:guide>
        <p15:guide id="6" orient="horz" pos="441" userDrawn="1">
          <p15:clr>
            <a:srgbClr val="F26B43"/>
          </p15:clr>
        </p15:guide>
        <p15:guide id="7" orient="horz" pos="2799" userDrawn="1">
          <p15:clr>
            <a:srgbClr val="F26B43"/>
          </p15:clr>
        </p15:guide>
        <p15:guide id="8" pos="27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98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6" r:id="rId2"/>
    <p:sldLayoutId id="2147483834" r:id="rId3"/>
    <p:sldLayoutId id="214748383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" userDrawn="1">
          <p15:clr>
            <a:srgbClr val="F26B43"/>
          </p15:clr>
        </p15:guide>
        <p15:guide id="2" pos="113" userDrawn="1">
          <p15:clr>
            <a:srgbClr val="F26B43"/>
          </p15:clr>
        </p15:guide>
        <p15:guide id="3" orient="horz" pos="3140" userDrawn="1">
          <p15:clr>
            <a:srgbClr val="F26B43"/>
          </p15:clr>
        </p15:guide>
        <p15:guide id="4" pos="56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6901837-C778-59FF-37C1-D287FFD031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21/05/2026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F5840D-8998-0618-A9DD-44E1B216BE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813" y="1043241"/>
            <a:ext cx="3738086" cy="2305174"/>
          </a:xfrm>
        </p:spPr>
        <p:txBody>
          <a:bodyPr/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PyPSA. 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Modelo de Redes e Infraestructura Energética Europea</a:t>
            </a:r>
          </a:p>
        </p:txBody>
      </p:sp>
    </p:spTree>
    <p:extLst>
      <p:ext uri="{BB962C8B-B14F-4D97-AF65-F5344CB8AC3E}">
        <p14:creationId xmlns:p14="http://schemas.microsoft.com/office/powerpoint/2010/main" val="426706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1D1E27E-95D0-95BE-2FCE-4E647BDCC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2</a:t>
            </a:fld>
            <a:endParaRPr lang="es-ES_tradnl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CBBF093-E173-A161-45EE-78690B9E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DF9168-9F9B-16AE-0064-1DF6392AB198}"/>
              </a:ext>
            </a:extLst>
          </p:cNvPr>
          <p:cNvSpPr txBox="1">
            <a:spLocks/>
          </p:cNvSpPr>
          <p:nvPr/>
        </p:nvSpPr>
        <p:spPr>
          <a:xfrm>
            <a:off x="426380" y="2958737"/>
            <a:ext cx="7966800" cy="1534886"/>
          </a:xfrm>
          <a:prstGeom prst="rect">
            <a:avLst/>
          </a:prstGeom>
          <a:solidFill>
            <a:schemeClr val="bg1"/>
          </a:solidFill>
        </p:spPr>
        <p:txBody>
          <a:bodyPr lIns="360000" tIns="360000" rIns="360000" bIns="360000" numCol="2" anchor="ctr" anchorCtr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400" b="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s-ES" sz="1300" dirty="0"/>
              <a:t>Estructura de la Red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300" dirty="0"/>
              <a:t>Modelo de BenchMarking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300" dirty="0"/>
              <a:t>Modelo de Dispatching - Sensibilidades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300" dirty="0"/>
              <a:t>Modelo de Inversión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300" dirty="0"/>
              <a:t>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280431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1BC8-AFF5-C2FF-E8F1-2FB4DB2F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D0F0CB-40E7-7A0F-B720-90112DC9F1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74743" y="1903906"/>
            <a:ext cx="2794514" cy="1335687"/>
          </a:xfrm>
        </p:spPr>
        <p:txBody>
          <a:bodyPr/>
          <a:lstStyle/>
          <a:p>
            <a:pPr algn="ctr"/>
            <a:r>
              <a:rPr lang="es-ES" sz="2400" dirty="0"/>
              <a:t>ESTRUCTURA </a:t>
            </a:r>
          </a:p>
          <a:p>
            <a:pPr algn="ctr"/>
            <a:r>
              <a:rPr lang="es-ES" sz="2400" dirty="0"/>
              <a:t>DE </a:t>
            </a:r>
          </a:p>
          <a:p>
            <a:pPr algn="ctr"/>
            <a:r>
              <a:rPr lang="es-ES" sz="2400" dirty="0"/>
              <a:t>LA </a:t>
            </a:r>
          </a:p>
          <a:p>
            <a:pPr algn="ctr"/>
            <a:r>
              <a:rPr lang="es-ES" sz="2400" dirty="0"/>
              <a:t>RED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095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76F5-C932-CA1C-DB45-14A7B837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B6F38B9-10D3-9615-3E77-249F7A931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4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86A7F0-1654-45D4-21DA-5DC61E9423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Estructura de la Red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D1E293E-781D-E951-123D-6C3ECF508B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2000" y="700187"/>
            <a:ext cx="7940342" cy="169277"/>
          </a:xfrm>
        </p:spPr>
        <p:txBody>
          <a:bodyPr/>
          <a:lstStyle/>
          <a:p>
            <a:r>
              <a:rPr lang="es-ES_tradnl" dirty="0"/>
              <a:t>España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B3B6E9-5702-1C0F-73FB-B90F426EB40A}"/>
              </a:ext>
            </a:extLst>
          </p:cNvPr>
          <p:cNvSpPr/>
          <p:nvPr/>
        </p:nvSpPr>
        <p:spPr>
          <a:xfrm>
            <a:off x="2859387" y="2756768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Eléctrico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0824265-9CD9-8792-DBAD-A43212E51669}"/>
              </a:ext>
            </a:extLst>
          </p:cNvPr>
          <p:cNvSpPr/>
          <p:nvPr/>
        </p:nvSpPr>
        <p:spPr>
          <a:xfrm>
            <a:off x="4809303" y="2749202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2EE916B-974A-6D86-DA1A-2874917A4222}"/>
              </a:ext>
            </a:extLst>
          </p:cNvPr>
          <p:cNvCxnSpPr>
            <a:cxnSpLocks/>
          </p:cNvCxnSpPr>
          <p:nvPr/>
        </p:nvCxnSpPr>
        <p:spPr>
          <a:xfrm>
            <a:off x="3725297" y="2863502"/>
            <a:ext cx="1084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25CF7D-CBE5-EF26-D7E8-93710098394C}"/>
              </a:ext>
            </a:extLst>
          </p:cNvPr>
          <p:cNvSpPr/>
          <p:nvPr/>
        </p:nvSpPr>
        <p:spPr>
          <a:xfrm>
            <a:off x="2859387" y="1660795"/>
            <a:ext cx="865910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SRES Excedentes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84D770B-2535-E4F7-1255-0651785876D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292342" y="1975347"/>
            <a:ext cx="0" cy="76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A6D6800-6E35-7BB0-FAF1-6243EAEF821A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5241266" y="1958361"/>
            <a:ext cx="992" cy="790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84DF16C-3339-D34F-DA36-27AE9BB883A6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725297" y="1384300"/>
            <a:ext cx="0" cy="433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595D3A1-92D0-CB8C-9CF2-2B2B06EB6EBC}"/>
              </a:ext>
            </a:extLst>
          </p:cNvPr>
          <p:cNvCxnSpPr>
            <a:cxnSpLocks/>
          </p:cNvCxnSpPr>
          <p:nvPr/>
        </p:nvCxnSpPr>
        <p:spPr>
          <a:xfrm>
            <a:off x="3087631" y="1444515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E23EE3A-CBB7-A1D5-CF67-8DA27F925498}"/>
              </a:ext>
            </a:extLst>
          </p:cNvPr>
          <p:cNvSpPr/>
          <p:nvPr/>
        </p:nvSpPr>
        <p:spPr>
          <a:xfrm>
            <a:off x="4716831" y="1643809"/>
            <a:ext cx="1048870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SRES Electrolizador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F732884-C37F-F30E-DCBB-0CADB66D6DF0}"/>
              </a:ext>
            </a:extLst>
          </p:cNvPr>
          <p:cNvCxnSpPr>
            <a:cxnSpLocks/>
          </p:cNvCxnSpPr>
          <p:nvPr/>
        </p:nvCxnSpPr>
        <p:spPr>
          <a:xfrm flipV="1">
            <a:off x="5765701" y="1339850"/>
            <a:ext cx="0" cy="489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B7D0A3B-FF45-1616-46D9-3B9FCC98B7EB}"/>
              </a:ext>
            </a:extLst>
          </p:cNvPr>
          <p:cNvCxnSpPr>
            <a:cxnSpLocks/>
          </p:cNvCxnSpPr>
          <p:nvPr/>
        </p:nvCxnSpPr>
        <p:spPr>
          <a:xfrm>
            <a:off x="5275596" y="1444515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076A4CF-E324-ACD2-EABE-53438531B1DB}"/>
              </a:ext>
            </a:extLst>
          </p:cNvPr>
          <p:cNvSpPr/>
          <p:nvPr/>
        </p:nvSpPr>
        <p:spPr>
          <a:xfrm>
            <a:off x="2485075" y="1288891"/>
            <a:ext cx="748624" cy="3145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Eólica y Solar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5E05EC2-539D-4EB5-5360-0655AAFE70B9}"/>
              </a:ext>
            </a:extLst>
          </p:cNvPr>
          <p:cNvSpPr/>
          <p:nvPr/>
        </p:nvSpPr>
        <p:spPr>
          <a:xfrm>
            <a:off x="4716831" y="1257933"/>
            <a:ext cx="715442" cy="3145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Eólica y Solar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0C2ACBE-D113-01C2-64F6-76A7367DE34A}"/>
              </a:ext>
            </a:extLst>
          </p:cNvPr>
          <p:cNvSpPr/>
          <p:nvPr/>
        </p:nvSpPr>
        <p:spPr>
          <a:xfrm>
            <a:off x="2104085" y="3865296"/>
            <a:ext cx="962583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Hidroeléctrica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72CC9DC-44D4-B673-B664-1300F57AC80F}"/>
              </a:ext>
            </a:extLst>
          </p:cNvPr>
          <p:cNvSpPr/>
          <p:nvPr/>
        </p:nvSpPr>
        <p:spPr>
          <a:xfrm>
            <a:off x="3725297" y="3865296"/>
            <a:ext cx="465161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Gas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CFED2251-C7B3-CAEF-880B-75B4CB1ABE16}"/>
              </a:ext>
            </a:extLst>
          </p:cNvPr>
          <p:cNvCxnSpPr>
            <a:cxnSpLocks/>
          </p:cNvCxnSpPr>
          <p:nvPr/>
        </p:nvCxnSpPr>
        <p:spPr>
          <a:xfrm>
            <a:off x="2859387" y="2985368"/>
            <a:ext cx="0" cy="81772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198E23F-F198-C8D9-27F6-DFB07EBE76C1}"/>
              </a:ext>
            </a:extLst>
          </p:cNvPr>
          <p:cNvCxnSpPr>
            <a:cxnSpLocks/>
          </p:cNvCxnSpPr>
          <p:nvPr/>
        </p:nvCxnSpPr>
        <p:spPr>
          <a:xfrm>
            <a:off x="3725297" y="2993042"/>
            <a:ext cx="0" cy="87225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49150C2A-44C7-9989-A8DC-A815BE15E9A3}"/>
              </a:ext>
            </a:extLst>
          </p:cNvPr>
          <p:cNvCxnSpPr>
            <a:cxnSpLocks/>
          </p:cNvCxnSpPr>
          <p:nvPr/>
        </p:nvCxnSpPr>
        <p:spPr>
          <a:xfrm flipV="1">
            <a:off x="2104085" y="3627987"/>
            <a:ext cx="0" cy="5073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22BCAE0C-883F-538B-B90B-7F24F7EDBA62}"/>
              </a:ext>
            </a:extLst>
          </p:cNvPr>
          <p:cNvCxnSpPr>
            <a:cxnSpLocks/>
          </p:cNvCxnSpPr>
          <p:nvPr/>
        </p:nvCxnSpPr>
        <p:spPr>
          <a:xfrm>
            <a:off x="2427937" y="2586643"/>
            <a:ext cx="339971" cy="1646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9B4BE156-EF50-A4C2-4CE3-7941D0F8775E}"/>
              </a:ext>
            </a:extLst>
          </p:cNvPr>
          <p:cNvSpPr/>
          <p:nvPr/>
        </p:nvSpPr>
        <p:spPr>
          <a:xfrm>
            <a:off x="1763383" y="2534829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038FEBBD-AE0A-27F1-1D9E-89B66BD5C8B7}"/>
              </a:ext>
            </a:extLst>
          </p:cNvPr>
          <p:cNvCxnSpPr>
            <a:cxnSpLocks/>
          </p:cNvCxnSpPr>
          <p:nvPr/>
        </p:nvCxnSpPr>
        <p:spPr>
          <a:xfrm>
            <a:off x="2427937" y="2399976"/>
            <a:ext cx="314878" cy="0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51215B98-2A0A-BB85-C44A-13AD7D024A9A}"/>
              </a:ext>
            </a:extLst>
          </p:cNvPr>
          <p:cNvSpPr/>
          <p:nvPr/>
        </p:nvSpPr>
        <p:spPr>
          <a:xfrm>
            <a:off x="1757248" y="2329485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CDB9C362-2264-8854-ABB6-6E473765B439}"/>
              </a:ext>
            </a:extLst>
          </p:cNvPr>
          <p:cNvCxnSpPr>
            <a:cxnSpLocks/>
          </p:cNvCxnSpPr>
          <p:nvPr/>
        </p:nvCxnSpPr>
        <p:spPr>
          <a:xfrm flipV="1">
            <a:off x="2859387" y="2378388"/>
            <a:ext cx="0" cy="606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13A4346-7D34-9448-0E9B-AF1134CE2AB2}"/>
              </a:ext>
            </a:extLst>
          </p:cNvPr>
          <p:cNvCxnSpPr>
            <a:cxnSpLocks/>
          </p:cNvCxnSpPr>
          <p:nvPr/>
        </p:nvCxnSpPr>
        <p:spPr>
          <a:xfrm>
            <a:off x="2381250" y="2781039"/>
            <a:ext cx="392971" cy="0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A4AA67F1-1253-1CA0-68AA-75D67E99EEBE}"/>
              </a:ext>
            </a:extLst>
          </p:cNvPr>
          <p:cNvSpPr/>
          <p:nvPr/>
        </p:nvSpPr>
        <p:spPr>
          <a:xfrm>
            <a:off x="1756078" y="2694843"/>
            <a:ext cx="624950" cy="1801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7AAE"/>
                </a:solidFill>
              </a:rPr>
              <a:t>Baterías Eléctricas 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6011B45-5900-0D55-AD77-115DA2F867CA}"/>
              </a:ext>
            </a:extLst>
          </p:cNvPr>
          <p:cNvCxnSpPr>
            <a:cxnSpLocks/>
          </p:cNvCxnSpPr>
          <p:nvPr/>
        </p:nvCxnSpPr>
        <p:spPr>
          <a:xfrm flipV="1">
            <a:off x="1657350" y="3719112"/>
            <a:ext cx="397024" cy="4360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696E1AE-3A7B-061D-52AF-2E66CA569A75}"/>
              </a:ext>
            </a:extLst>
          </p:cNvPr>
          <p:cNvSpPr/>
          <p:nvPr/>
        </p:nvSpPr>
        <p:spPr>
          <a:xfrm>
            <a:off x="1014745" y="3633396"/>
            <a:ext cx="624950" cy="1801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7AAE"/>
                </a:solidFill>
              </a:rPr>
              <a:t>Embalses</a:t>
            </a:r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F7953C7D-A159-14CE-C774-7C9E74264877}"/>
              </a:ext>
            </a:extLst>
          </p:cNvPr>
          <p:cNvCxnSpPr>
            <a:cxnSpLocks/>
          </p:cNvCxnSpPr>
          <p:nvPr/>
        </p:nvCxnSpPr>
        <p:spPr>
          <a:xfrm>
            <a:off x="4209388" y="3723472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0C96CFC9-EEE6-590F-F5E3-BB20FBF6897C}"/>
              </a:ext>
            </a:extLst>
          </p:cNvPr>
          <p:cNvCxnSpPr>
            <a:cxnSpLocks/>
          </p:cNvCxnSpPr>
          <p:nvPr/>
        </p:nvCxnSpPr>
        <p:spPr>
          <a:xfrm flipV="1">
            <a:off x="4190458" y="3627987"/>
            <a:ext cx="0" cy="5407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C1FECD5F-27E3-D6A3-65F8-B05DB570F494}"/>
              </a:ext>
            </a:extLst>
          </p:cNvPr>
          <p:cNvSpPr/>
          <p:nvPr/>
        </p:nvSpPr>
        <p:spPr>
          <a:xfrm>
            <a:off x="4520589" y="3627987"/>
            <a:ext cx="865907" cy="175103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B050"/>
                </a:solidFill>
              </a:rPr>
              <a:t>Importaciones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C8E9B503-72B4-9E7C-009A-AA77D3A117CB}"/>
              </a:ext>
            </a:extLst>
          </p:cNvPr>
          <p:cNvCxnSpPr>
            <a:cxnSpLocks/>
          </p:cNvCxnSpPr>
          <p:nvPr/>
        </p:nvCxnSpPr>
        <p:spPr>
          <a:xfrm flipV="1">
            <a:off x="5675213" y="2440874"/>
            <a:ext cx="0" cy="544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AE06E2EC-19C2-C259-4612-C10537274ED9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5773006" y="2666099"/>
            <a:ext cx="373262" cy="4392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2469E9A9-DD5A-AA61-DAD3-28A2E7C94540}"/>
              </a:ext>
            </a:extLst>
          </p:cNvPr>
          <p:cNvCxnSpPr>
            <a:cxnSpLocks/>
          </p:cNvCxnSpPr>
          <p:nvPr/>
        </p:nvCxnSpPr>
        <p:spPr>
          <a:xfrm>
            <a:off x="5765701" y="2474498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39C49547-79A6-49FE-92B2-FC380AB61D46}"/>
              </a:ext>
            </a:extLst>
          </p:cNvPr>
          <p:cNvCxnSpPr>
            <a:cxnSpLocks/>
          </p:cNvCxnSpPr>
          <p:nvPr/>
        </p:nvCxnSpPr>
        <p:spPr>
          <a:xfrm flipV="1">
            <a:off x="5766692" y="2859515"/>
            <a:ext cx="379576" cy="3726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D5786E5-F300-A1E7-8479-A0F37D657830}"/>
              </a:ext>
            </a:extLst>
          </p:cNvPr>
          <p:cNvSpPr/>
          <p:nvPr/>
        </p:nvSpPr>
        <p:spPr>
          <a:xfrm>
            <a:off x="6146268" y="2610404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146BE494-F97B-31D0-9E0F-17FA6FA5F602}"/>
              </a:ext>
            </a:extLst>
          </p:cNvPr>
          <p:cNvSpPr/>
          <p:nvPr/>
        </p:nvSpPr>
        <p:spPr>
          <a:xfrm>
            <a:off x="6108168" y="2407093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4560757D-F16B-F49E-C30A-32D0B9218903}"/>
              </a:ext>
            </a:extLst>
          </p:cNvPr>
          <p:cNvSpPr/>
          <p:nvPr/>
        </p:nvSpPr>
        <p:spPr>
          <a:xfrm>
            <a:off x="6146268" y="2813715"/>
            <a:ext cx="908578" cy="159634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7AAE"/>
                </a:solidFill>
              </a:rPr>
              <a:t>Almacenamientos H2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7AA43A33-125F-B47A-B8F3-2BFE9128B1EC}"/>
              </a:ext>
            </a:extLst>
          </p:cNvPr>
          <p:cNvSpPr/>
          <p:nvPr/>
        </p:nvSpPr>
        <p:spPr>
          <a:xfrm>
            <a:off x="3858227" y="2749202"/>
            <a:ext cx="767881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i="1" u="sng" dirty="0">
                <a:solidFill>
                  <a:srgbClr val="63666A"/>
                </a:solidFill>
              </a:rPr>
              <a:t>Electrólisis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D3C9D39A-6AE5-C8ED-8DEE-D449F4DE7A0B}"/>
              </a:ext>
            </a:extLst>
          </p:cNvPr>
          <p:cNvSpPr/>
          <p:nvPr/>
        </p:nvSpPr>
        <p:spPr>
          <a:xfrm>
            <a:off x="4826441" y="2171375"/>
            <a:ext cx="829649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i="1" u="sng" dirty="0">
                <a:solidFill>
                  <a:srgbClr val="63666A"/>
                </a:solidFill>
              </a:rPr>
              <a:t>Electrólisis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66D36F04-7A4F-1020-DEC5-9907EDA670A9}"/>
              </a:ext>
            </a:extLst>
          </p:cNvPr>
          <p:cNvSpPr/>
          <p:nvPr/>
        </p:nvSpPr>
        <p:spPr>
          <a:xfrm>
            <a:off x="3456699" y="3344619"/>
            <a:ext cx="501178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800" i="1" u="sng" dirty="0">
                <a:solidFill>
                  <a:srgbClr val="63666A"/>
                </a:solidFill>
              </a:rPr>
              <a:t>CCGT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225E7968-3E83-BDD9-F1A9-5E2CBA279FEC}"/>
              </a:ext>
            </a:extLst>
          </p:cNvPr>
          <p:cNvSpPr/>
          <p:nvPr/>
        </p:nvSpPr>
        <p:spPr>
          <a:xfrm>
            <a:off x="2296786" y="3322269"/>
            <a:ext cx="1016237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800" i="1" u="sng" dirty="0">
                <a:solidFill>
                  <a:srgbClr val="63666A"/>
                </a:solidFill>
              </a:rPr>
              <a:t>Pump/Turbina</a:t>
            </a:r>
          </a:p>
        </p:txBody>
      </p:sp>
    </p:spTree>
    <p:extLst>
      <p:ext uri="{BB962C8B-B14F-4D97-AF65-F5344CB8AC3E}">
        <p14:creationId xmlns:p14="http://schemas.microsoft.com/office/powerpoint/2010/main" val="389272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ED4A-C4ED-864D-CB53-A0503335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F34C830-63E8-80FC-E750-1F9E1063F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5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B39869-F09F-9500-B96D-60E8316A3F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Estructura de la Red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FB350D5-071F-F2B6-9C98-9268EEED2D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_tradnl" dirty="0"/>
              <a:t>Portugal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A23C19-263A-7C38-57C0-87D1CFCC00B4}"/>
              </a:ext>
            </a:extLst>
          </p:cNvPr>
          <p:cNvSpPr/>
          <p:nvPr/>
        </p:nvSpPr>
        <p:spPr>
          <a:xfrm>
            <a:off x="2859387" y="2756768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Eléctrico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152C75-E42D-2F87-AB45-FD41AD7E9ACD}"/>
              </a:ext>
            </a:extLst>
          </p:cNvPr>
          <p:cNvSpPr/>
          <p:nvPr/>
        </p:nvSpPr>
        <p:spPr>
          <a:xfrm>
            <a:off x="4809303" y="2749202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04B4F0D-43B9-3A86-BA67-9748E178531B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5241266" y="1958361"/>
            <a:ext cx="992" cy="790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417DF9C-6493-FB0A-F22F-13A08673EA5D}"/>
              </a:ext>
            </a:extLst>
          </p:cNvPr>
          <p:cNvSpPr/>
          <p:nvPr/>
        </p:nvSpPr>
        <p:spPr>
          <a:xfrm>
            <a:off x="4716831" y="1643809"/>
            <a:ext cx="1048870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SRES Electrolizador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1E1A65F-E55C-BAC6-44BB-BE01424DE05B}"/>
              </a:ext>
            </a:extLst>
          </p:cNvPr>
          <p:cNvCxnSpPr>
            <a:cxnSpLocks/>
          </p:cNvCxnSpPr>
          <p:nvPr/>
        </p:nvCxnSpPr>
        <p:spPr>
          <a:xfrm flipV="1">
            <a:off x="5765701" y="1339850"/>
            <a:ext cx="0" cy="489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E1F94544-2A13-751A-5651-0F31CF7CBF5F}"/>
              </a:ext>
            </a:extLst>
          </p:cNvPr>
          <p:cNvCxnSpPr>
            <a:cxnSpLocks/>
          </p:cNvCxnSpPr>
          <p:nvPr/>
        </p:nvCxnSpPr>
        <p:spPr>
          <a:xfrm>
            <a:off x="5275596" y="1444515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E173CBD-D286-3B57-C0E4-7FECEE619032}"/>
              </a:ext>
            </a:extLst>
          </p:cNvPr>
          <p:cNvSpPr/>
          <p:nvPr/>
        </p:nvSpPr>
        <p:spPr>
          <a:xfrm>
            <a:off x="4716831" y="1257933"/>
            <a:ext cx="715442" cy="3145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Eólica y Solar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5C26F3C-DED5-0A5D-4988-98436BA13955}"/>
              </a:ext>
            </a:extLst>
          </p:cNvPr>
          <p:cNvSpPr/>
          <p:nvPr/>
        </p:nvSpPr>
        <p:spPr>
          <a:xfrm>
            <a:off x="2104085" y="3865296"/>
            <a:ext cx="962583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Hidroeléctrica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A595C5F-E3F7-547A-6E81-2479325E447D}"/>
              </a:ext>
            </a:extLst>
          </p:cNvPr>
          <p:cNvSpPr/>
          <p:nvPr/>
        </p:nvSpPr>
        <p:spPr>
          <a:xfrm>
            <a:off x="3725297" y="3865296"/>
            <a:ext cx="465161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Gas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CD4F442-F523-D4C9-DA39-F25B33E6325B}"/>
              </a:ext>
            </a:extLst>
          </p:cNvPr>
          <p:cNvCxnSpPr>
            <a:cxnSpLocks/>
          </p:cNvCxnSpPr>
          <p:nvPr/>
        </p:nvCxnSpPr>
        <p:spPr>
          <a:xfrm>
            <a:off x="2859387" y="2985368"/>
            <a:ext cx="0" cy="81772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8F04B3A5-CCEB-6EB6-44B8-39A29F86C4F3}"/>
              </a:ext>
            </a:extLst>
          </p:cNvPr>
          <p:cNvCxnSpPr>
            <a:cxnSpLocks/>
          </p:cNvCxnSpPr>
          <p:nvPr/>
        </p:nvCxnSpPr>
        <p:spPr>
          <a:xfrm>
            <a:off x="3725297" y="2993042"/>
            <a:ext cx="0" cy="87225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1EC31ECA-657F-C588-B186-A388159C4AE1}"/>
              </a:ext>
            </a:extLst>
          </p:cNvPr>
          <p:cNvCxnSpPr>
            <a:cxnSpLocks/>
          </p:cNvCxnSpPr>
          <p:nvPr/>
        </p:nvCxnSpPr>
        <p:spPr>
          <a:xfrm flipV="1">
            <a:off x="2104085" y="3627987"/>
            <a:ext cx="0" cy="5073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63AC5EC-322E-59EE-EB35-FEC8E18E9998}"/>
              </a:ext>
            </a:extLst>
          </p:cNvPr>
          <p:cNvCxnSpPr>
            <a:cxnSpLocks/>
          </p:cNvCxnSpPr>
          <p:nvPr/>
        </p:nvCxnSpPr>
        <p:spPr>
          <a:xfrm>
            <a:off x="2427937" y="2586643"/>
            <a:ext cx="339971" cy="1646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219387B-7AEB-5614-A36B-12A5791B2256}"/>
              </a:ext>
            </a:extLst>
          </p:cNvPr>
          <p:cNvSpPr/>
          <p:nvPr/>
        </p:nvSpPr>
        <p:spPr>
          <a:xfrm>
            <a:off x="1763383" y="2534829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314A4A85-712A-5C12-D1B7-02276B61DF44}"/>
              </a:ext>
            </a:extLst>
          </p:cNvPr>
          <p:cNvCxnSpPr>
            <a:cxnSpLocks/>
          </p:cNvCxnSpPr>
          <p:nvPr/>
        </p:nvCxnSpPr>
        <p:spPr>
          <a:xfrm>
            <a:off x="2427937" y="2399976"/>
            <a:ext cx="314878" cy="0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E715B564-A3FA-40D2-5129-A363A2325E92}"/>
              </a:ext>
            </a:extLst>
          </p:cNvPr>
          <p:cNvSpPr/>
          <p:nvPr/>
        </p:nvSpPr>
        <p:spPr>
          <a:xfrm>
            <a:off x="1757248" y="2329485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4DDE8AE-3443-6DA0-9E57-4E8FED69C823}"/>
              </a:ext>
            </a:extLst>
          </p:cNvPr>
          <p:cNvCxnSpPr>
            <a:cxnSpLocks/>
          </p:cNvCxnSpPr>
          <p:nvPr/>
        </p:nvCxnSpPr>
        <p:spPr>
          <a:xfrm flipV="1">
            <a:off x="2859387" y="2378388"/>
            <a:ext cx="0" cy="606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107456F7-6F94-715B-288C-7896C9216DBF}"/>
              </a:ext>
            </a:extLst>
          </p:cNvPr>
          <p:cNvCxnSpPr>
            <a:cxnSpLocks/>
          </p:cNvCxnSpPr>
          <p:nvPr/>
        </p:nvCxnSpPr>
        <p:spPr>
          <a:xfrm>
            <a:off x="2381250" y="2781039"/>
            <a:ext cx="392971" cy="0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85D47128-EE13-666D-DA04-223FBB9F77EF}"/>
              </a:ext>
            </a:extLst>
          </p:cNvPr>
          <p:cNvSpPr/>
          <p:nvPr/>
        </p:nvSpPr>
        <p:spPr>
          <a:xfrm>
            <a:off x="1756078" y="2694843"/>
            <a:ext cx="624950" cy="1801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7AAE"/>
                </a:solidFill>
              </a:rPr>
              <a:t>Baterías Eléctricas 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7F095D54-63E7-2EB5-6760-898961F3F896}"/>
              </a:ext>
            </a:extLst>
          </p:cNvPr>
          <p:cNvCxnSpPr>
            <a:cxnSpLocks/>
          </p:cNvCxnSpPr>
          <p:nvPr/>
        </p:nvCxnSpPr>
        <p:spPr>
          <a:xfrm flipV="1">
            <a:off x="1657350" y="3719112"/>
            <a:ext cx="397024" cy="4360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F5AB9641-F9F1-8DF6-71F6-7B44FB197F0F}"/>
              </a:ext>
            </a:extLst>
          </p:cNvPr>
          <p:cNvSpPr/>
          <p:nvPr/>
        </p:nvSpPr>
        <p:spPr>
          <a:xfrm>
            <a:off x="1014745" y="3633396"/>
            <a:ext cx="624950" cy="1801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7AAE"/>
                </a:solidFill>
              </a:rPr>
              <a:t>Embalses</a:t>
            </a:r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5B2EC329-A5FF-D4E8-A1EA-DC67D1F22FCE}"/>
              </a:ext>
            </a:extLst>
          </p:cNvPr>
          <p:cNvCxnSpPr>
            <a:cxnSpLocks/>
          </p:cNvCxnSpPr>
          <p:nvPr/>
        </p:nvCxnSpPr>
        <p:spPr>
          <a:xfrm>
            <a:off x="4209388" y="3723472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FC6BFBE1-0DD2-231F-EC7A-E0DC923FDE8B}"/>
              </a:ext>
            </a:extLst>
          </p:cNvPr>
          <p:cNvCxnSpPr>
            <a:cxnSpLocks/>
          </p:cNvCxnSpPr>
          <p:nvPr/>
        </p:nvCxnSpPr>
        <p:spPr>
          <a:xfrm flipV="1">
            <a:off x="4190458" y="3627987"/>
            <a:ext cx="0" cy="5407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0FB51D9-AFA9-8B24-804C-A6870EA7425C}"/>
              </a:ext>
            </a:extLst>
          </p:cNvPr>
          <p:cNvSpPr/>
          <p:nvPr/>
        </p:nvSpPr>
        <p:spPr>
          <a:xfrm>
            <a:off x="4520589" y="3627987"/>
            <a:ext cx="865907" cy="175103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B050"/>
                </a:solidFill>
              </a:rPr>
              <a:t>Importaciones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57D4F2B7-39F1-70A6-ABFA-E9F4A4019DF4}"/>
              </a:ext>
            </a:extLst>
          </p:cNvPr>
          <p:cNvCxnSpPr>
            <a:cxnSpLocks/>
          </p:cNvCxnSpPr>
          <p:nvPr/>
        </p:nvCxnSpPr>
        <p:spPr>
          <a:xfrm flipV="1">
            <a:off x="5675213" y="2440874"/>
            <a:ext cx="0" cy="544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C60CC8FE-35C9-E8A6-C92A-CE90A15E647A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5773006" y="2666099"/>
            <a:ext cx="373262" cy="4392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AB6A9231-5AD7-0E14-AA25-9A37782D8161}"/>
              </a:ext>
            </a:extLst>
          </p:cNvPr>
          <p:cNvCxnSpPr>
            <a:cxnSpLocks/>
          </p:cNvCxnSpPr>
          <p:nvPr/>
        </p:nvCxnSpPr>
        <p:spPr>
          <a:xfrm>
            <a:off x="5765701" y="2474498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567AD118-533C-8B07-EF6F-33DBEE0C4DA3}"/>
              </a:ext>
            </a:extLst>
          </p:cNvPr>
          <p:cNvCxnSpPr>
            <a:cxnSpLocks/>
          </p:cNvCxnSpPr>
          <p:nvPr/>
        </p:nvCxnSpPr>
        <p:spPr>
          <a:xfrm flipV="1">
            <a:off x="5766692" y="2859515"/>
            <a:ext cx="379576" cy="3726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B924211-5E81-32FC-4F9F-55D29B215C28}"/>
              </a:ext>
            </a:extLst>
          </p:cNvPr>
          <p:cNvSpPr/>
          <p:nvPr/>
        </p:nvSpPr>
        <p:spPr>
          <a:xfrm>
            <a:off x="6146268" y="2610404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AD518CA5-D0C1-5E99-635C-39F2A2B7EE35}"/>
              </a:ext>
            </a:extLst>
          </p:cNvPr>
          <p:cNvSpPr/>
          <p:nvPr/>
        </p:nvSpPr>
        <p:spPr>
          <a:xfrm>
            <a:off x="6108168" y="2407093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EC08C4-BC0C-93DA-C19A-A1F711E12F7C}"/>
              </a:ext>
            </a:extLst>
          </p:cNvPr>
          <p:cNvSpPr/>
          <p:nvPr/>
        </p:nvSpPr>
        <p:spPr>
          <a:xfrm>
            <a:off x="6146268" y="2813715"/>
            <a:ext cx="908578" cy="159634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7AAE"/>
                </a:solidFill>
              </a:rPr>
              <a:t>Almacenamientos H2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226F9620-6B96-8998-7488-D59403011042}"/>
              </a:ext>
            </a:extLst>
          </p:cNvPr>
          <p:cNvSpPr/>
          <p:nvPr/>
        </p:nvSpPr>
        <p:spPr>
          <a:xfrm>
            <a:off x="4826441" y="2171375"/>
            <a:ext cx="829649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i="1" u="sng" dirty="0">
                <a:solidFill>
                  <a:srgbClr val="63666A"/>
                </a:solidFill>
              </a:rPr>
              <a:t>Electrólisis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F5CC796C-5DBC-D9CD-C29E-2FD1922690C0}"/>
              </a:ext>
            </a:extLst>
          </p:cNvPr>
          <p:cNvSpPr/>
          <p:nvPr/>
        </p:nvSpPr>
        <p:spPr>
          <a:xfrm>
            <a:off x="3456699" y="3344619"/>
            <a:ext cx="501178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800" i="1" u="sng" dirty="0">
                <a:solidFill>
                  <a:srgbClr val="63666A"/>
                </a:solidFill>
              </a:rPr>
              <a:t>CCGT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BFF90586-2D36-9248-2214-90EED3416B97}"/>
              </a:ext>
            </a:extLst>
          </p:cNvPr>
          <p:cNvSpPr/>
          <p:nvPr/>
        </p:nvSpPr>
        <p:spPr>
          <a:xfrm>
            <a:off x="2296786" y="3322269"/>
            <a:ext cx="1016237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800" i="1" u="sng" dirty="0">
                <a:solidFill>
                  <a:srgbClr val="63666A"/>
                </a:solidFill>
              </a:rPr>
              <a:t>Pump/Turbina</a:t>
            </a:r>
          </a:p>
        </p:txBody>
      </p:sp>
    </p:spTree>
    <p:extLst>
      <p:ext uri="{BB962C8B-B14F-4D97-AF65-F5344CB8AC3E}">
        <p14:creationId xmlns:p14="http://schemas.microsoft.com/office/powerpoint/2010/main" val="175316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61594-2AA3-C024-A211-10E0B2E7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41914C7-948A-00A5-EA0A-33FCE5545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6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4E2508-28C0-0C89-5686-B13DF259C7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Estructura de la Red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F270892-3746-2AE1-5CFC-1B96F8C63D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_tradnl" dirty="0"/>
              <a:t>Francia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8B5116-BBF3-7CD5-C849-C6F3385F8B98}"/>
              </a:ext>
            </a:extLst>
          </p:cNvPr>
          <p:cNvSpPr/>
          <p:nvPr/>
        </p:nvSpPr>
        <p:spPr>
          <a:xfrm>
            <a:off x="2345450" y="1879160"/>
            <a:ext cx="865910" cy="24015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Eléctrico FR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ADF274-7699-6B3A-6850-C500B90F9FDA}"/>
              </a:ext>
            </a:extLst>
          </p:cNvPr>
          <p:cNvSpPr/>
          <p:nvPr/>
        </p:nvSpPr>
        <p:spPr>
          <a:xfrm>
            <a:off x="4628933" y="1386283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  <a:p>
            <a:pPr algn="ctr"/>
            <a:r>
              <a:rPr lang="es-ES" sz="800" dirty="0"/>
              <a:t>FR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3E2164-378E-F912-A559-1C6C7316BC8A}"/>
              </a:ext>
            </a:extLst>
          </p:cNvPr>
          <p:cNvSpPr/>
          <p:nvPr/>
        </p:nvSpPr>
        <p:spPr>
          <a:xfrm>
            <a:off x="3501677" y="2781917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  <a:p>
            <a:pPr algn="ctr"/>
            <a:r>
              <a:rPr lang="es-ES" sz="800" dirty="0"/>
              <a:t>FRSW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2CB0B7-5BB3-CFF3-9C0B-82E2AF304F18}"/>
              </a:ext>
            </a:extLst>
          </p:cNvPr>
          <p:cNvSpPr/>
          <p:nvPr/>
        </p:nvSpPr>
        <p:spPr>
          <a:xfrm>
            <a:off x="5178926" y="2781917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  <a:p>
            <a:pPr algn="ctr"/>
            <a:r>
              <a:rPr lang="es-ES" sz="800" dirty="0"/>
              <a:t>FRS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964CFBB-A669-4F1E-C106-706ECE2BB35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367587" y="2896217"/>
            <a:ext cx="811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DD2A359-63A7-AE47-756A-B73C94EC950E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3934632" y="3010517"/>
            <a:ext cx="851228" cy="674092"/>
          </a:xfrm>
          <a:prstGeom prst="straightConnector1">
            <a:avLst/>
          </a:prstGeom>
          <a:ln>
            <a:solidFill>
              <a:srgbClr val="63666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87F39C-A294-E0E6-962F-D53BFEDFB70C}"/>
              </a:ext>
            </a:extLst>
          </p:cNvPr>
          <p:cNvSpPr/>
          <p:nvPr/>
        </p:nvSpPr>
        <p:spPr>
          <a:xfrm>
            <a:off x="4628933" y="3684609"/>
            <a:ext cx="865910" cy="286500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M. Hidrógeno</a:t>
            </a:r>
          </a:p>
          <a:p>
            <a:pPr algn="ctr"/>
            <a:r>
              <a:rPr lang="es-ES" sz="800" dirty="0">
                <a:solidFill>
                  <a:srgbClr val="63666A"/>
                </a:solidFill>
              </a:rPr>
              <a:t>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0A708B-6185-F599-2C8F-614B02D5FAA0}"/>
              </a:ext>
            </a:extLst>
          </p:cNvPr>
          <p:cNvSpPr/>
          <p:nvPr/>
        </p:nvSpPr>
        <p:spPr>
          <a:xfrm>
            <a:off x="2367698" y="3684609"/>
            <a:ext cx="865910" cy="286500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M. Eléctrico</a:t>
            </a:r>
          </a:p>
          <a:p>
            <a:pPr algn="ctr"/>
            <a:r>
              <a:rPr lang="es-ES" sz="800" dirty="0">
                <a:solidFill>
                  <a:srgbClr val="63666A"/>
                </a:solidFill>
              </a:rPr>
              <a:t>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A5FA9F6-EC66-76A6-75C9-7CE7B042D5DB}"/>
              </a:ext>
            </a:extLst>
          </p:cNvPr>
          <p:cNvCxnSpPr>
            <a:cxnSpLocks/>
            <a:stCxn id="14" idx="0"/>
            <a:endCxn id="3" idx="2"/>
          </p:cNvCxnSpPr>
          <p:nvPr/>
        </p:nvCxnSpPr>
        <p:spPr>
          <a:xfrm flipH="1" flipV="1">
            <a:off x="2778405" y="2119310"/>
            <a:ext cx="22248" cy="1565299"/>
          </a:xfrm>
          <a:prstGeom prst="straightConnector1">
            <a:avLst/>
          </a:prstGeom>
          <a:ln>
            <a:solidFill>
              <a:srgbClr val="63666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C7ECDC1-3E3B-80E3-7688-F97DBE586C60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5061888" y="3010517"/>
            <a:ext cx="549993" cy="674092"/>
          </a:xfrm>
          <a:prstGeom prst="straightConnector1">
            <a:avLst/>
          </a:prstGeom>
          <a:ln>
            <a:solidFill>
              <a:srgbClr val="63666A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90EE921-89B8-1840-1FB1-DE6835D1711A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061888" y="1614883"/>
            <a:ext cx="549993" cy="116703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D9CD97D-D39C-75D6-6045-607D68842FF5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3233608" y="3827859"/>
            <a:ext cx="1395325" cy="0"/>
          </a:xfrm>
          <a:prstGeom prst="straightConnector1">
            <a:avLst/>
          </a:prstGeom>
          <a:ln>
            <a:solidFill>
              <a:srgbClr val="63666A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CDA6B76-07F6-FCB6-102F-6B3EC2EFA6BB}"/>
              </a:ext>
            </a:extLst>
          </p:cNvPr>
          <p:cNvCxnSpPr>
            <a:cxnSpLocks/>
          </p:cNvCxnSpPr>
          <p:nvPr/>
        </p:nvCxnSpPr>
        <p:spPr>
          <a:xfrm flipH="1">
            <a:off x="3537722" y="2640208"/>
            <a:ext cx="490105" cy="0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AA41A01-2FDE-2C47-7722-B42B430BDC15}"/>
              </a:ext>
            </a:extLst>
          </p:cNvPr>
          <p:cNvSpPr/>
          <p:nvPr/>
        </p:nvSpPr>
        <p:spPr>
          <a:xfrm>
            <a:off x="4027827" y="2555509"/>
            <a:ext cx="1005405" cy="146330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7AAE"/>
                </a:solidFill>
              </a:rPr>
              <a:t>Almacenamientos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  <a:r>
              <a:rPr lang="es-ES" sz="600" i="1" dirty="0">
                <a:solidFill>
                  <a:srgbClr val="007AAE"/>
                </a:solidFill>
              </a:rPr>
              <a:t>H2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788C7AA-F564-89A2-5503-22B0D29CD676}"/>
              </a:ext>
            </a:extLst>
          </p:cNvPr>
          <p:cNvCxnSpPr>
            <a:cxnSpLocks/>
          </p:cNvCxnSpPr>
          <p:nvPr/>
        </p:nvCxnSpPr>
        <p:spPr>
          <a:xfrm>
            <a:off x="5951010" y="2443787"/>
            <a:ext cx="0" cy="335938"/>
          </a:xfrm>
          <a:prstGeom prst="straightConnector1">
            <a:avLst/>
          </a:prstGeom>
          <a:ln w="6350">
            <a:solidFill>
              <a:srgbClr val="007AA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9A519CB-C604-E52C-DE39-061614628468}"/>
              </a:ext>
            </a:extLst>
          </p:cNvPr>
          <p:cNvSpPr/>
          <p:nvPr/>
        </p:nvSpPr>
        <p:spPr>
          <a:xfrm>
            <a:off x="5492296" y="2190844"/>
            <a:ext cx="917427" cy="221454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600" i="1" dirty="0">
                <a:solidFill>
                  <a:srgbClr val="007AAE"/>
                </a:solidFill>
              </a:rPr>
              <a:t>Almacenamientos Hidrógeno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49D2560B-BC41-59AD-132D-5CCCECA1C024}"/>
              </a:ext>
            </a:extLst>
          </p:cNvPr>
          <p:cNvCxnSpPr>
            <a:cxnSpLocks/>
          </p:cNvCxnSpPr>
          <p:nvPr/>
        </p:nvCxnSpPr>
        <p:spPr>
          <a:xfrm flipV="1">
            <a:off x="3210852" y="1488169"/>
            <a:ext cx="0" cy="63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F91D7C4-AD37-D0D2-8814-92E2159F5561}"/>
              </a:ext>
            </a:extLst>
          </p:cNvPr>
          <p:cNvCxnSpPr>
            <a:cxnSpLocks/>
          </p:cNvCxnSpPr>
          <p:nvPr/>
        </p:nvCxnSpPr>
        <p:spPr>
          <a:xfrm>
            <a:off x="2669297" y="1783125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8AFF4BF-A024-1565-C001-F0B9A800F55E}"/>
              </a:ext>
            </a:extLst>
          </p:cNvPr>
          <p:cNvSpPr/>
          <p:nvPr/>
        </p:nvSpPr>
        <p:spPr>
          <a:xfrm>
            <a:off x="2060493" y="1714355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47DE3AF-FFC2-B98F-BEA7-3E3384452853}"/>
              </a:ext>
            </a:extLst>
          </p:cNvPr>
          <p:cNvCxnSpPr>
            <a:cxnSpLocks/>
          </p:cNvCxnSpPr>
          <p:nvPr/>
        </p:nvCxnSpPr>
        <p:spPr>
          <a:xfrm>
            <a:off x="2685443" y="1625963"/>
            <a:ext cx="490105" cy="0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BBAFB33-32E1-28F2-BA6B-F94C60441A44}"/>
              </a:ext>
            </a:extLst>
          </p:cNvPr>
          <p:cNvSpPr/>
          <p:nvPr/>
        </p:nvSpPr>
        <p:spPr>
          <a:xfrm>
            <a:off x="2055223" y="1575702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2CEE112-8992-BD9B-66C2-1430A148A511}"/>
              </a:ext>
            </a:extLst>
          </p:cNvPr>
          <p:cNvCxnSpPr>
            <a:cxnSpLocks/>
          </p:cNvCxnSpPr>
          <p:nvPr/>
        </p:nvCxnSpPr>
        <p:spPr>
          <a:xfrm flipV="1">
            <a:off x="5493507" y="972551"/>
            <a:ext cx="0" cy="63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A37F382-8C1C-D7AF-0E4B-4B6CC4995D97}"/>
              </a:ext>
            </a:extLst>
          </p:cNvPr>
          <p:cNvCxnSpPr>
            <a:cxnSpLocks/>
          </p:cNvCxnSpPr>
          <p:nvPr/>
        </p:nvCxnSpPr>
        <p:spPr>
          <a:xfrm>
            <a:off x="4951952" y="1267507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795905B-D57F-079F-9099-811F7C07759D}"/>
              </a:ext>
            </a:extLst>
          </p:cNvPr>
          <p:cNvSpPr/>
          <p:nvPr/>
        </p:nvSpPr>
        <p:spPr>
          <a:xfrm>
            <a:off x="4343148" y="1198737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DED6DD3-B24C-AEAC-0C1B-1229E0CD4D22}"/>
              </a:ext>
            </a:extLst>
          </p:cNvPr>
          <p:cNvCxnSpPr>
            <a:cxnSpLocks/>
          </p:cNvCxnSpPr>
          <p:nvPr/>
        </p:nvCxnSpPr>
        <p:spPr>
          <a:xfrm>
            <a:off x="4968098" y="1110345"/>
            <a:ext cx="490105" cy="0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BD2BB58-9DB1-1BEB-74BB-7267D66BC26E}"/>
              </a:ext>
            </a:extLst>
          </p:cNvPr>
          <p:cNvSpPr/>
          <p:nvPr/>
        </p:nvSpPr>
        <p:spPr>
          <a:xfrm>
            <a:off x="4337878" y="1060084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C00000"/>
                </a:solidFill>
              </a:rPr>
              <a:t>Demanda</a:t>
            </a:r>
            <a:r>
              <a:rPr lang="es-ES" sz="600" i="1" dirty="0">
                <a:solidFill>
                  <a:srgbClr val="63666A"/>
                </a:solidFill>
              </a:rPr>
              <a:t> 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810BAE2-F9EA-D51B-315C-0698F0064839}"/>
              </a:ext>
            </a:extLst>
          </p:cNvPr>
          <p:cNvCxnSpPr>
            <a:cxnSpLocks/>
          </p:cNvCxnSpPr>
          <p:nvPr/>
        </p:nvCxnSpPr>
        <p:spPr>
          <a:xfrm flipV="1">
            <a:off x="3501677" y="2353219"/>
            <a:ext cx="0" cy="63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BA63695-B5D7-009C-B0F4-C7B0D098CEB7}"/>
              </a:ext>
            </a:extLst>
          </p:cNvPr>
          <p:cNvCxnSpPr>
            <a:cxnSpLocks/>
          </p:cNvCxnSpPr>
          <p:nvPr/>
        </p:nvCxnSpPr>
        <p:spPr>
          <a:xfrm>
            <a:off x="3537722" y="2464860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B139618-CE3A-E822-30E9-E7A1830229FA}"/>
              </a:ext>
            </a:extLst>
          </p:cNvPr>
          <p:cNvSpPr/>
          <p:nvPr/>
        </p:nvSpPr>
        <p:spPr>
          <a:xfrm>
            <a:off x="4003983" y="2392088"/>
            <a:ext cx="624950" cy="111389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600" i="1" dirty="0">
                <a:solidFill>
                  <a:srgbClr val="00B050"/>
                </a:solidFill>
              </a:rPr>
              <a:t>Generación </a:t>
            </a:r>
          </a:p>
        </p:txBody>
      </p:sp>
    </p:spTree>
    <p:extLst>
      <p:ext uri="{BB962C8B-B14F-4D97-AF65-F5344CB8AC3E}">
        <p14:creationId xmlns:p14="http://schemas.microsoft.com/office/powerpoint/2010/main" val="40841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72DE-AE4C-94E2-9F19-033EAFF0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61D7BD-8F3F-9DEE-1BF8-EDFB9BCDF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7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92CB8A-B36A-9DF2-822A-8041345BF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Estructura de la Red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2F77A7C-51B9-E00A-3021-8BDFC68A25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_tradnl" dirty="0"/>
              <a:t>Global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A89143-51E2-80D0-46DE-6C6D8ECB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90" y="931011"/>
            <a:ext cx="331922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4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A76AB-EF88-7504-BF85-28460FF1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A0DCA0-A7BD-4AF4-6A46-6813B15561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74743" y="2238325"/>
            <a:ext cx="2794514" cy="666849"/>
          </a:xfrm>
        </p:spPr>
        <p:txBody>
          <a:bodyPr/>
          <a:lstStyle/>
          <a:p>
            <a:pPr algn="ctr"/>
            <a:r>
              <a:rPr lang="es-ES" sz="2400" dirty="0"/>
              <a:t>CREACIÓN DEL MODELO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420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5D19-CEDE-DFF9-09A8-8538CFAA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62BF339-1DFC-058A-8322-CA598284C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9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7C800A-C024-8323-F515-72E77AF508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Creación del Modelo</a:t>
            </a:r>
          </a:p>
        </p:txBody>
      </p:sp>
      <p:sp>
        <p:nvSpPr>
          <p:cNvPr id="21" name="Marcador de texto 8">
            <a:extLst>
              <a:ext uri="{FF2B5EF4-FFF2-40B4-BE49-F238E27FC236}">
                <a16:creationId xmlns:a16="http://schemas.microsoft.com/office/drawing/2014/main" id="{94A1C976-80A5-C025-7B12-802F29B564FE}"/>
              </a:ext>
            </a:extLst>
          </p:cNvPr>
          <p:cNvSpPr txBox="1">
            <a:spLocks/>
          </p:cNvSpPr>
          <p:nvPr/>
        </p:nvSpPr>
        <p:spPr>
          <a:xfrm>
            <a:off x="467424" y="817228"/>
            <a:ext cx="7904918" cy="15297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Para el correcto funcionamiento de nuestro modelo y la posterior obtención de resultados, se explicarán brevemente la metodología utilizada para la creación del modelo:</a:t>
            </a:r>
          </a:p>
          <a:p>
            <a:pPr algn="just"/>
            <a:r>
              <a:rPr lang="es-ES" dirty="0"/>
              <a:t>Tecnología SRES</a:t>
            </a:r>
          </a:p>
          <a:p>
            <a:pPr algn="just"/>
            <a:r>
              <a:rPr lang="es-ES" dirty="0"/>
              <a:t>Restricciones Baterías Eléctricas y Almacenamientos H2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02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3C43-BD47-29BB-F6AA-35A5F98B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08983C-2D74-3F99-1C05-11DB3A20C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4A7B8-DCD1-44CA-A629-967FC9CECB50}" type="slidenum">
              <a:rPr lang="es-ES_tradnl" smtClean="0"/>
              <a:pPr/>
              <a:t>10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6A1BFB-F7F7-9E61-408F-1A97FFDF62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_tradnl" dirty="0"/>
              <a:t>Baterías y Almacenamientos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12AFB15E-ED21-5152-9893-9C70BB608081}"/>
              </a:ext>
            </a:extLst>
          </p:cNvPr>
          <p:cNvSpPr txBox="1">
            <a:spLocks/>
          </p:cNvSpPr>
          <p:nvPr/>
        </p:nvSpPr>
        <p:spPr>
          <a:xfrm>
            <a:off x="432000" y="1606142"/>
            <a:ext cx="5206800" cy="4554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b="1" dirty="0">
                <a:solidFill>
                  <a:srgbClr val="5CBDCA"/>
                </a:solidFill>
              </a:rPr>
              <a:t>Estados de Carga</a:t>
            </a:r>
            <a:endParaRPr lang="es-ES" dirty="0">
              <a:solidFill>
                <a:srgbClr val="5CBDCA"/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C005C713-28A0-4631-273C-9FBE7DFF95EB}"/>
              </a:ext>
            </a:extLst>
          </p:cNvPr>
          <p:cNvSpPr txBox="1">
            <a:spLocks/>
          </p:cNvSpPr>
          <p:nvPr/>
        </p:nvSpPr>
        <p:spPr>
          <a:xfrm>
            <a:off x="432000" y="1859586"/>
            <a:ext cx="2463805" cy="4554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/>
              <a:t>Batería Mercado Eléctrico España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204D2D8-8B98-7F97-2CCF-9C7D9F0CDF48}"/>
              </a:ext>
            </a:extLst>
          </p:cNvPr>
          <p:cNvSpPr txBox="1">
            <a:spLocks/>
          </p:cNvSpPr>
          <p:nvPr/>
        </p:nvSpPr>
        <p:spPr>
          <a:xfrm>
            <a:off x="3210419" y="1859586"/>
            <a:ext cx="2732502" cy="4554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/>
              <a:t>Batería Mercado Eléctrico Portugal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3936389E-ACC7-A1FC-0588-DDD72D0CA7EC}"/>
              </a:ext>
            </a:extLst>
          </p:cNvPr>
          <p:cNvSpPr txBox="1">
            <a:spLocks/>
          </p:cNvSpPr>
          <p:nvPr/>
        </p:nvSpPr>
        <p:spPr>
          <a:xfrm>
            <a:off x="5942921" y="1859586"/>
            <a:ext cx="2429421" cy="4554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/>
              <a:t>Almacenamientos H2 España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47C723-5A6C-EE10-A129-DA438C478EFB}"/>
              </a:ext>
            </a:extLst>
          </p:cNvPr>
          <p:cNvSpPr txBox="1"/>
          <p:nvPr/>
        </p:nvSpPr>
        <p:spPr>
          <a:xfrm>
            <a:off x="432000" y="785617"/>
            <a:ext cx="8001815" cy="646331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FDFA2E78-69CB-2693-8309-65DBB11A9812}"/>
              </a:ext>
            </a:extLst>
          </p:cNvPr>
          <p:cNvSpPr txBox="1">
            <a:spLocks/>
          </p:cNvSpPr>
          <p:nvPr/>
        </p:nvSpPr>
        <p:spPr>
          <a:xfrm>
            <a:off x="467424" y="795356"/>
            <a:ext cx="5206800" cy="4902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b="1" dirty="0"/>
              <a:t>Restricción: </a:t>
            </a:r>
            <a:r>
              <a:rPr lang="es-ES" dirty="0"/>
              <a:t>el estado de carga de las baterías eléctricas y almacenamientos de hidrógeno en los instantes inicial y final, debe ser de al menos del 50% y 20% respectivamente.</a:t>
            </a:r>
          </a:p>
          <a:p>
            <a:pPr marL="0" indent="0">
              <a:buNone/>
            </a:pP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Marcador de texto 8">
                <a:extLst>
                  <a:ext uri="{FF2B5EF4-FFF2-40B4-BE49-F238E27FC236}">
                    <a16:creationId xmlns:a16="http://schemas.microsoft.com/office/drawing/2014/main" id="{D8120A6B-26DF-2E2C-0992-12B1C28FC4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9616" y="805479"/>
                <a:ext cx="4756960" cy="455469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 smtClean="0"/>
                      <m:t>Estado</m:t>
                    </m:r>
                    <m:r>
                      <m:rPr>
                        <m:nor/>
                      </m:rPr>
                      <a:rPr lang="es-ES" dirty="0" smtClean="0"/>
                      <m:t> </m:t>
                    </m:r>
                    <m:r>
                      <m:rPr>
                        <m:nor/>
                      </m:rPr>
                      <a:rPr lang="es-ES" dirty="0" smtClean="0"/>
                      <m:t>de</m:t>
                    </m:r>
                    <m:r>
                      <m:rPr>
                        <m:nor/>
                      </m:rPr>
                      <a:rPr lang="es-ES" dirty="0" smtClean="0"/>
                      <m:t> </m:t>
                    </m:r>
                    <m:r>
                      <m:rPr>
                        <m:nor/>
                      </m:rPr>
                      <a:rPr lang="es-ES" dirty="0" smtClean="0"/>
                      <m:t>carga</m:t>
                    </m:r>
                    <m:r>
                      <m:rPr>
                        <m:nor/>
                      </m:rPr>
                      <a:rPr lang="es-ES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inicial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=0)≥50%</m:t>
                    </m:r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dirty="0" smtClean="0"/>
                      <m:t>Estado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de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carga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final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sSub>
                      <m:sSub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es-ES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16" name="Marcador de texto 8">
                <a:extLst>
                  <a:ext uri="{FF2B5EF4-FFF2-40B4-BE49-F238E27FC236}">
                    <a16:creationId xmlns:a16="http://schemas.microsoft.com/office/drawing/2014/main" id="{D8120A6B-26DF-2E2C-0992-12B1C28FC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616" y="805479"/>
                <a:ext cx="4756960" cy="4554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n 24">
            <a:extLst>
              <a:ext uri="{FF2B5EF4-FFF2-40B4-BE49-F238E27FC236}">
                <a16:creationId xmlns:a16="http://schemas.microsoft.com/office/drawing/2014/main" id="{14905CE9-AA58-1B30-5C84-B09A0AF37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2235806"/>
            <a:ext cx="2587900" cy="226318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CD1DFFB-E193-FA35-78F7-E158D65DE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050" y="2235805"/>
            <a:ext cx="2587900" cy="226318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91FACAE-172C-7879-B48B-9CBFD5527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552" y="2235804"/>
            <a:ext cx="2587900" cy="226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67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D43B-755E-FAF6-6944-7C188970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7FB075-0AB7-D734-0675-41A04EE64D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362928"/>
            <a:ext cx="7940342" cy="333425"/>
          </a:xfrm>
        </p:spPr>
        <p:txBody>
          <a:bodyPr/>
          <a:lstStyle/>
          <a:p>
            <a:r>
              <a:rPr lang="es-ES" sz="2400" dirty="0"/>
              <a:t>Tecnologías Renovables Dedicadas: SRES</a:t>
            </a:r>
            <a:endParaRPr lang="es-ES" dirty="0"/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1895ABCD-BFA7-BFB6-6DCE-A60F7F44DFEE}"/>
              </a:ext>
            </a:extLst>
          </p:cNvPr>
          <p:cNvSpPr txBox="1">
            <a:spLocks/>
          </p:cNvSpPr>
          <p:nvPr/>
        </p:nvSpPr>
        <p:spPr>
          <a:xfrm>
            <a:off x="350258" y="771420"/>
            <a:ext cx="7940341" cy="6832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Se refiere a las tecnologías renovables dedicadas a la producción de H2 para su posterior venta y consumo. Bajo la estructura de SRES impuesta, se generará una electricidad para cubrir la demanda de </a:t>
            </a:r>
            <a:r>
              <a:rPr lang="es-ES" dirty="0" err="1"/>
              <a:t>h2</a:t>
            </a:r>
            <a:r>
              <a:rPr lang="es-ES" dirty="0"/>
              <a:t>, y los excedentes de esta electricidad se envían al mercado eléctrico.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10A86D-F3EE-D26F-CAAE-63C727506939}"/>
              </a:ext>
            </a:extLst>
          </p:cNvPr>
          <p:cNvSpPr/>
          <p:nvPr/>
        </p:nvSpPr>
        <p:spPr>
          <a:xfrm>
            <a:off x="2857346" y="2419573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Eléctrico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E120C9-F1B4-6EBB-9B83-AAED443EC59A}"/>
              </a:ext>
            </a:extLst>
          </p:cNvPr>
          <p:cNvSpPr/>
          <p:nvPr/>
        </p:nvSpPr>
        <p:spPr>
          <a:xfrm>
            <a:off x="4843766" y="2393747"/>
            <a:ext cx="865910" cy="228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/>
              <a:t>M. Hidrógeno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212D26A-D4B6-FA83-FA6C-00AF75B277D8}"/>
              </a:ext>
            </a:extLst>
          </p:cNvPr>
          <p:cNvCxnSpPr>
            <a:cxnSpLocks/>
          </p:cNvCxnSpPr>
          <p:nvPr/>
        </p:nvCxnSpPr>
        <p:spPr>
          <a:xfrm>
            <a:off x="3741508" y="2533873"/>
            <a:ext cx="1084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E33ED7-A814-E66A-ED20-466D53616A2D}"/>
              </a:ext>
            </a:extLst>
          </p:cNvPr>
          <p:cNvSpPr/>
          <p:nvPr/>
        </p:nvSpPr>
        <p:spPr>
          <a:xfrm>
            <a:off x="2830679" y="1730711"/>
            <a:ext cx="865910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SRES Excedentes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D58B018-CBD1-2252-27D8-7FF174CE813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263634" y="2045263"/>
            <a:ext cx="0" cy="32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F6DD99B-D636-157D-4F07-343D5896A93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696589" y="1454216"/>
            <a:ext cx="0" cy="433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2EDAAF8-9920-35CF-CAFA-016CF510EF26}"/>
              </a:ext>
            </a:extLst>
          </p:cNvPr>
          <p:cNvCxnSpPr>
            <a:cxnSpLocks/>
          </p:cNvCxnSpPr>
          <p:nvPr/>
        </p:nvCxnSpPr>
        <p:spPr>
          <a:xfrm>
            <a:off x="3058923" y="1514431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CB6764B-8E1F-D9AE-C4F7-1997A1AECF68}"/>
              </a:ext>
            </a:extLst>
          </p:cNvPr>
          <p:cNvSpPr/>
          <p:nvPr/>
        </p:nvSpPr>
        <p:spPr>
          <a:xfrm>
            <a:off x="4688123" y="1713725"/>
            <a:ext cx="1048870" cy="314552"/>
          </a:xfrm>
          <a:prstGeom prst="rect">
            <a:avLst/>
          </a:prstGeom>
          <a:ln w="9525">
            <a:solidFill>
              <a:srgbClr val="6366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63666A"/>
                </a:solidFill>
              </a:rPr>
              <a:t>SRES Electrolizador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E9F1C35-70B8-4715-AEAF-03D70F8596E1}"/>
              </a:ext>
            </a:extLst>
          </p:cNvPr>
          <p:cNvCxnSpPr>
            <a:cxnSpLocks/>
          </p:cNvCxnSpPr>
          <p:nvPr/>
        </p:nvCxnSpPr>
        <p:spPr>
          <a:xfrm flipV="1">
            <a:off x="5736993" y="1409766"/>
            <a:ext cx="0" cy="489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5C0359E-E816-A295-E63F-53381AC6ECB3}"/>
              </a:ext>
            </a:extLst>
          </p:cNvPr>
          <p:cNvCxnSpPr>
            <a:cxnSpLocks/>
          </p:cNvCxnSpPr>
          <p:nvPr/>
        </p:nvCxnSpPr>
        <p:spPr>
          <a:xfrm>
            <a:off x="5246888" y="1514431"/>
            <a:ext cx="490105" cy="0"/>
          </a:xfrm>
          <a:prstGeom prst="straightConnector1">
            <a:avLst/>
          </a:prstGeom>
          <a:ln w="635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0FCF6DA-AF0C-39A6-79F4-D52B6B1A9E4C}"/>
              </a:ext>
            </a:extLst>
          </p:cNvPr>
          <p:cNvSpPr/>
          <p:nvPr/>
        </p:nvSpPr>
        <p:spPr>
          <a:xfrm>
            <a:off x="2456367" y="1358807"/>
            <a:ext cx="748624" cy="3145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Eólica y Solar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CBE44B-1CED-B01B-3385-CED3B21D9F7E}"/>
              </a:ext>
            </a:extLst>
          </p:cNvPr>
          <p:cNvSpPr/>
          <p:nvPr/>
        </p:nvSpPr>
        <p:spPr>
          <a:xfrm>
            <a:off x="4688123" y="1327849"/>
            <a:ext cx="715442" cy="314552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ES" sz="600" i="1" dirty="0">
                <a:solidFill>
                  <a:srgbClr val="00B050"/>
                </a:solidFill>
              </a:rPr>
              <a:t>Generación Eólica y Solar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F5C6A08-3636-B078-B8C0-FD45A10AA1DB}"/>
              </a:ext>
            </a:extLst>
          </p:cNvPr>
          <p:cNvSpPr/>
          <p:nvPr/>
        </p:nvSpPr>
        <p:spPr>
          <a:xfrm>
            <a:off x="3899570" y="2430810"/>
            <a:ext cx="767881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i="1" u="sng" dirty="0">
                <a:solidFill>
                  <a:srgbClr val="63666A"/>
                </a:solidFill>
              </a:rPr>
              <a:t>Electrólisis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015B4BE-F769-8BEE-CC72-15323DDCFC20}"/>
              </a:ext>
            </a:extLst>
          </p:cNvPr>
          <p:cNvCxnSpPr>
            <a:cxnSpLocks/>
          </p:cNvCxnSpPr>
          <p:nvPr/>
        </p:nvCxnSpPr>
        <p:spPr>
          <a:xfrm>
            <a:off x="5208522" y="2052828"/>
            <a:ext cx="4036" cy="320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A2468C4-A485-A27B-DA14-601EAC27D933}"/>
              </a:ext>
            </a:extLst>
          </p:cNvPr>
          <p:cNvSpPr/>
          <p:nvPr/>
        </p:nvSpPr>
        <p:spPr>
          <a:xfrm>
            <a:off x="4780595" y="2074949"/>
            <a:ext cx="767881" cy="206125"/>
          </a:xfrm>
          <a:prstGeom prst="rect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800" i="1" u="sng" dirty="0">
                <a:solidFill>
                  <a:srgbClr val="63666A"/>
                </a:solidFill>
              </a:rPr>
              <a:t>Electrólisis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79F0229A-CE93-8CAE-CF65-68172B95C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21" y="2786670"/>
            <a:ext cx="3353091" cy="229229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C776F74-48EE-583B-E8D6-39EF4E5F8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510" y="2786670"/>
            <a:ext cx="3670110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8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AA9B-3200-A1BD-A957-E158D454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E9F3BD-F57C-F994-756B-3E8AE58F85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74743" y="2405037"/>
            <a:ext cx="2794514" cy="333425"/>
          </a:xfrm>
        </p:spPr>
        <p:txBody>
          <a:bodyPr/>
          <a:lstStyle/>
          <a:p>
            <a:pPr algn="ctr"/>
            <a:r>
              <a:rPr lang="es-ES" sz="2400" dirty="0"/>
              <a:t>BENCHMARKING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505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B910-D80C-FDE8-9A0C-563AE886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C9B3F7-C913-71A1-6A12-77328C2F26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362928"/>
            <a:ext cx="7940342" cy="333425"/>
          </a:xfrm>
        </p:spPr>
        <p:txBody>
          <a:bodyPr/>
          <a:lstStyle/>
          <a:p>
            <a:r>
              <a:rPr lang="es-ES" sz="2400" dirty="0"/>
              <a:t>BenchMarking</a:t>
            </a:r>
            <a:endParaRPr lang="es-ES" dirty="0"/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B5FCC9EC-F06F-FE3C-E684-C6EB05E5CEB6}"/>
              </a:ext>
            </a:extLst>
          </p:cNvPr>
          <p:cNvSpPr txBox="1">
            <a:spLocks/>
          </p:cNvSpPr>
          <p:nvPr/>
        </p:nvSpPr>
        <p:spPr>
          <a:xfrm>
            <a:off x="350258" y="771420"/>
            <a:ext cx="7940341" cy="28438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Explicación. </a:t>
            </a:r>
          </a:p>
          <a:p>
            <a:pPr marL="0" indent="0" algn="just">
              <a:buNone/>
            </a:pPr>
            <a:r>
              <a:rPr lang="es-ES" dirty="0"/>
              <a:t>Modelo de referencia: </a:t>
            </a:r>
            <a:r>
              <a:rPr lang="es-ES" dirty="0" err="1"/>
              <a:t>TYNDP</a:t>
            </a:r>
            <a:r>
              <a:rPr lang="es-ES" dirty="0"/>
              <a:t> 26</a:t>
            </a:r>
          </a:p>
          <a:p>
            <a:pPr marL="0" indent="0" algn="just">
              <a:buNone/>
            </a:pPr>
            <a:r>
              <a:rPr lang="es-ES" dirty="0"/>
              <a:t>Modelo de implementación: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Resultados como se mostrarán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0088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6407-BF7C-321F-654F-3BC03ABF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F136EC-B11E-B5DB-B0CD-11FF713013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9611" y="2405037"/>
            <a:ext cx="2144777" cy="333425"/>
          </a:xfrm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es-ES" sz="2200" b="1" dirty="0">
                <a:solidFill>
                  <a:srgbClr val="5CBDCA"/>
                </a:solidFill>
                <a:latin typeface="+mn-lt"/>
                <a:ea typeface="+mn-ea"/>
              </a:rPr>
              <a:t>Generadores</a:t>
            </a:r>
          </a:p>
        </p:txBody>
      </p:sp>
    </p:spTree>
    <p:extLst>
      <p:ext uri="{BB962C8B-B14F-4D97-AF65-F5344CB8AC3E}">
        <p14:creationId xmlns:p14="http://schemas.microsoft.com/office/powerpoint/2010/main" val="106981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26BD4-08C3-FF76-F9AA-B24D4357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43C0833B-58FF-B6DE-AAE3-9CB20E0A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92" y="199194"/>
            <a:ext cx="2928003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31F30982-E17F-CC48-3F67-85075CF3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92" y="2621539"/>
            <a:ext cx="2928003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3191BD0-6802-D51A-B463-113A5912F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810" y="2621538"/>
            <a:ext cx="2928004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BD0BB1D-35CB-9925-66FD-075D2AC8F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810" y="199195"/>
            <a:ext cx="2928004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992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AE3-5063-CABE-89CD-E0D820DC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26E66C7-9A27-04CE-3CC1-5C611250F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92" y="199193"/>
            <a:ext cx="2928003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0A0B16-212A-381C-312F-DF3C5BBF4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635" y="199193"/>
            <a:ext cx="2928003" cy="212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504511C-4D2D-88F6-382C-F0213ACB9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635" y="2571749"/>
            <a:ext cx="2925042" cy="2129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E532832-6DED-518C-D194-40560ECC22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54" y="2571749"/>
            <a:ext cx="2925042" cy="21290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9420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EB67-66A9-5D1A-949F-B483DA1A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57DED4-C3DE-BD93-D357-0C7F5529E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81" y="199198"/>
            <a:ext cx="2928003" cy="2129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B424F3-022E-F483-C5CC-ACA31265E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9198"/>
            <a:ext cx="2928002" cy="212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818DB0-2449-716E-A35D-C382465E2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81" y="2571749"/>
            <a:ext cx="2928002" cy="2097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ADCD33-FC6F-0AD8-0703-87ACA14F3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571749"/>
            <a:ext cx="2928002" cy="2097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8260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3F37-D5C8-326F-C2B1-8C06A0FC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A725192-24CF-8B1E-554B-93AEFACB3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81" y="199198"/>
            <a:ext cx="2928003" cy="2129029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E4D2833-398D-ED46-D021-C2368AC2F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571750"/>
            <a:ext cx="2934534" cy="212902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E30CB82-B937-6B7C-73D5-461F088A8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201549"/>
            <a:ext cx="2928003" cy="2130405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BBCEB57A-0905-CAF1-6741-75C8EBD1A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981" y="2571750"/>
            <a:ext cx="2933483" cy="21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89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2B20-C17F-A981-98C8-6439A265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592ACD-9F42-CDC0-4887-561E85B297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49980" y="2388381"/>
            <a:ext cx="2844039" cy="366738"/>
          </a:xfrm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es-ES" sz="2200" b="1" dirty="0">
                <a:solidFill>
                  <a:srgbClr val="5CBDCA"/>
                </a:solidFill>
                <a:latin typeface="+mn-lt"/>
                <a:ea typeface="+mn-ea"/>
              </a:rPr>
              <a:t>Generación de H2</a:t>
            </a:r>
          </a:p>
        </p:txBody>
      </p:sp>
    </p:spTree>
    <p:extLst>
      <p:ext uri="{BB962C8B-B14F-4D97-AF65-F5344CB8AC3E}">
        <p14:creationId xmlns:p14="http://schemas.microsoft.com/office/powerpoint/2010/main" val="77827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E241-DC1D-DFA3-4B16-E66F4E99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D3B4035-9BD9-AF45-4016-B19D59538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46" y="2562143"/>
            <a:ext cx="3333411" cy="20269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C8BE332-1C7A-1B0F-6C9C-D03849479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1785"/>
            <a:ext cx="3333411" cy="2036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DF08954-B113-7689-C378-0817E2C7B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46" y="261392"/>
            <a:ext cx="3258837" cy="20269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4D7CC18-C773-E121-C022-64204B57A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571750"/>
            <a:ext cx="3333411" cy="20269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541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8C6A-2A75-FD46-E43A-6C21AB84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C8BAAB3-0341-C191-D601-8F7A06B18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175" y="1166017"/>
            <a:ext cx="4057650" cy="28114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4935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7510-8EBF-9B2D-E835-6E97A870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70EBFA-D2E6-2133-2DAE-061F693C1F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99499" y="2238325"/>
            <a:ext cx="3945002" cy="666849"/>
          </a:xfrm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s-ES" sz="2200" b="1" dirty="0">
                <a:solidFill>
                  <a:srgbClr val="5CBDCA"/>
                </a:solidFill>
                <a:latin typeface="+mn-lt"/>
                <a:ea typeface="+mn-ea"/>
              </a:rPr>
              <a:t>Baterías Eléctricas y Almacenamientos H2</a:t>
            </a:r>
          </a:p>
        </p:txBody>
      </p:sp>
    </p:spTree>
    <p:extLst>
      <p:ext uri="{BB962C8B-B14F-4D97-AF65-F5344CB8AC3E}">
        <p14:creationId xmlns:p14="http://schemas.microsoft.com/office/powerpoint/2010/main" val="705808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A23C-D5D7-5C89-650D-97B83FB7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DAC742-EC9A-5C5D-3E3F-B8AACB490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69" y="2623961"/>
            <a:ext cx="2928003" cy="212902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8D13EC-93B2-46E5-2A35-82EA15A01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81" y="218794"/>
            <a:ext cx="2928003" cy="2129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7F95D59-41B2-E7B9-DE63-6B6845BC5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088" y="218794"/>
            <a:ext cx="2928003" cy="2129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2923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3D73-14CF-882E-6F8D-8129CF22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FFA128-DF1D-97EF-2A47-888D4E8A22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36848" y="2383618"/>
            <a:ext cx="2670304" cy="376263"/>
          </a:xfrm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es-ES" sz="2200" b="1" dirty="0">
                <a:solidFill>
                  <a:srgbClr val="5CBDCA"/>
                </a:solidFill>
                <a:latin typeface="+mn-lt"/>
                <a:ea typeface="+mn-ea"/>
              </a:rPr>
              <a:t>Interconexiones</a:t>
            </a:r>
          </a:p>
        </p:txBody>
      </p:sp>
    </p:spTree>
    <p:extLst>
      <p:ext uri="{BB962C8B-B14F-4D97-AF65-F5344CB8AC3E}">
        <p14:creationId xmlns:p14="http://schemas.microsoft.com/office/powerpoint/2010/main" val="199293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B867-1EDF-BC9F-4A18-CFF4C4855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B2B63A7-AFD7-8BCF-D300-9AE678FEE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753" y="342900"/>
            <a:ext cx="4678490" cy="2171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EE76483-E43F-4510-75E2-01435D00D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753" y="2686049"/>
            <a:ext cx="4678491" cy="21717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6886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D3712-B791-5CBE-DBCC-0DCA631E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C87A2EE-6D60-99E8-C9FC-6A30BE7BF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78" y="274292"/>
            <a:ext cx="4585644" cy="20705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CA8C646-1F4E-D49E-73DD-983D1ABD2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178" y="2476500"/>
            <a:ext cx="4585644" cy="23069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9833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4A446-84FD-4298-4A75-BD06F774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FBE0981-5F8A-907B-DA62-A32E8EBEA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068" y="404114"/>
            <a:ext cx="4877864" cy="20594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3F2FEBA-203A-D937-E19C-0F830B33F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68" y="2571750"/>
            <a:ext cx="4877864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52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D666-FBE2-B944-8E43-CD6CE176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78CCB3-FB40-3BB8-67D8-7774241789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71099" y="2405037"/>
            <a:ext cx="1201802" cy="333425"/>
          </a:xfrm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es-ES" sz="2200" b="1" dirty="0">
                <a:solidFill>
                  <a:srgbClr val="5CBDCA"/>
                </a:solidFill>
                <a:latin typeface="+mn-lt"/>
                <a:ea typeface="+mn-ea"/>
              </a:rPr>
              <a:t>Precios</a:t>
            </a:r>
          </a:p>
        </p:txBody>
      </p:sp>
    </p:spTree>
    <p:extLst>
      <p:ext uri="{BB962C8B-B14F-4D97-AF65-F5344CB8AC3E}">
        <p14:creationId xmlns:p14="http://schemas.microsoft.com/office/powerpoint/2010/main" val="790599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EB54-15F4-0415-E9B2-53D8D587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D730C26-2932-0C7A-9D95-9D15AEDA4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81" y="402166"/>
            <a:ext cx="3778128" cy="1890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649478A-46FD-CEAF-B40E-B9679CA3D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556" y="402166"/>
            <a:ext cx="3778128" cy="1890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02301B9-85FC-4760-4672-3162C1FC8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81" y="2571750"/>
            <a:ext cx="3778128" cy="19000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1696A21-86BE-26B8-22CA-2D378AA5C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531" y="2571750"/>
            <a:ext cx="3778128" cy="19000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6180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521F-57A2-B4B6-25F2-F30765DA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28C9E20D-EDD6-DA9A-C967-BC3F79E103FC}"/>
              </a:ext>
            </a:extLst>
          </p:cNvPr>
          <p:cNvSpPr txBox="1">
            <a:spLocks/>
          </p:cNvSpPr>
          <p:nvPr/>
        </p:nvSpPr>
        <p:spPr>
          <a:xfrm>
            <a:off x="350258" y="771420"/>
            <a:ext cx="7940341" cy="28438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Hemos tenido que fijar el flujo de Irún </a:t>
            </a:r>
            <a:r>
              <a:rPr lang="es-ES" dirty="0" err="1"/>
              <a:t>Larrao</a:t>
            </a:r>
            <a:r>
              <a:rPr lang="es-ES" dirty="0"/>
              <a:t>, es decir, obligar al modelo a que envíe ese flujo por la interconexión. Para </a:t>
            </a:r>
            <a:r>
              <a:rPr lang="es-ES" dirty="0" err="1"/>
              <a:t>dispatching</a:t>
            </a:r>
            <a:r>
              <a:rPr lang="es-ES" dirty="0"/>
              <a:t> se eliminará esa restricción, de forma que las sensibilidades puedan aplicarse correctamente. </a:t>
            </a:r>
          </a:p>
          <a:p>
            <a:pPr marL="0" indent="0" algn="just">
              <a:buNone/>
            </a:pPr>
            <a:r>
              <a:rPr lang="es-ES" dirty="0"/>
              <a:t>Hay ciertas diferencias en el modelo implementado de PyPSA respecto al modelo objetivo o modelo de referencia. Esto es debido a:</a:t>
            </a:r>
          </a:p>
          <a:p>
            <a:pPr algn="just">
              <a:buFontTx/>
              <a:buChar char="-"/>
            </a:pPr>
            <a:r>
              <a:rPr lang="es-ES" dirty="0"/>
              <a:t>Como el tiempo de estudio de nuestro modelo es de 1 semana, existen lógicas diferentes aplicadas al optimizar, por ejemplo, en los almacenamientos de </a:t>
            </a:r>
            <a:r>
              <a:rPr lang="es-ES" dirty="0" err="1"/>
              <a:t>h2</a:t>
            </a:r>
            <a:r>
              <a:rPr lang="es-ES" dirty="0"/>
              <a:t>. Esta es una de las razones por las que en el modelo de PyPSA la generación de </a:t>
            </a:r>
            <a:r>
              <a:rPr lang="es-ES" dirty="0" err="1"/>
              <a:t>h2</a:t>
            </a:r>
            <a:r>
              <a:rPr lang="es-ES" dirty="0"/>
              <a:t> desde el mercado eléctrico no es completamente igual, ni tampoco los almacenamientos. Como el modelo objetivo tiene 8736 h, en la hora 168 y anteriores prioriza una lógica y optimización diferente, teniendo en cuenta que debe almacenar </a:t>
            </a:r>
            <a:r>
              <a:rPr lang="es-ES" dirty="0" err="1"/>
              <a:t>h2</a:t>
            </a:r>
            <a:r>
              <a:rPr lang="es-ES" dirty="0"/>
              <a:t> para posibles horas futuras, algo que no ocurre en el modelo implementado en PyPSA.</a:t>
            </a:r>
          </a:p>
          <a:p>
            <a:pPr algn="just">
              <a:buFontTx/>
              <a:buChar char="-"/>
            </a:pPr>
            <a:r>
              <a:rPr lang="es-ES" dirty="0"/>
              <a:t>Simplicidad nodo de FR, donde solo buscamos obtener datos sobre las interconexiones, y no tanto sobre la generación que se utiliza. Esto repercute en una representación poco precisa de los precios para el nodo de Francia, que no se analizan.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462434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Enagás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007AAE"/>
      </a:accent1>
      <a:accent2>
        <a:srgbClr val="9CB700"/>
      </a:accent2>
      <a:accent3>
        <a:srgbClr val="63666A"/>
      </a:accent3>
      <a:accent4>
        <a:srgbClr val="00B5E2"/>
      </a:accent4>
      <a:accent5>
        <a:srgbClr val="FFB81C"/>
      </a:accent5>
      <a:accent6>
        <a:srgbClr val="FFFFFF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B05A2A09-AB1E-49F4-8EF5-852076001084}" vid="{02338034-3F79-4D1A-9BAE-DD2EA4FD57D0}"/>
    </a:ext>
  </a:extLst>
</a:theme>
</file>

<file path=ppt/theme/theme2.xml><?xml version="1.0" encoding="utf-8"?>
<a:theme xmlns:a="http://schemas.openxmlformats.org/drawingml/2006/main" name="ÍNDICES">
  <a:themeElements>
    <a:clrScheme name="Enagás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007AAE"/>
      </a:accent1>
      <a:accent2>
        <a:srgbClr val="9CB700"/>
      </a:accent2>
      <a:accent3>
        <a:srgbClr val="63666A"/>
      </a:accent3>
      <a:accent4>
        <a:srgbClr val="00B5E2"/>
      </a:accent4>
      <a:accent5>
        <a:srgbClr val="FFB81C"/>
      </a:accent5>
      <a:accent6>
        <a:srgbClr val="FFFFFF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ción1" id="{B05A2A09-AB1E-49F4-8EF5-852076001084}" vid="{943A63E2-ED05-45AC-B051-D66F09AFDE9C}"/>
    </a:ext>
  </a:extLst>
</a:theme>
</file>

<file path=ppt/theme/theme3.xml><?xml version="1.0" encoding="utf-8"?>
<a:theme xmlns:a="http://schemas.openxmlformats.org/drawingml/2006/main" name="1_SLIDE BASE ">
  <a:themeElements>
    <a:clrScheme name="Enagá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AAE"/>
      </a:accent1>
      <a:accent2>
        <a:srgbClr val="9CB700"/>
      </a:accent2>
      <a:accent3>
        <a:srgbClr val="63666A"/>
      </a:accent3>
      <a:accent4>
        <a:srgbClr val="00B5E2"/>
      </a:accent4>
      <a:accent5>
        <a:srgbClr val="FFB81C"/>
      </a:accent5>
      <a:accent6>
        <a:srgbClr val="FFFFFF"/>
      </a:accent6>
      <a:hlink>
        <a:srgbClr val="0563C1"/>
      </a:hlink>
      <a:folHlink>
        <a:srgbClr val="954F72"/>
      </a:folHlink>
    </a:clrScheme>
    <a:fontScheme name="Personalizado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ción1" id="{B05A2A09-AB1E-49F4-8EF5-852076001084}" vid="{7A27A82D-3FA2-4480-BBB2-244A982ECB2D}"/>
    </a:ext>
  </a:extLst>
</a:theme>
</file>

<file path=ppt/theme/theme4.xml><?xml version="1.0" encoding="utf-8"?>
<a:theme xmlns:a="http://schemas.openxmlformats.org/drawingml/2006/main" name="CIERRES">
  <a:themeElements>
    <a:clrScheme name="Enagá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AAE"/>
      </a:accent1>
      <a:accent2>
        <a:srgbClr val="9CB700"/>
      </a:accent2>
      <a:accent3>
        <a:srgbClr val="63666A"/>
      </a:accent3>
      <a:accent4>
        <a:srgbClr val="00B5E2"/>
      </a:accent4>
      <a:accent5>
        <a:srgbClr val="FFB81C"/>
      </a:accent5>
      <a:accent6>
        <a:srgbClr val="FFFFFF"/>
      </a:accent6>
      <a:hlink>
        <a:srgbClr val="0563C1"/>
      </a:hlink>
      <a:folHlink>
        <a:srgbClr val="954F72"/>
      </a:folHlink>
    </a:clrScheme>
    <a:fontScheme name="Personalizado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B05A2A09-AB1E-49F4-8EF5-852076001084}" vid="{040286F5-0FC6-4904-98C2-46ACE7C66119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8A6744A6DACA4A85F5717C91CAF9DF" ma:contentTypeVersion="11" ma:contentTypeDescription="Crear nuevo documento." ma:contentTypeScope="" ma:versionID="42cd996d4ababeb757980679842f76ac">
  <xsd:schema xmlns:xsd="http://www.w3.org/2001/XMLSchema" xmlns:xs="http://www.w3.org/2001/XMLSchema" xmlns:p="http://schemas.microsoft.com/office/2006/metadata/properties" xmlns:ns2="1841eac5-b4b0-4244-b60a-f629dbdcb0cc" xmlns:ns3="779a45df-2b94-4221-a031-b06477108c1e" targetNamespace="http://schemas.microsoft.com/office/2006/metadata/properties" ma:root="true" ma:fieldsID="a0d098d53da39906cc42df1f6f8a2fa4" ns2:_="" ns3:_="">
    <xsd:import namespace="1841eac5-b4b0-4244-b60a-f629dbdcb0cc"/>
    <xsd:import namespace="779a45df-2b94-4221-a031-b06477108c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1eac5-b4b0-4244-b60a-f629dbdc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63893423-6642-4e46-86c7-65b14e417b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a45df-2b94-4221-a031-b06477108c1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4525e18-e4f9-4cd8-b371-15e4b6538c6c}" ma:internalName="TaxCatchAll" ma:showField="CatchAllData" ma:web="779a45df-2b94-4221-a031-b06477108c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41eac5-b4b0-4244-b60a-f629dbdcb0cc">
      <Terms xmlns="http://schemas.microsoft.com/office/infopath/2007/PartnerControls"/>
    </lcf76f155ced4ddcb4097134ff3c332f>
    <TaxCatchAll xmlns="779a45df-2b94-4221-a031-b06477108c1e" xsi:nil="true"/>
  </documentManagement>
</p:properties>
</file>

<file path=customXml/itemProps1.xml><?xml version="1.0" encoding="utf-8"?>
<ds:datastoreItem xmlns:ds="http://schemas.openxmlformats.org/officeDocument/2006/customXml" ds:itemID="{E93EC387-034B-467B-B689-C474C0F6BC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5BF74C-44D6-4605-A98C-D192D7559C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41eac5-b4b0-4244-b60a-f629dbdcb0cc"/>
    <ds:schemaRef ds:uri="779a45df-2b94-4221-a031-b06477108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31F27C-6E9E-417F-B2FD-B2DC2B14F772}">
  <ds:schemaRefs>
    <ds:schemaRef ds:uri="http://purl.org/dc/elements/1.1/"/>
    <ds:schemaRef ds:uri="http://schemas.microsoft.com/office/2006/metadata/properties"/>
    <ds:schemaRef ds:uri="779a45df-2b94-4221-a031-b06477108c1e"/>
    <ds:schemaRef ds:uri="1841eac5-b4b0-4244-b60a-f629dbdcb0cc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1 - Plantilla PPT Enagás</Template>
  <TotalTime>516</TotalTime>
  <Words>3160</Words>
  <Application>Microsoft Office PowerPoint</Application>
  <PresentationFormat>Presentación en pantalla (16:9)</PresentationFormat>
  <Paragraphs>257</Paragraphs>
  <Slides>30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Enagás PT Serif</vt:lpstr>
      <vt:lpstr>Cambria Math</vt:lpstr>
      <vt:lpstr>Verdana</vt:lpstr>
      <vt:lpstr>Arial</vt:lpstr>
      <vt:lpstr>PORTADAS</vt:lpstr>
      <vt:lpstr>ÍNDICES</vt:lpstr>
      <vt:lpstr>1_SLIDE BASE </vt:lpstr>
      <vt:lpstr>CIERRES</vt:lpstr>
      <vt:lpstr>Presentación de PowerPoint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Batres Fernandez, Ana</dc:creator>
  <cp:keywords/>
  <dc:description/>
  <cp:lastModifiedBy>Batres Fernandez, Ana</cp:lastModifiedBy>
  <cp:revision>6</cp:revision>
  <cp:lastPrinted>2023-10-10T14:09:26Z</cp:lastPrinted>
  <dcterms:created xsi:type="dcterms:W3CDTF">2026-05-21T06:32:14Z</dcterms:created>
  <dcterms:modified xsi:type="dcterms:W3CDTF">2026-05-21T15:08:18Z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0x0101003C8A6744A6DACA4A85F5717C91CAF9DF</vt:lpwstr>
  </property>
  <property fmtid="{D5CDD505-2E9C-101B-9397-08002B2CF9AE}" pid="3" name="MediaServiceImageTags">
    <vt:lpwstr/>
  </property>
</Properties>
</file>